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Titel nennen. Aufhänger: Diese Präsentation hat zwei Ebenen – mein realer Berufshintergrund im Krankenhauslager und das Softwareprojekt. Der Titel spielt augenzwinkernd auf Star Wars an: Ich stehe heute auf der anderen Seite – als Entwickler.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Glaubwürdigkeit: 3 Jahre Teamleiter im Zentrallager der Diakonissen Speyer. Zahlen: rund 1.200 lagergeführte Artikel, über 24.000 Artikel über den Einkauf, 15.000 Lieferscheine/Jahr, 12 Mitarbeiter. Warenwirtschaft mySAP ERP, Modul MM.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Roter Faden / Leitidee der Präsentation: Jedes Problem zeige ich an drei Stationen – Zettel (Problem), Amondis (damals, als Anwender gelöst), eigene Software (heute, als Entwickler). Mein Amondis-Highlight: die automatische Trennung von Lager- und Einkaufs-Artikeln, vorher nicht möglich.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Bestellen: Früher Anforderungszettel per Fax. Mit Amondis bestellte jeder Standort selbst digital (von mir eingeführt). Heute: eigene Bestellverwaltung mit Status, CRUD in 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Bestand &amp; Listen: Früher Excel/Papier, nie aktuell. Amondis brachte einen zentralen Systembestand. Heute berechne ich den Bestand live aus den Bewegungen per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Überblick &amp; Warnung: Früher kein Warnsystem – Engpass fiel zu spät auf. Amondis: Mindestbestände im System. Heute: automatische Mindestbestand-Warnung, kritische Bestände rot.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Nachvollziehbarkeit: Früher keine Historie. Amondis: Systembuchungen. Heute: lückenlose Bewegungs-Historie in bestandsbewegungen.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Technik kompakt: SRH-Pflicht erfüllt – MySQL mit 6 Tabellen (statt 5), CRUD, MVC, Suche/Filter. Architektur: View → Model → DAO → DB. Details gern im Fachgespräch.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ER-Diagramm: 6 Tabellen in 3. Normalform, Fremdschlüssel kurz erklären. Früher Stammdaten in SAP gepflegt, jetzt selbst modelliert.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Designentscheidung: Bestand wird nicht gespeichert, sondern aus den Bewegungen berechnet (SUM EINGANG − AUSGANG). Vorteile: keine Widersprüche, kostenlose Historie. Im Fachgespräch begründbar.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Fazit, Bogen schließen: Vom Zettel in die Moderne. Ich stand auf beiden Seiten – Anwender und Entwickler. Dank und Überleitung zu Fragen.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4023360" cy="384048"/>
          </a:xfrm>
          <a:prstGeom prst="roundRect">
            <a:avLst>
              <a:gd name="adj" fmla="val 50000"/>
            </a:avLst>
          </a:prstGeom>
          <a:solidFill>
            <a:srgbClr val="1550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F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SRH · Wirtschaftsinformatik · Gruppe 2551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Hand zu digital –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39572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 jetzt auf der </a:t>
            </a:r>
            <a:pPr indent="0" marL="0">
              <a:buNone/>
            </a:pPr>
            <a:r>
              <a:rPr lang="en-US" sz="4000" b="1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anderen Seite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der Macht.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76656" y="3456432"/>
            <a:ext cx="13716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65760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 einer Software zur Lagerverwaltung von medizinischem Verbrauchsmaterial im Krankenhaus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983480"/>
            <a:ext cx="640080" cy="64008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" y="513709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49834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Sascha Schulz</a:t>
            </a:r>
            <a:endParaRPr lang="en-US" sz="1600" dirty="0"/>
          </a:p>
          <a:p>
            <a:pPr indent="0" marL="0">
              <a:buNone/>
            </a:pPr>
            <a:r>
              <a:rPr lang="en-US" sz="1250" dirty="0">
                <a:solidFill>
                  <a:srgbClr val="AF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Wirtschaftsinformatiker · Betreuerin: Frau Cramer · Java + JavaFX + MySQL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 hier spricht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 Jahre Teamleiter im Zentrallager – belegt im Arbeitszeugnis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58368" y="16002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Bevor ich Software entwickelt habe, habe ich Lager </a:t>
            </a:r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geführt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Zuletzt als Teamleiter im Zentrallager der Diakonissen Speyer (02/2020–03/2023) – genau das Umfeld, das dieses Projekt im Kleinen nachbildet.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0" y="1554480"/>
            <a:ext cx="1005840" cy="1005840"/>
          </a:xfrm>
          <a:prstGeom prst="ellipse">
            <a:avLst/>
          </a:prstGeom>
          <a:solidFill>
            <a:srgbClr val="087E8B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3882" y="1795882"/>
            <a:ext cx="523037" cy="5230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0" y="2606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Diakonissen Speyer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58368" y="32004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" y="3200400"/>
            <a:ext cx="82296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768096" y="3364992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1.200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95528" y="4069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lagergeführte Artikel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465576" y="32004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65576" y="3200400"/>
            <a:ext cx="82296" cy="1371600"/>
          </a:xfrm>
          <a:prstGeom prst="rect">
            <a:avLst/>
          </a:prstGeom>
          <a:solidFill>
            <a:srgbClr val="087E8B"/>
          </a:solidFill>
          <a:ln/>
        </p:spPr>
      </p:sp>
      <p:sp>
        <p:nvSpPr>
          <p:cNvPr id="14" name="Text 11"/>
          <p:cNvSpPr/>
          <p:nvPr/>
        </p:nvSpPr>
        <p:spPr>
          <a:xfrm>
            <a:off x="3575304" y="3364992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7E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24.000+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3602736" y="4069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 über den Einkauf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72784" y="320040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72784" y="3200400"/>
            <a:ext cx="82296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5"/>
          <p:cNvSpPr/>
          <p:nvPr/>
        </p:nvSpPr>
        <p:spPr>
          <a:xfrm>
            <a:off x="6382512" y="3364992"/>
            <a:ext cx="2386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15.000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409944" y="4069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Lieferscheine / Jahr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9079992" y="320040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9079992" y="3200400"/>
            <a:ext cx="82296" cy="13716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2" name="Text 19"/>
          <p:cNvSpPr/>
          <p:nvPr/>
        </p:nvSpPr>
        <p:spPr>
          <a:xfrm>
            <a:off x="9189720" y="3364992"/>
            <a:ext cx="22494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9217152" y="4069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Mitarbeiter geführt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58368" y="4800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Zahlen aus der beruflichen Tätigkeit; Warenwirtschaft im Unternehmen: mySAP ERP / Modul MM (laut Arbeitszeugnis Diakonissen Speyer mbH).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26" name="Shape 23"/>
          <p:cNvSpPr/>
          <p:nvPr/>
        </p:nvSpPr>
        <p:spPr>
          <a:xfrm>
            <a:off x="502920" y="6364224"/>
            <a:ext cx="329184" cy="329184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6437376"/>
            <a:ext cx="182880" cy="1828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914400" y="619963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DAMALS  </a:t>
            </a:r>
            <a:pPr indent="0" marL="0">
              <a:buNone/>
            </a:pPr>
            <a:r>
              <a:rPr lang="en-US" sz="11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Anwender &amp; Lagerleiter im SAP-Umfeld</a:t>
            </a:r>
            <a:endParaRPr lang="en-US" sz="115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6437376"/>
            <a:ext cx="237744" cy="18288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263640" y="6364224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6437376"/>
            <a:ext cx="182880" cy="1828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675120" y="619963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 </a:t>
            </a:r>
            <a:pPr indent="0" marL="0">
              <a:buNone/>
            </a:pPr>
            <a:r>
              <a:rPr lang="en-US" sz="11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derselbe Prozess, selbst programmiert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rote Faden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Dieselbe Reise an drei Stationen – einmal als Anwender, jetzt als Entwickler.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00400" cy="2423160"/>
          </a:xfrm>
          <a:prstGeom prst="roundRect">
            <a:avLst>
              <a:gd name="adj" fmla="val 4528"/>
            </a:avLst>
          </a:prstGeom>
          <a:solidFill>
            <a:srgbClr val="103F4C"/>
          </a:solidFill>
          <a:ln w="19050">
            <a:solidFill>
              <a:srgbClr val="E76F51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93392" y="2212848"/>
            <a:ext cx="859536" cy="859536"/>
          </a:xfrm>
          <a:prstGeom prst="ellipse">
            <a:avLst/>
          </a:prstGeom>
          <a:solidFill>
            <a:srgbClr val="E76F51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681" y="2419137"/>
            <a:ext cx="446959" cy="4469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ZETTEL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14400" y="35295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Problem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38770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Handschrift, Fax, Excel – fehleranfällig, kein Überblick.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2971800"/>
            <a:ext cx="274320" cy="2194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98848" y="1920240"/>
            <a:ext cx="3200400" cy="2423160"/>
          </a:xfrm>
          <a:prstGeom prst="roundRect">
            <a:avLst>
              <a:gd name="adj" fmla="val 4528"/>
            </a:avLst>
          </a:prstGeom>
          <a:solidFill>
            <a:srgbClr val="103F4C"/>
          </a:solidFill>
          <a:ln w="19050">
            <a:solidFill>
              <a:srgbClr val="087E8B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669280" y="2212848"/>
            <a:ext cx="859536" cy="859536"/>
          </a:xfrm>
          <a:prstGeom prst="ellipse">
            <a:avLst/>
          </a:prstGeom>
          <a:solidFill>
            <a:srgbClr val="087E8B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569" y="2419137"/>
            <a:ext cx="446959" cy="44695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90288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AMONDIS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590288" y="35295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Damals · Anwender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681728" y="38770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federführend angepasst, zugeschnitten, eingeführt.</a:t>
            </a:r>
            <a:endParaRPr lang="en-US" sz="11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2971800"/>
            <a:ext cx="274320" cy="21945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174736" y="1920240"/>
            <a:ext cx="3200400" cy="2423160"/>
          </a:xfrm>
          <a:prstGeom prst="roundRect">
            <a:avLst>
              <a:gd name="adj" fmla="val 4528"/>
            </a:avLst>
          </a:prstGeom>
          <a:solidFill>
            <a:srgbClr val="103F4C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9345168" y="2212848"/>
            <a:ext cx="859536" cy="85953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1457" y="2419137"/>
            <a:ext cx="446959" cy="44695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266176" y="3246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SOFTWARE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8266176" y="352958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Heute · Entwickler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8357616" y="38770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Dieselbe Logik – diesmal selbst entworfen und gebaut.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822960" y="4617720"/>
            <a:ext cx="10543032" cy="1143000"/>
          </a:xfrm>
          <a:prstGeom prst="roundRect">
            <a:avLst>
              <a:gd name="adj" fmla="val 9600"/>
            </a:avLst>
          </a:prstGeom>
          <a:solidFill>
            <a:srgbClr val="0A2F39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1097280" y="4864608"/>
            <a:ext cx="640080" cy="640080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0899" y="5018227"/>
            <a:ext cx="332842" cy="33284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920240" y="4663440"/>
            <a:ext cx="9235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Mein Amondis-Projekt: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habe die automatische Trennung von ~1.200 lagergeführten und 24.000+ Einkaufs-Artikeln eingeführt – vorher nicht möglich. Genau diese Denkweise bringe ich jetzt als Entwickler ein.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Bestellen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Fax-Zettel zur eigenen Bestellverwaltung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33832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83080"/>
            <a:ext cx="3383280" cy="10972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" name="Shape 4"/>
          <p:cNvSpPr/>
          <p:nvPr/>
        </p:nvSpPr>
        <p:spPr>
          <a:xfrm>
            <a:off x="1618488" y="207568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1618488" y="20756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ZETTEL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929384" y="2679192"/>
            <a:ext cx="841248" cy="841248"/>
          </a:xfrm>
          <a:prstGeom prst="ellipse">
            <a:avLst/>
          </a:prstGeom>
          <a:solidFill>
            <a:srgbClr val="E76F51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284" y="2881092"/>
            <a:ext cx="437449" cy="4374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5528" y="3685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 per Fax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59536" y="4069080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Stationen &amp; 13 Außenhäuser füllen Zettel aus – Fax/Mail ans Zentrallager.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3204972"/>
            <a:ext cx="237744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98264" y="1783080"/>
            <a:ext cx="33832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98264" y="1783080"/>
            <a:ext cx="3383280" cy="109728"/>
          </a:xfrm>
          <a:prstGeom prst="rect">
            <a:avLst/>
          </a:prstGeom>
          <a:solidFill>
            <a:srgbClr val="087E8B"/>
          </a:solidFill>
          <a:ln/>
        </p:spPr>
      </p:sp>
      <p:sp>
        <p:nvSpPr>
          <p:cNvPr id="15" name="Shape 11"/>
          <p:cNvSpPr/>
          <p:nvPr/>
        </p:nvSpPr>
        <p:spPr>
          <a:xfrm>
            <a:off x="5358384" y="207568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87E8B"/>
          </a:solidFill>
          <a:ln/>
        </p:spPr>
      </p:sp>
      <p:sp>
        <p:nvSpPr>
          <p:cNvPr id="16" name="Text 12"/>
          <p:cNvSpPr/>
          <p:nvPr/>
        </p:nvSpPr>
        <p:spPr>
          <a:xfrm>
            <a:off x="5358384" y="20756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AMONDIS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669280" y="2679192"/>
            <a:ext cx="841248" cy="841248"/>
          </a:xfrm>
          <a:prstGeom prst="ellipse">
            <a:avLst/>
          </a:prstGeom>
          <a:solidFill>
            <a:srgbClr val="087E8B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180" y="2881092"/>
            <a:ext cx="437449" cy="4374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35424" y="3685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Anwender: digital bestellt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4599432" y="4069080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Standort bestellt selbst in Amondis – von mir eingeführt.</a:t>
            </a:r>
            <a:endParaRPr lang="en-US" sz="11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408" y="3204972"/>
            <a:ext cx="237744" cy="1828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138160" y="1783080"/>
            <a:ext cx="33832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138160" y="1783080"/>
            <a:ext cx="338328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Shape 18"/>
          <p:cNvSpPr/>
          <p:nvPr/>
        </p:nvSpPr>
        <p:spPr>
          <a:xfrm>
            <a:off x="9098280" y="207568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5" name="Text 19"/>
          <p:cNvSpPr/>
          <p:nvPr/>
        </p:nvSpPr>
        <p:spPr>
          <a:xfrm>
            <a:off x="9098280" y="20756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9409176" y="2679192"/>
            <a:ext cx="841248" cy="84124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1076" y="2881092"/>
            <a:ext cx="437449" cy="43744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75320" y="3685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 programmiert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8339328" y="4069080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Bestellverwaltung mit Status – CRUD in meiner Java-Anwendung.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58368" y="5138928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5449824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17320" y="5138928"/>
            <a:ext cx="9921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Beschaffung: vom handschriftlichen Zettel zur selbst gebauten Bestellverwaltung.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Bestand &amp; Listen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Excel-Liste zum berechneten Bestand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33832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83080"/>
            <a:ext cx="3383280" cy="10972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" name="Shape 4"/>
          <p:cNvSpPr/>
          <p:nvPr/>
        </p:nvSpPr>
        <p:spPr>
          <a:xfrm>
            <a:off x="1618488" y="207568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1618488" y="20756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ZETTEL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929384" y="2679192"/>
            <a:ext cx="841248" cy="841248"/>
          </a:xfrm>
          <a:prstGeom prst="ellipse">
            <a:avLst/>
          </a:prstGeom>
          <a:solidFill>
            <a:srgbClr val="E76F51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284" y="2881092"/>
            <a:ext cx="437449" cy="4374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5528" y="3685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&amp; Papier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59536" y="4069080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Bestände in Listen geführt – fehleranfällig und nie wirklich aktuell.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3204972"/>
            <a:ext cx="237744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98264" y="1783080"/>
            <a:ext cx="33832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98264" y="1783080"/>
            <a:ext cx="3383280" cy="109728"/>
          </a:xfrm>
          <a:prstGeom prst="rect">
            <a:avLst/>
          </a:prstGeom>
          <a:solidFill>
            <a:srgbClr val="087E8B"/>
          </a:solidFill>
          <a:ln/>
        </p:spPr>
      </p:sp>
      <p:sp>
        <p:nvSpPr>
          <p:cNvPr id="15" name="Shape 11"/>
          <p:cNvSpPr/>
          <p:nvPr/>
        </p:nvSpPr>
        <p:spPr>
          <a:xfrm>
            <a:off x="5358384" y="207568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87E8B"/>
          </a:solidFill>
          <a:ln/>
        </p:spPr>
      </p:sp>
      <p:sp>
        <p:nvSpPr>
          <p:cNvPr id="16" name="Text 12"/>
          <p:cNvSpPr/>
          <p:nvPr/>
        </p:nvSpPr>
        <p:spPr>
          <a:xfrm>
            <a:off x="5358384" y="20756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AMONDIS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669280" y="2679192"/>
            <a:ext cx="841248" cy="841248"/>
          </a:xfrm>
          <a:prstGeom prst="ellipse">
            <a:avLst/>
          </a:prstGeom>
          <a:solidFill>
            <a:srgbClr val="087E8B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180" y="2881092"/>
            <a:ext cx="437449" cy="4374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35424" y="3685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Anwender: zentrale DB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4599432" y="4069080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Systembestand für alle Standorte – einmal gepflegt, überall gültig.</a:t>
            </a:r>
            <a:endParaRPr lang="en-US" sz="11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408" y="3204972"/>
            <a:ext cx="237744" cy="1828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138160" y="1783080"/>
            <a:ext cx="33832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138160" y="1783080"/>
            <a:ext cx="338328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Shape 18"/>
          <p:cNvSpPr/>
          <p:nvPr/>
        </p:nvSpPr>
        <p:spPr>
          <a:xfrm>
            <a:off x="9098280" y="207568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5" name="Text 19"/>
          <p:cNvSpPr/>
          <p:nvPr/>
        </p:nvSpPr>
        <p:spPr>
          <a:xfrm>
            <a:off x="9098280" y="20756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9409176" y="2679192"/>
            <a:ext cx="841248" cy="84124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1076" y="2881092"/>
            <a:ext cx="437449" cy="43744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75320" y="3685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 programmiert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8339328" y="4069080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 wird live aus den Bewegungen berechnet (SQL-Aggregation).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58368" y="5138928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5449824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17320" y="5138928"/>
            <a:ext cx="9921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Bestände: von der fehleranfälligen Excel-Liste zum live berechneten Bestand.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Überblick &amp; Warnung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blinden Fleck zur automatischen Warnung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33832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83080"/>
            <a:ext cx="3383280" cy="10972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" name="Shape 4"/>
          <p:cNvSpPr/>
          <p:nvPr/>
        </p:nvSpPr>
        <p:spPr>
          <a:xfrm>
            <a:off x="1618488" y="207568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1618488" y="20756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ZETTEL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929384" y="2679192"/>
            <a:ext cx="841248" cy="841248"/>
          </a:xfrm>
          <a:prstGeom prst="ellipse">
            <a:avLst/>
          </a:prstGeom>
          <a:solidFill>
            <a:srgbClr val="E76F51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284" y="2881092"/>
            <a:ext cx="437449" cy="4374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5528" y="3685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Warnsystem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59536" y="4069080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Engpass fällt erst auf, wenn das Material bereits fehlt.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3204972"/>
            <a:ext cx="237744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98264" y="1783080"/>
            <a:ext cx="33832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98264" y="1783080"/>
            <a:ext cx="3383280" cy="109728"/>
          </a:xfrm>
          <a:prstGeom prst="rect">
            <a:avLst/>
          </a:prstGeom>
          <a:solidFill>
            <a:srgbClr val="087E8B"/>
          </a:solidFill>
          <a:ln/>
        </p:spPr>
      </p:sp>
      <p:sp>
        <p:nvSpPr>
          <p:cNvPr id="15" name="Shape 11"/>
          <p:cNvSpPr/>
          <p:nvPr/>
        </p:nvSpPr>
        <p:spPr>
          <a:xfrm>
            <a:off x="5358384" y="207568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87E8B"/>
          </a:solidFill>
          <a:ln/>
        </p:spPr>
      </p:sp>
      <p:sp>
        <p:nvSpPr>
          <p:cNvPr id="16" name="Text 12"/>
          <p:cNvSpPr/>
          <p:nvPr/>
        </p:nvSpPr>
        <p:spPr>
          <a:xfrm>
            <a:off x="5358384" y="20756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AMONDIS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669280" y="2679192"/>
            <a:ext cx="841248" cy="841248"/>
          </a:xfrm>
          <a:prstGeom prst="ellipse">
            <a:avLst/>
          </a:prstGeom>
          <a:solidFill>
            <a:srgbClr val="087E8B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180" y="2881092"/>
            <a:ext cx="437449" cy="4374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35424" y="3685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Anwender: Mindestbestände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4599432" y="4069080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System hinterlegt, Bestände jederzeit sichtbar.</a:t>
            </a:r>
            <a:endParaRPr lang="en-US" sz="11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408" y="3204972"/>
            <a:ext cx="237744" cy="1828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138160" y="1783080"/>
            <a:ext cx="33832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138160" y="1783080"/>
            <a:ext cx="338328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Shape 18"/>
          <p:cNvSpPr/>
          <p:nvPr/>
        </p:nvSpPr>
        <p:spPr>
          <a:xfrm>
            <a:off x="9098280" y="207568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5" name="Text 19"/>
          <p:cNvSpPr/>
          <p:nvPr/>
        </p:nvSpPr>
        <p:spPr>
          <a:xfrm>
            <a:off x="9098280" y="20756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9409176" y="2679192"/>
            <a:ext cx="841248" cy="84124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1076" y="2881092"/>
            <a:ext cx="437449" cy="43744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75320" y="3685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 programmiert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8339328" y="4069080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Mindestbestand-Warnung – kritische Bestände in Rot.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58368" y="5138928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5449824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17320" y="5138928"/>
            <a:ext cx="9921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Überblick: vom blinden Fleck zur automatischen Mindestbestand-Warnung.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Nachvollziehbarkeit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Gedächtnis zur lückenlosen Historie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33832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83080"/>
            <a:ext cx="3383280" cy="10972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6" name="Shape 4"/>
          <p:cNvSpPr/>
          <p:nvPr/>
        </p:nvSpPr>
        <p:spPr>
          <a:xfrm>
            <a:off x="1618488" y="207568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1618488" y="20756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ZETTEL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929384" y="2679192"/>
            <a:ext cx="841248" cy="841248"/>
          </a:xfrm>
          <a:prstGeom prst="ellipse">
            <a:avLst/>
          </a:prstGeom>
          <a:solidFill>
            <a:srgbClr val="E76F51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284" y="2881092"/>
            <a:ext cx="437449" cy="4374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5528" y="3685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Historie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59536" y="4069080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Zu- und Abgänge sind nirgends nachvollziehbar dokumentiert.</a:t>
            </a:r>
            <a:endParaRPr lang="en-US" sz="11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3204972"/>
            <a:ext cx="237744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98264" y="1783080"/>
            <a:ext cx="33832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398264" y="1783080"/>
            <a:ext cx="3383280" cy="109728"/>
          </a:xfrm>
          <a:prstGeom prst="rect">
            <a:avLst/>
          </a:prstGeom>
          <a:solidFill>
            <a:srgbClr val="087E8B"/>
          </a:solidFill>
          <a:ln/>
        </p:spPr>
      </p:sp>
      <p:sp>
        <p:nvSpPr>
          <p:cNvPr id="15" name="Shape 11"/>
          <p:cNvSpPr/>
          <p:nvPr/>
        </p:nvSpPr>
        <p:spPr>
          <a:xfrm>
            <a:off x="5358384" y="207568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87E8B"/>
          </a:solidFill>
          <a:ln/>
        </p:spPr>
      </p:sp>
      <p:sp>
        <p:nvSpPr>
          <p:cNvPr id="16" name="Text 12"/>
          <p:cNvSpPr/>
          <p:nvPr/>
        </p:nvSpPr>
        <p:spPr>
          <a:xfrm>
            <a:off x="5358384" y="20756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AMONDIS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5669280" y="2679192"/>
            <a:ext cx="841248" cy="841248"/>
          </a:xfrm>
          <a:prstGeom prst="ellipse">
            <a:avLst/>
          </a:prstGeom>
          <a:solidFill>
            <a:srgbClr val="087E8B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180" y="2881092"/>
            <a:ext cx="437449" cy="43744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35424" y="3685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Anwender: Systembuchung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4599432" y="4069080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Bewegungen werden im System erfasst und sind nachvollziehbar.</a:t>
            </a:r>
            <a:endParaRPr lang="en-US" sz="11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408" y="3204972"/>
            <a:ext cx="237744" cy="1828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138160" y="1783080"/>
            <a:ext cx="338328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138160" y="1783080"/>
            <a:ext cx="338328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Shape 18"/>
          <p:cNvSpPr/>
          <p:nvPr/>
        </p:nvSpPr>
        <p:spPr>
          <a:xfrm>
            <a:off x="9098280" y="207568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5" name="Text 19"/>
          <p:cNvSpPr/>
          <p:nvPr/>
        </p:nvSpPr>
        <p:spPr>
          <a:xfrm>
            <a:off x="9098280" y="207568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9409176" y="2679192"/>
            <a:ext cx="841248" cy="84124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1076" y="2881092"/>
            <a:ext cx="437449" cy="43744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75320" y="3685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 programmiert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8339328" y="4069080"/>
            <a:ext cx="29809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Lückenlose Bewegungs-Historie in der Tabelle bestandsbewegungen.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58368" y="5138928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0B3C49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5449824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17320" y="5138928"/>
            <a:ext cx="9921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Nachvollziehbarkeit: vom Gedächtnis zur lückenlosen Bewegungs-Historie.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Technik dahinter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SRH-Pflichtkriterien – umgesetzt in MVC + DAO · Java 17 · JavaFX · MySQL 8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26060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600200"/>
            <a:ext cx="82296" cy="1078992"/>
          </a:xfrm>
          <a:prstGeom prst="rect">
            <a:avLst/>
          </a:prstGeom>
          <a:solidFill>
            <a:srgbClr val="087E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78308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737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6 Tabellen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86968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mind. 5 gefordert (3NF)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19856" y="1600200"/>
            <a:ext cx="26060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19856" y="1600200"/>
            <a:ext cx="82296" cy="107899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456" y="178308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68496" y="1737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48456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Stammdaten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81344" y="1600200"/>
            <a:ext cx="26060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81344" y="1600200"/>
            <a:ext cx="82296" cy="1078992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178308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9984" y="1737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+ DAO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09944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 · Logik · UI getrennt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42832" y="1600200"/>
            <a:ext cx="260604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42832" y="1600200"/>
            <a:ext cx="82296" cy="1078992"/>
          </a:xfrm>
          <a:prstGeom prst="rect">
            <a:avLst/>
          </a:prstGeom>
          <a:solidFill>
            <a:srgbClr val="E76F5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432" y="178308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91472" y="17373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 &amp; Filter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71432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sofort finden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58368" y="3063240"/>
            <a:ext cx="254203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8368" y="3063240"/>
            <a:ext cx="2542032" cy="109728"/>
          </a:xfrm>
          <a:prstGeom prst="rect">
            <a:avLst/>
          </a:prstGeom>
          <a:solidFill>
            <a:srgbClr val="087E8B"/>
          </a:solidFill>
          <a:ln/>
        </p:spPr>
      </p:sp>
      <p:sp>
        <p:nvSpPr>
          <p:cNvPr id="26" name="Shape 20"/>
          <p:cNvSpPr/>
          <p:nvPr/>
        </p:nvSpPr>
        <p:spPr>
          <a:xfrm>
            <a:off x="1545336" y="3337560"/>
            <a:ext cx="768096" cy="768096"/>
          </a:xfrm>
          <a:prstGeom prst="ellipse">
            <a:avLst/>
          </a:prstGeom>
          <a:solidFill>
            <a:srgbClr val="087E8B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9679" y="3521903"/>
            <a:ext cx="399410" cy="39941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9808" y="422452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768096" y="460857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main.fxml + Controller</a:t>
            </a:r>
            <a:endParaRPr lang="en-US" sz="11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9544" y="3977640"/>
            <a:ext cx="201168" cy="18288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3438144" y="3063240"/>
            <a:ext cx="254203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3438144" y="3063240"/>
            <a:ext cx="2542032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3" name="Shape 25"/>
          <p:cNvSpPr/>
          <p:nvPr/>
        </p:nvSpPr>
        <p:spPr>
          <a:xfrm>
            <a:off x="4325112" y="3337560"/>
            <a:ext cx="768096" cy="768096"/>
          </a:xfrm>
          <a:prstGeom prst="ellipse">
            <a:avLst/>
          </a:prstGeom>
          <a:solidFill>
            <a:srgbClr val="028090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9455" y="3521903"/>
            <a:ext cx="399410" cy="39941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529584" y="422452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36" name="Text 27"/>
          <p:cNvSpPr/>
          <p:nvPr/>
        </p:nvSpPr>
        <p:spPr>
          <a:xfrm>
            <a:off x="3547872" y="460857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POJO-Klassen</a:t>
            </a:r>
            <a:endParaRPr lang="en-US" sz="11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9320" y="3977640"/>
            <a:ext cx="201168" cy="182880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6217920" y="3063240"/>
            <a:ext cx="254203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6217920" y="3063240"/>
            <a:ext cx="2542032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0" name="Shape 30"/>
          <p:cNvSpPr/>
          <p:nvPr/>
        </p:nvSpPr>
        <p:spPr>
          <a:xfrm>
            <a:off x="7104888" y="3337560"/>
            <a:ext cx="768096" cy="7680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9231" y="3521903"/>
            <a:ext cx="399410" cy="39941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309360" y="422452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</a:t>
            </a:r>
            <a:endParaRPr lang="en-US" sz="1600" dirty="0"/>
          </a:p>
        </p:txBody>
      </p:sp>
      <p:sp>
        <p:nvSpPr>
          <p:cNvPr id="43" name="Text 32"/>
          <p:cNvSpPr/>
          <p:nvPr/>
        </p:nvSpPr>
        <p:spPr>
          <a:xfrm>
            <a:off x="6327648" y="460857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via PreparedStatement</a:t>
            </a:r>
            <a:endParaRPr lang="en-US" sz="110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9096" y="3977640"/>
            <a:ext cx="201168" cy="182880"/>
          </a:xfrm>
          <a:prstGeom prst="rect">
            <a:avLst/>
          </a:prstGeom>
        </p:spPr>
      </p:pic>
      <p:sp>
        <p:nvSpPr>
          <p:cNvPr id="45" name="Shape 33"/>
          <p:cNvSpPr/>
          <p:nvPr/>
        </p:nvSpPr>
        <p:spPr>
          <a:xfrm>
            <a:off x="8997696" y="3063240"/>
            <a:ext cx="254203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46" name="Shape 34"/>
          <p:cNvSpPr/>
          <p:nvPr/>
        </p:nvSpPr>
        <p:spPr>
          <a:xfrm>
            <a:off x="8997696" y="3063240"/>
            <a:ext cx="2542032" cy="109728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47" name="Shape 35"/>
          <p:cNvSpPr/>
          <p:nvPr/>
        </p:nvSpPr>
        <p:spPr>
          <a:xfrm>
            <a:off x="9884664" y="3337560"/>
            <a:ext cx="768096" cy="768096"/>
          </a:xfrm>
          <a:prstGeom prst="ellipse">
            <a:avLst/>
          </a:prstGeom>
          <a:solidFill>
            <a:srgbClr val="E76F51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69007" y="3521903"/>
            <a:ext cx="399410" cy="399410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9089136" y="422452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</a:t>
            </a:r>
            <a:endParaRPr lang="en-US" sz="1600" dirty="0"/>
          </a:p>
        </p:txBody>
      </p:sp>
      <p:sp>
        <p:nvSpPr>
          <p:cNvPr id="50" name="Text 37"/>
          <p:cNvSpPr/>
          <p:nvPr/>
        </p:nvSpPr>
        <p:spPr>
          <a:xfrm>
            <a:off x="9107424" y="4608576"/>
            <a:ext cx="2322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krankenhaus_lager</a:t>
            </a:r>
            <a:endParaRPr lang="en-US" sz="1100" dirty="0"/>
          </a:p>
        </p:txBody>
      </p:sp>
      <p:sp>
        <p:nvSpPr>
          <p:cNvPr id="51" name="Shape 38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52" name="Shape 39"/>
          <p:cNvSpPr/>
          <p:nvPr/>
        </p:nvSpPr>
        <p:spPr>
          <a:xfrm>
            <a:off x="502920" y="6364224"/>
            <a:ext cx="329184" cy="329184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6072" y="6437376"/>
            <a:ext cx="182880" cy="182880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914400" y="619963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DAMALS  </a:t>
            </a:r>
            <a:pPr indent="0" marL="0">
              <a:buNone/>
            </a:pPr>
            <a:r>
              <a:rPr lang="en-US" sz="11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SAP/Amondis als fertige Großsysteme</a:t>
            </a:r>
            <a:endParaRPr lang="en-US" sz="1150" dirty="0"/>
          </a:p>
        </p:txBody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70448" y="6437376"/>
            <a:ext cx="237744" cy="182880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6263640" y="6364224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7" name="Image 13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36792" y="6437376"/>
            <a:ext cx="182880" cy="182880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6675120" y="619963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 </a:t>
            </a:r>
            <a:pPr indent="0" marL="0">
              <a:buNone/>
            </a:pPr>
            <a:r>
              <a:rPr lang="en-US" sz="11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Schichten: View · Model · DAO · DB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Datenmodell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Tabellen in 3. Normalform – das Herz der Anwendung</a:t>
            </a:r>
            <a:endParaRPr lang="en-US" sz="1500" dirty="0"/>
          </a:p>
        </p:txBody>
      </p:sp>
      <p:pic>
        <p:nvPicPr>
          <p:cNvPr id="4" name="Image 0" descr="assets/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508760"/>
            <a:ext cx="7589520" cy="43708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66760" y="1600200"/>
            <a:ext cx="3200400" cy="41605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2E4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9536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6 Tabellen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595360" y="227685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5"/>
          <p:cNvSpPr/>
          <p:nvPr/>
        </p:nvSpPr>
        <p:spPr>
          <a:xfrm>
            <a:off x="8833104" y="218541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kategorien  </a:t>
            </a:r>
            <a:pPr indent="0" marL="0">
              <a:buNone/>
            </a:pPr>
            <a:r>
              <a:rPr lang="en-US" sz="110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Materialgruppen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595360" y="284378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7"/>
          <p:cNvSpPr/>
          <p:nvPr/>
        </p:nvSpPr>
        <p:spPr>
          <a:xfrm>
            <a:off x="8833104" y="275234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materialien  </a:t>
            </a:r>
            <a:pPr indent="0" marL="0">
              <a:buNone/>
            </a:pPr>
            <a:r>
              <a:rPr lang="en-US" sz="110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Artikelstammdaten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595360" y="341071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8833104" y="33192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stationslager  </a:t>
            </a:r>
            <a:pPr indent="0" marL="0">
              <a:buNone/>
            </a:pPr>
            <a:r>
              <a:rPr lang="en-US" sz="110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Lagerorte / Stationen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595360" y="397764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1"/>
          <p:cNvSpPr/>
          <p:nvPr/>
        </p:nvSpPr>
        <p:spPr>
          <a:xfrm>
            <a:off x="8833104" y="38862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lieferanten  </a:t>
            </a:r>
            <a:pPr indent="0" marL="0">
              <a:buNone/>
            </a:pPr>
            <a:r>
              <a:rPr lang="en-US" sz="110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Bezugsquellen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595360" y="454456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3"/>
          <p:cNvSpPr/>
          <p:nvPr/>
        </p:nvSpPr>
        <p:spPr>
          <a:xfrm>
            <a:off x="8833104" y="44531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bestellungen  </a:t>
            </a:r>
            <a:pPr indent="0" marL="0">
              <a:buNone/>
            </a:pPr>
            <a:r>
              <a:rPr lang="en-US" sz="110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Bestellungen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595360" y="511149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5"/>
          <p:cNvSpPr/>
          <p:nvPr/>
        </p:nvSpPr>
        <p:spPr>
          <a:xfrm>
            <a:off x="8833104" y="502005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bestandsbewegungen  </a:t>
            </a:r>
            <a:pPr indent="0" marL="0">
              <a:buNone/>
            </a:pPr>
            <a:r>
              <a:rPr lang="en-US" sz="1100" dirty="0">
                <a:solidFill>
                  <a:srgbClr val="5B7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Ein-/Ausgänge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0B3C49"/>
          </a:solidFill>
          <a:ln/>
        </p:spPr>
      </p:sp>
      <p:sp>
        <p:nvSpPr>
          <p:cNvPr id="20" name="Shape 17"/>
          <p:cNvSpPr/>
          <p:nvPr/>
        </p:nvSpPr>
        <p:spPr>
          <a:xfrm>
            <a:off x="502920" y="6364224"/>
            <a:ext cx="329184" cy="329184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6437376"/>
            <a:ext cx="182880" cy="1828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14400" y="619963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DAMALS  </a:t>
            </a:r>
            <a:pPr indent="0" marL="0">
              <a:buNone/>
            </a:pPr>
            <a:r>
              <a:rPr lang="en-US" sz="11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Tausende Artikel in SAP-Stammdaten gepflegt</a:t>
            </a:r>
            <a:endParaRPr lang="en-US" sz="11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6437376"/>
            <a:ext cx="237744" cy="18288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263640" y="6364224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6437376"/>
            <a:ext cx="182880" cy="1828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675120" y="619963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  </a:t>
            </a:r>
            <a:pPr indent="0" marL="0">
              <a:buNone/>
            </a:pPr>
            <a:r>
              <a:rPr lang="en-US" sz="1150" dirty="0">
                <a:solidFill>
                  <a:srgbClr val="E8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Stammdaten selbst modelliert &amp; normalisiert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Designentscheidung im Detail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Bestand wird nicht gespeichert – er wird berechnet.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2011680"/>
            <a:ext cx="9966960" cy="1371600"/>
          </a:xfrm>
          <a:prstGeom prst="roundRect">
            <a:avLst>
              <a:gd name="adj" fmla="val 8000"/>
            </a:avLst>
          </a:prstGeom>
          <a:solidFill>
            <a:srgbClr val="0A2F39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01168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Bestand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 Σ EINGANG  −  Σ AUSGANG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365760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Warum?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Buchung ist ein Datensatz in </a:t>
            </a:r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bestandsbewegungen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Der aktuelle Bestand entsteht per SQL-Aggregation (SUM / CASE WHEN). Das verhindert widersprüchliche Werte und liefert kostenlos eine lückenlose Historie – dasselbe Prinzip wie die bestandsgeführte Logik in SAP.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52578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Eine bewusste Entscheidung, die ich im Fachgespräch begründen kann.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Vom Zettel in die Moderne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kenne die Zettelwirtschaft aus dem echten Lageralltag, habe sie als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4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Anwender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 Amondis digitalisiert – und stehe heute als </a:t>
            </a:r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Entwickler</a:t>
            </a:r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7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auf der anderen Seite der Macht.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3291840" cy="1783080"/>
          </a:xfrm>
          <a:prstGeom prst="roundRect">
            <a:avLst>
              <a:gd name="adj" fmla="val 6154"/>
            </a:avLst>
          </a:prstGeom>
          <a:solidFill>
            <a:srgbClr val="103F4C"/>
          </a:solidFill>
          <a:ln w="15240">
            <a:solidFill>
              <a:srgbClr val="E76F51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8992" y="3840480"/>
            <a:ext cx="566928" cy="566928"/>
          </a:xfrm>
          <a:prstGeom prst="ellipse">
            <a:avLst/>
          </a:prstGeom>
          <a:solidFill>
            <a:srgbClr val="E76F51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055" y="3976543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Zettel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78992" y="45262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F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 aus erster Hand erlebt.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4370832"/>
            <a:ext cx="237744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34840" y="3611880"/>
            <a:ext cx="3291840" cy="1783080"/>
          </a:xfrm>
          <a:prstGeom prst="roundRect">
            <a:avLst>
              <a:gd name="adj" fmla="val 6154"/>
            </a:avLst>
          </a:prstGeom>
          <a:solidFill>
            <a:srgbClr val="103F4C"/>
          </a:solidFill>
          <a:ln w="15240">
            <a:solidFill>
              <a:srgbClr val="087E8B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90872" y="3840480"/>
            <a:ext cx="566928" cy="566928"/>
          </a:xfrm>
          <a:prstGeom prst="ellipse">
            <a:avLst/>
          </a:prstGeom>
          <a:solidFill>
            <a:srgbClr val="087E8B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935" y="3976543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9496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Anwender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690872" y="45262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F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Amondis federführend digitalisiert.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8" y="4370832"/>
            <a:ext cx="237744" cy="18288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046720" y="3611880"/>
            <a:ext cx="3291840" cy="1783080"/>
          </a:xfrm>
          <a:prstGeom prst="roundRect">
            <a:avLst>
              <a:gd name="adj" fmla="val 6154"/>
            </a:avLst>
          </a:prstGeom>
          <a:solidFill>
            <a:srgbClr val="103F4C"/>
          </a:solidFill>
          <a:ln w="15240">
            <a:solidFill>
              <a:srgbClr val="02C39A"/>
            </a:solidFill>
            <a:prstDash val="solid"/>
          </a:ln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302752" y="3840480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114300" dist="38100" dir="5400000">
              <a:srgbClr val="0B3C49">
                <a:alpha val="16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8815" y="3976543"/>
            <a:ext cx="294803" cy="2948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06840" y="38862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Entwickler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8302752" y="452628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FD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Dieselbe Lösung selbst gebaut.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Vielen Dank – ich freue mich auf Ihre Fragen.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Lagerverwaltung - Projektpraesentation</dc:title>
  <dc:subject>PptxGenJS Presentation</dc:subject>
  <dc:creator>Sascha Schulz</dc:creator>
  <cp:lastModifiedBy>Sascha Schulz</cp:lastModifiedBy>
  <cp:revision>1</cp:revision>
  <dcterms:created xsi:type="dcterms:W3CDTF">2026-06-10T07:56:22Z</dcterms:created>
  <dcterms:modified xsi:type="dcterms:W3CDTF">2026-06-10T07:56:22Z</dcterms:modified>
</cp:coreProperties>
</file>