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71" r:id="rId21"/>
    <p:sldId id="272" r:id="rId22"/>
    <p:sldId id="257" r:id="rId3"/>
    <p:sldId id="258" r:id="rId4"/>
    <p:sldId id="259" r:id="rId5"/>
    <p:sldId id="273" r:id="rId23"/>
    <p:sldId id="260" r:id="rId6"/>
    <p:sldId id="261" r:id="rId7"/>
    <p:sldId id="262" r:id="rId8"/>
    <p:sldId id="263" r:id="rId9"/>
    <p:sldId id="264" r:id="rId10"/>
    <p:sldId id="274" r:id="rId24"/>
    <p:sldId id="265" r:id="rId11"/>
    <p:sldId id="275" r:id="rId25"/>
    <p:sldId id="276" r:id="rId26"/>
    <p:sldId id="266" r:id="rId12"/>
    <p:sldId id="267" r:id="rId13"/>
    <p:sldId id="270" r:id="rId14"/>
    <p:sldId id="268"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7" d="100"/>
          <a:sy n="97" d="100"/>
        </p:scale>
        <p:origin x="120" y="4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915016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[~25s] Guten Tag, mein Name ist Sascha Schulz, Wirtschaftsinformatik, Gruppe 2551. Ich stelle Ihnen heute mein Projekt vor: eine Software zur Lagerverwaltung von medizinischem Verbrauchsmaterial im Krankenhaus. Jahrelang habe ich so ein Lager selbst geführt – von Hand, mit Zettel, Fax und Excel.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[~40s] Kurz zu mir: Ich bringe 16 Jahre Berufserfahrung in der Logistik mit, davon drei Jahre als Teamleiter im Zentrallager der Diakonissen Speyer – genau das Umfeld, das dieses Projekt im Kleinen nachbildet. Die Zahlen sehen Sie hier: 1.200 lagergeführte Artikel, über 24.000 im Einkauf, 15.000 Lieferscheine im Jahr, zwölf Mitarbeiter. Ein Beleg von außen: Die RHEINPFALZ schrieb im März 2020, der zuständige zentrale Bereich – das war die Wirtschaftsabteilung mit dem Zentrallager, mein Team – habe rechtzeitig Vorräte beschafft und verteilt. Ich kenne die Prozesse also aus dem Alltag, nicht aus dem Lehrbuch. (Fürs Fachgespräch: weitere Artikel belegen, dass der zentrale Einkauf fehlerhafte Masken-Chargen erkannt und aussortiert hat.)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[~75s] Warum liegt mir das Thema am Herzen? Ein Bild aus der Praxis: Samstagabend, 22 Uhr. Auf einer Station wird das Verbandsmaterial knapp. Das eigentliche Problem war nicht, dass zu wenig da war – sondern dass außer dem Zentrallager niemand den Bestand sehen konnte. Die Stationen und unsere 13 Außenhäuser hatten keinen Einblick. Lief etwas leer, begannen Telefonketten, Nachfragen, Improvisieren. Nachts war das Lager oft nicht besetzt, und diese Zeit fehlte in der Pflege. Genau diesen blinden Fleck beseitigt meine Software im Kleinen.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Aus diesem blinden Fleck folgt das Ziel meines Projekts: eine JavaFX-Desktop-Anwendung mit MySQL-Datenbank, die Bestände für alle sichtbar macht. Das ist die Reise, die ich Ihnen zeige – und ich zeige jede Kernfunktion an denselben drei Etappen. Erstens der Zettel: Handschrift, Fax, Excel – fehleranfällig und ohne Überblick. Zweitens Amondis: die Lagersoftware, die ich damals als Anwender federführend angepasst und eingeführt habe. Durch Amondis habe ich zum ersten Mal die andere Seite kennengelernt – wie ein System die Lagerarbeit verändert. Und drittens meine eigene Software: dieselbe Logik, diesmal von mir selbst entworfen und gebaut. Einmal als Anwender, jetzt als Entwickler.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[~55s] Fangen wir beim Bestellen an. Früher füllten die Stationen und die Außenhäuser einen Zettel aus und schickten ihn per Fax oder Mail ans Zentrallager. Mit Amondis bestellte dann jeder Standort selbst, digital – das habe ich mit eingeführt. In meiner eigenen Java-Anwendung habe ich das als Bestellübersicht abgebildet, mit einem klaren Status: offen, geliefert oder storniert. So sieht man auf einen Blick, was eine Bestellung gerade macht.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[~55s] Zweites Thema: der Bestand. Früher wurde der Bestand in SAP gepflegt – aber die Ein- und Ausgänge kamen von Hand über die Bestelllisten. Das war aufwendig und selten wirklich aktuell. Amondis hatte einen eigenen Lagerbestand und buchte gleichzeitig automatisch nach SAP – über die Kommissionierlisten, die aus den Bestellungen entstanden. In meiner Software habe ich dieses Prinzip für meinen Maßstab umgesetzt – mit einer eigenen Lösung: Ich speichere den Bestand gar nicht als feste Zahl, sondern berechne ihn live aus den Buchungen per SQL. Dazu gleich mehr, das ist eine bewusste Entscheidung.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[~50s] Drittes Thema: der Überblick. Früher gab es kein Warnsystem. Ein Engpass fiel erst auf, wenn das Material schon fehlte – das kennen Sie jetzt aus meinem Beispiel von vorhin. Amondis hatte Mindestbestände hinterlegt – kritische Bestände sah man aber nur in einer eigenen Maske, nicht direkt am Artikel, und ohne farbliche Hervorhebung. In meiner Software habe ich eine automatische Mindestbestand-Warnung eingebaut: Fällt ein Artikel unter seine Grenze, wird er rot markiert. So sieht man das Problem, bevor es eins wird.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[~45s] Viertes Thema: Nachvollziehbarkeit. Vor Amondis stand die Historie zwar in SAP – aber von Hand über die Bestelllisten nachgetragen, zeitversetzt und fehleranfällig. Amondis hat jede Bewegung selbst gebucht und automatisch an SAP übergeben. In meiner Software gibt es dafür die Tabelle bestandsbewegungen: jede Ein- und Ausbuchung wird lückenlos festgehalten. Das ist gleichzeitig die Grundlage für die Bestandsberechnung.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[~80s] Diese Nachvollziehbarkeit führt mich zu dem Punkt, der mir aus der Praxis am wichtigsten ist: Transparenz. Vorher standen die Bestände nur in SAP, und darauf hatte praktisch nur das Zentrallager Zugriff. Die Stationen bestellten quasi im Blindflug – mal zu viel, mal zu wenig. Mit Amondis konnte plötzlich jede Station und jedes Außenhaus den eigenen Bestand selbst sehen. Auch in der Nacht- und Wochenendschicht, wenn im Lager niemand war. Und das hat den Alltag verändert. Es wurde gezielt verteilt statt gehortet. Die Engpässe auf den Stationen gingen spürbar zurück. Für mich die wichtigste Erkenntnis: Wer seinen Bestand sieht, braucht seltener den Notruf ans Lager. Nicht mehr Material war die Lösung, sondern mehr Durchblick. Genau diese Idee steckt auch in meinem Projekt.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Jetzt zur Umsetzung. Die SRH gibt vier Pflichtkriterien vor. Drei sind vollständig erfüllt: eine Datenbank mit sechs Tabellen, gefordert waren fünf. Eine Such- und Filterfunktion. Und eine saubere Trennung nach MVC mit DAO-Schicht. Beim CRUD ist es nur teilweise. Lesen ist für alle sechs Tabellen umgesetzt, Löschen für Material und Kategorie. Anlegen und Bearbeiten fehlen. Dahinter steht eine Entscheidung. Mir fiel während der Umsetzung auf, dass alle sechs DAO-Klassen denselben Code wiederholen. Kurz davor hatten wir im Unterricht Interfaces durchgenommen. Ich habe mich dafür entschieden, weil das die modernere Grundlage ist, auf der sich weiterbauen lässt. Beim Umsetzen habe ich gemerkt, dass Generics dazugehören, also das T in den spitzen Klammern. Generics hatten wir im Unterricht nicht. Die habe ich mir selbst beigebracht, über ein Tutorial und Ausprobieren am eigenen Code. Das kostete Zeit, die im Plan nicht vorgesehen war. Damit stand die Wahl: schnell zwei Formulare zusammenbauen oder die Basis sauber fertig machen. Nach Rücksprache mit Frau Cramer habe ich die Basis gewählt. Anlegen und Bearbeiten lassen sich jetzt ergänzen, ohne bestehenden Code umzubauen.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[~50s] Das Herz der Anwendung ist das Datenmodell. Sechs Tabellen in dritter Normalform: kategorien für die Materialgruppen, materialien für die Artikelstammdaten, stationslager für die Lagerorte, lieferanten für die Bezugsquellen, bestellungen für die Bestellungen samt Status und bestandsbewegungen für die Ein- und Ausgänge. Verbunden sind sie über Fremdschlüssel. Früher habe ich Tausende Stammdaten in SAP gepflegt – hier habe ich die Struktur zum ersten Mal selbst modelliert und normalisiert.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[~55s] Jetzt die Designentscheidung, die ich angekündigt habe. Der Bestand wird bei mir nicht gespeichert, sondern berechnet: Summe der Eingänge minus Summe der Ausgänge. Der Grund: Jede Buchung ist ein Datensatz in bestandsbewegungen. Der aktuelle Bestand entsteht per SQL-Aggregation. Das hat zwei Vorteile. Erstens kann es keine widersprüchlichen Werte geben, weil es nur eine Quelle der Wahrheit gibt. Zweitens bekomme ich die lückenlose Historie geschenkt. Kritisch abgewogen habe ich das auch: Die Alternative wäre, den Bestand als feste Zahl in materialien zu speichern – schneller beim Lesen, aber redundant und mit der Gefahr widersprüchlicher Werte. Der Preis meiner Lösung ist etwas Rechenzeit pro Aufruf; bei sehr großen Datenmengen müsste man über Indexe oder Zwischenstände nachdenken, bei meinem Maßstab ist das unkritisch. Aus der Praxis kannte ich es andersherum. SAP führt beide Seiten mit: jede Buchung als Beleg, und zusätzlich den Bestand als fortgeschriebene Zahl. Das ist schnell beim Lesen, kostet aber die doppelte Haltung. Für meinen Maßstab habe ich mich bewusst dagegen entschieden.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[~45s] Bevor ich zum Fazit komme: geprüft habe ich das Ganze auch. Neun Testfälle decken die Kernfunktionen ab – vom Suchen über die Mindestbestand-Warnung bis zum Löschen mit Sicherheitsabfrage. Der Aufwand lag bei 180 Stunden, wie im Projektantrag geplant. Wo es Abweichungen gab – etwa der bewusst reduzierte Funktionsumfang – stehen sie offen im Soll-Ist-Vergleich in Kapitel 8 der Dokumentation. Und die Grenzen kenne ich: Die Anwendung ist heute eine Einzelplatzlösung. Durch die generische Basis lässt sie sich aber mit wenig Aufwand erweitern.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[~45s] Damit schließe ich den Bogen. Erinnern Sie sich an den Samstagabend, 22 Uhr? Damals sah niemand kommen, dass das Material ausgeht. [KLICK: der Zettel verschwindet.] Heute ist der Bestand live sichtbar, ein Artikel unter dem Mindestbestand wird rot markiert, und jede Bewegung steht lückenlos in der Historie. Jetzt sieht es jeder kommen. Ich kannte die Zettelwirtschaft aus dem Lageralltag, habe sie als Anwender mit Amondis digitalisiert – und stehe heute als Entwickler auf der anderen Seite der Macht. Vielen Dank für Ihre Aufmerksamkeit, ich freue mich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[~20s] [KLICK: das Verhältnis kippt.] Heute stehe ich auf der anderen Seite – als Entwickler, der dieselbe Arbeit selbst gebaut hat. Genau diese Bewegung zeige ich Ihnen in den nächsten Minuten: von Hand zu digital.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[~30s] Bevor wir loslegen, der Fahrplan. Erstens: mein Praxishintergrund – woher ich das Thema kenne. Zweitens das Problem, das ich gelöst habe. Drittens die Reise: vier Kernfunktionen, die ich mir gleich einzeln vornehme – jede in denselben drei Stufen: Zettel und SAP, Amondis, meine eigene Software. Und viertens die Umsetzung – Technik, Datenmodell und wie ich das Ergebnis geprüft habe. Am Ende sehen Sie die fertige Anwendung.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[~50s] Bevor die erste Zeile Code entstand, stand eine Frage: kaufen oder selbst bauen? Eine Standardlösung wäre sofort einsatzbereit gewesen, verursacht aber laufende Lizenzkosten und lässt sich nur schwer an die Abläufe eines einzelnen Hauses anpassen – und die sind überall anders. Die Individualentwicklung kostet keine Lizenzgebühren und lässt sich exakt zuschneiden; dazu kommt, dass genau das in der Ausbildung das Projektziel ist. Durchkalkuliert habe ich es trotzdem: 150 Stunden zu 80 Euro plus rund 150 Euro Sachkosten, fiktive 12.150 Euro. Die Entscheidung fiel also begründet, nicht aus Bequemlichkeit. Die vollständige Abwägung steht in Kapitel 2.2 der Dokumentation.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[~30s] Kurz zu den Voraussetzungen. Gearbeitet habe ich mit Java 17 und JavaFX 21 für die Oberfläche. Die Daten liegen in einer lokalen MySQL-8-Datenbank, die Anwendung braucht kein Internet. Geplant waren 180 Stunden in sieben Phasen, als Einzelprojekt. Analyse, Entwicklung, Test und Doku lagen also in einer Hand. Drei Risiken habe ich vorab benannt und je eine Gegenmaßnahme dazugeschrieben: die Verbindung zur Datenbank, die Komplexität der JavaFX-Tabellen und Zeitverzug in der Oberflächen-Phase. Eingetreten ist davon eins: die Datenbankverbindung lief zuerst nicht, es lagen aber nur Port und Passwort falsch. Gebaut habe ich von unten nach oben – erst Datenmodell und Datenzugriff, dann die Oberfläche, dort zuerst die Kernmodule.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[~55s] So sieht das im Betrieb aus. Oben die Reiter für die sechs Bereiche, links das Suchfeld, daneben der Filter nach Lagerort. In der Tabelle steht zu jedem Material der aktuelle Bestand – der ist nicht gespeichert, sondern in diesem Moment aus allen Buchungen berechnet. Und das Wichtigste: Alles, was unter den Mindestbestand fällt, wird rot markiert, oben rechts steht die Zahl der Warnungen. Blutzucker-Teststreifen: sechs da, acht nötig. Genau diese Zeile war am Samstagabend nirgends zu sehen – heute fällt sie sofort ins Auge.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[~35s] Zu den Pflichtanforderungen noch drei Belege aus der laufenden Anwendung. Links das Löschen: Vor jeder Löschung kommt eine Sicherheitsabfrage mit dem Namen des Materials – hier die Blutzucker-Teststreifen. Rechts oben Suche und Filter kombiniert: Suchbegriff FFP2, Lager OP-Saal, übrig bleibt genau ein Treffer. Und darunter die Bestellungen mit ihrem Status – offen und geliefert, storniert ist der dritte mögliche Wert.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image" Target="../media/image1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26.png"/><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5.png"/><Relationship Id="rId7"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26.png"/><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31.png"/><Relationship Id="rId6"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image" Target="../media/image12.png"/><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26.png"/><Relationship Id="rId4" Type="http://schemas.openxmlformats.org/officeDocument/2006/relationships/image" Target="../media/image25.png"/><Relationship Id="rId20" Type="http://schemas.openxmlformats.org/officeDocument/2006/relationships/image" Target="../media/image8.png"/><Relationship Id="rId21" Type="http://schemas.openxmlformats.org/officeDocument/2006/relationships/image" Target="../media/image18.png"/><Relationship Id="rId22" Type="http://schemas.openxmlformats.org/officeDocument/2006/relationships/image" Target="../media/image11.png"/><Relationship Id="rId23" Type="http://schemas.openxmlformats.org/officeDocument/2006/relationships/image" Target="../media/image12.png"/><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23.png"/><Relationship Id="rId20" Type="http://schemas.openxmlformats.org/officeDocument/2006/relationships/image" Target="../media/image6.png"/><Relationship Id="rId21" Type="http://schemas.openxmlformats.org/officeDocument/2006/relationships/image" Target="../media/image12.png"/><Relationship Id="rId22" Type="http://schemas.openxmlformats.org/officeDocument/2006/relationships/image" Target="../media/image14.png"/><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26.png"/><Relationship Id="rId4" Type="http://schemas.openxmlformats.org/officeDocument/2006/relationships/image" Target="../media/image25.png"/><Relationship Id="rId20" Type="http://schemas.openxmlformats.org/officeDocument/2006/relationships/image" Target="../media/image26.png"/><Relationship Id="rId21" Type="http://schemas.openxmlformats.org/officeDocument/2006/relationships/image" Target="../media/image16.png"/><Relationship Id="rId22" Type="http://schemas.openxmlformats.org/officeDocument/2006/relationships/image" Target="../media/image22.png"/><Relationship Id="rId23" Type="http://schemas.openxmlformats.org/officeDocument/2006/relationships/image" Target="../media/image9.png"/><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5.png"/><Relationship Id="rId7" Type="http://schemas.openxmlformats.org/officeDocument/2006/relationships/image" Target="../media/image6.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4.png"/><Relationship Id="rId20" Type="http://schemas.openxmlformats.org/officeDocument/2006/relationships/image" Target="../media/image32.png"/><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5.png"/><Relationship Id="rId7" Type="http://schemas.openxmlformats.org/officeDocument/2006/relationships/image" Target="../media/image6.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4.png"/><Relationship Id="rId20" Type="http://schemas.openxmlformats.org/officeDocument/2006/relationships/image" Target="../media/image32.png"/><Relationship Id="rId21" Type="http://schemas.openxmlformats.org/officeDocument/2006/relationships/image" Target="../media/image33.png"/><Relationship Id="rId22" Type="http://schemas.openxmlformats.org/officeDocument/2006/relationships/image" Target="../media/image34.png"/><Relationship Id="rId23" Type="http://schemas.openxmlformats.org/officeDocument/2006/relationships/image" Target="../media/image35.png"/><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73D"/>
        </a:solidFill>
        <a:effectLst/>
      </p:bgPr>
    </p:bg>
    <p:spTree>
      <p:nvGrpSpPr>
        <p:cNvPr id="1" name=""/>
        <p:cNvGrpSpPr/>
        <p:nvPr/>
      </p:nvGrpSpPr>
      <p:grpSpPr>
        <a:xfrm>
          <a:off x="0" y="0"/>
          <a:ext cx="0" cy="0"/>
          <a:chOff x="0" y="0"/>
          <a:chExt cx="0" cy="0"/>
        </a:xfrm>
      </p:grpSpPr>
      <p:pic>
        <p:nvPicPr>
          <p:cNvPr id="2" name="Image 0" descr="slide1_bg.png"/>
          <p:cNvPicPr>
            <a:picLocks noChangeAspect="1"/>
          </p:cNvPicPr>
          <p:nvPr/>
        </p:nvPicPr>
        <p:blipFill>
          <a:blip r:embed="rId3"/>
          <a:stretch>
            <a:fillRect/>
          </a:stretch>
        </p:blipFill>
        <p:spPr>
          <a:xfrm>
            <a:off x="7159752" y="822960"/>
            <a:ext cx="4526280" cy="5120640"/>
          </a:xfrm>
          <a:prstGeom prst="rect">
            <a:avLst/>
          </a:prstGeom>
        </p:spPr>
      </p:pic>
      <p:sp>
        <p:nvSpPr>
          <p:cNvPr id="20" name="!!hand"/>
          <p:cNvSpPr/>
          <p:nvPr/>
        </p:nvSpPr>
        <p:spPr>
          <a:xfrm>
            <a:off x="7434072" y="1097280"/>
            <a:ext cx="3977640" cy="3459175"/>
          </a:xfrm>
          <a:prstGeom prst="roundRect">
            <a:avLst>
              <a:gd name="adj" fmla="val 4500"/>
            </a:avLst>
          </a:prstGeom>
          <a:solidFill>
            <a:srgbClr val="2E5A88"/>
          </a:solidFill>
          <a:ln/>
        </p:spPr>
      </p:sp>
      <p:sp>
        <p:nvSpPr>
          <p:cNvPr id="21" name="!!handc"/>
          <p:cNvSpPr/>
          <p:nvPr/>
        </p:nvSpPr>
        <p:spPr>
          <a:xfrm>
            <a:off x="7708392" y="2552547"/>
            <a:ext cx="548640" cy="548640"/>
          </a:xfrm>
          <a:prstGeom prst="ellipse">
            <a:avLst/>
          </a:prstGeom>
          <a:solidFill>
            <a:srgbClr val="FFFFFF"/>
          </a:solidFill>
          <a:ln/>
        </p:spPr>
      </p:sp>
      <p:pic>
        <p:nvPicPr>
          <p:cNvPr id="22" name="HandIcon" descr="preencoded.png"/>
          <p:cNvPicPr>
            <a:picLocks noChangeAspect="1"/>
          </p:cNvPicPr>
          <p:nvPr/>
        </p:nvPicPr>
        <p:blipFill>
          <a:blip r:embed="rId6"/>
          <a:stretch>
            <a:fillRect/>
          </a:stretch>
        </p:blipFill>
        <p:spPr>
          <a:xfrm>
            <a:off x="7845552" y="2689707"/>
            <a:ext cx="274320" cy="274320"/>
          </a:xfrm>
          <a:prstGeom prst="rect">
            <a:avLst/>
          </a:prstGeom>
        </p:spPr>
      </p:pic>
      <p:sp>
        <p:nvSpPr>
          <p:cNvPr id="23" name="!!handt1"/>
          <p:cNvSpPr/>
          <p:nvPr/>
        </p:nvSpPr>
        <p:spPr>
          <a:xfrm>
            <a:off x="8485632" y="2579979"/>
            <a:ext cx="2926080" cy="274320"/>
          </a:xfrm>
          <a:prstGeom prst="rect">
            <a:avLst/>
          </a:prstGeom>
          <a:noFill/>
          <a:ln/>
        </p:spPr>
        <p:txBody>
          <a:bodyPr wrap="square" lIns="0" tIns="0" rIns="0" bIns="0" rtlCol="0" anchor="ctr"/>
          <a:lstStyle/>
          <a:p>
            <a:pPr marL="0" indent="0">
              <a:buNone/>
            </a:pPr>
            <a:r>
              <a:rPr lang="de-DE" sz="1400" b="1" kern="0" spc="200" dirty="0">
                <a:solidFill>
                  <a:srgbClr val="FFFFFF"/>
                </a:solidFill>
                <a:latin typeface="Arial" pitchFamily="34" charset="0"/>
                <a:ea typeface="Arial" pitchFamily="34" charset="-122"/>
                <a:cs typeface="Arial" pitchFamily="34" charset="-120"/>
              </a:rPr>
              <a:t>VON HAND</a:t>
            </a:r>
            <a:endParaRPr lang="de-DE" sz="1400" dirty="0"/>
          </a:p>
        </p:txBody>
      </p:sp>
      <p:sp>
        <p:nvSpPr>
          <p:cNvPr id="24" name="!!handt2"/>
          <p:cNvSpPr/>
          <p:nvPr/>
        </p:nvSpPr>
        <p:spPr>
          <a:xfrm>
            <a:off x="8485632" y="2854299"/>
            <a:ext cx="2926080" cy="219456"/>
          </a:xfrm>
          <a:prstGeom prst="rect">
            <a:avLst/>
          </a:prstGeom>
          <a:noFill/>
          <a:ln/>
        </p:spPr>
        <p:txBody>
          <a:bodyPr wrap="square" lIns="0" tIns="0" rIns="0" bIns="0" rtlCol="0" anchor="ctr"/>
          <a:lstStyle/>
          <a:p>
            <a:pPr marL="0" indent="0">
              <a:buNone/>
            </a:pPr>
            <a:r>
              <a:rPr lang="de-DE" sz="1000" kern="0" dirty="0">
                <a:solidFill>
                  <a:srgbClr val="D7E5F5"/>
                </a:solidFill>
                <a:latin typeface="Arial" pitchFamily="34" charset="0"/>
                <a:ea typeface="Arial" pitchFamily="34" charset="-122"/>
                <a:cs typeface="Arial" pitchFamily="34" charset="-120"/>
              </a:rPr>
              <a:t>Zettel · Fax · Excel</a:t>
            </a:r>
            <a:endParaRPr lang="de-DE" sz="1000" dirty="0"/>
          </a:p>
        </p:txBody>
      </p:sp>
      <p:sp>
        <p:nvSpPr>
          <p:cNvPr id="25" name="!!dev"/>
          <p:cNvSpPr/>
          <p:nvPr/>
        </p:nvSpPr>
        <p:spPr>
          <a:xfrm>
            <a:off x="7434072" y="4693615"/>
            <a:ext cx="3977640" cy="975665"/>
          </a:xfrm>
          <a:prstGeom prst="roundRect">
            <a:avLst>
              <a:gd name="adj" fmla="val 4500"/>
            </a:avLst>
          </a:prstGeom>
          <a:solidFill>
            <a:srgbClr val="20364F"/>
          </a:solidFill>
          <a:ln/>
        </p:spPr>
      </p:sp>
      <p:sp>
        <p:nvSpPr>
          <p:cNvPr id="26" name="!!devc"/>
          <p:cNvSpPr/>
          <p:nvPr/>
        </p:nvSpPr>
        <p:spPr>
          <a:xfrm>
            <a:off x="7708392" y="4907127"/>
            <a:ext cx="548640" cy="548640"/>
          </a:xfrm>
          <a:prstGeom prst="ellipse">
            <a:avLst/>
          </a:prstGeom>
          <a:solidFill>
            <a:srgbClr val="FFFFFF"/>
          </a:solidFill>
          <a:ln/>
        </p:spPr>
      </p:sp>
      <p:pic>
        <p:nvPicPr>
          <p:cNvPr id="27" name="DevIcon" descr="preencoded.png"/>
          <p:cNvPicPr>
            <a:picLocks noChangeAspect="1"/>
          </p:cNvPicPr>
          <p:nvPr/>
        </p:nvPicPr>
        <p:blipFill>
          <a:blip r:embed="rId7"/>
          <a:stretch>
            <a:fillRect/>
          </a:stretch>
        </p:blipFill>
        <p:spPr>
          <a:xfrm>
            <a:off x="7845552" y="5044287"/>
            <a:ext cx="274320" cy="274320"/>
          </a:xfrm>
          <a:prstGeom prst="rect">
            <a:avLst/>
          </a:prstGeom>
        </p:spPr>
      </p:pic>
      <p:sp>
        <p:nvSpPr>
          <p:cNvPr id="28" name="!!devt1"/>
          <p:cNvSpPr/>
          <p:nvPr/>
        </p:nvSpPr>
        <p:spPr>
          <a:xfrm>
            <a:off x="8485632" y="4934559"/>
            <a:ext cx="2926080" cy="274320"/>
          </a:xfrm>
          <a:prstGeom prst="rect">
            <a:avLst/>
          </a:prstGeom>
          <a:noFill/>
          <a:ln/>
        </p:spPr>
        <p:txBody>
          <a:bodyPr wrap="square" lIns="0" tIns="0" rIns="0" bIns="0" rtlCol="0" anchor="ctr"/>
          <a:lstStyle/>
          <a:p>
            <a:pPr marL="0" indent="0">
              <a:buNone/>
            </a:pPr>
            <a:r>
              <a:rPr lang="de-DE" sz="1400" b="1" kern="0" spc="200" dirty="0">
                <a:solidFill>
                  <a:srgbClr val="BFD2E6"/>
                </a:solidFill>
                <a:latin typeface="Arial" pitchFamily="34" charset="0"/>
                <a:ea typeface="Arial" pitchFamily="34" charset="-122"/>
                <a:cs typeface="Arial" pitchFamily="34" charset="-120"/>
              </a:rPr>
              <a:t>ENTWICKLER</a:t>
            </a:r>
            <a:endParaRPr lang="de-DE" sz="1400" dirty="0"/>
          </a:p>
        </p:txBody>
      </p:sp>
      <p:sp>
        <p:nvSpPr>
          <p:cNvPr id="29" name="!!devt2"/>
          <p:cNvSpPr/>
          <p:nvPr/>
        </p:nvSpPr>
        <p:spPr>
          <a:xfrm>
            <a:off x="8485632" y="5208879"/>
            <a:ext cx="2926080" cy="219456"/>
          </a:xfrm>
          <a:prstGeom prst="rect">
            <a:avLst/>
          </a:prstGeom>
          <a:noFill/>
          <a:ln/>
        </p:spPr>
        <p:txBody>
          <a:bodyPr wrap="square" lIns="0" tIns="0" rIns="0" bIns="0" rtlCol="0" anchor="ctr"/>
          <a:lstStyle/>
          <a:p>
            <a:pPr marL="0" indent="0">
              <a:buNone/>
            </a:pPr>
            <a:r>
              <a:rPr lang="de-DE" sz="1000" kern="0" dirty="0">
                <a:solidFill>
                  <a:srgbClr val="7F9BC0"/>
                </a:solidFill>
                <a:latin typeface="Arial" pitchFamily="34" charset="0"/>
                <a:ea typeface="Arial" pitchFamily="34" charset="-122"/>
                <a:cs typeface="Arial" pitchFamily="34" charset="-120"/>
              </a:rPr>
              <a:t>eigene Software</a:t>
            </a:r>
            <a:endParaRPr lang="de-DE" sz="1000" dirty="0"/>
          </a:p>
        </p:txBody>
      </p:sp>
      <p:sp>
        <p:nvSpPr>
          <p:cNvPr id="6" name="Text 1"/>
          <p:cNvSpPr/>
          <p:nvPr/>
        </p:nvSpPr>
        <p:spPr>
          <a:xfrm>
            <a:off x="822960" y="1554480"/>
            <a:ext cx="6126480" cy="2468880"/>
          </a:xfrm>
          <a:prstGeom prst="rect">
            <a:avLst/>
          </a:prstGeom>
          <a:noFill/>
          <a:ln/>
        </p:spPr>
        <p:txBody>
          <a:bodyPr wrap="square" lIns="0" tIns="0" rIns="0" bIns="0" rtlCol="0" anchor="t"/>
          <a:lstStyle/>
          <a:p>
            <a:pPr marL="0" indent="0">
              <a:lnSpc>
                <a:spcPct val="105000"/>
              </a:lnSpc>
              <a:buNone/>
            </a:pPr>
            <a:r>
              <a:rPr lang="en-US" sz="3800" b="1" dirty="0">
                <a:solidFill>
                  <a:srgbClr val="FFFFFF"/>
                </a:solidFill>
                <a:latin typeface="Arial" pitchFamily="34" charset="0"/>
                <a:ea typeface="Arial" pitchFamily="34" charset="-122"/>
                <a:cs typeface="Arial" pitchFamily="34" charset="-120"/>
              </a:rPr>
              <a:t>Von Hand zu digital –</a:t>
            </a:r>
            <a:endParaRPr lang="en-US" sz="3800" dirty="0"/>
          </a:p>
          <a:p>
            <a:pPr marL="0" indent="0">
              <a:lnSpc>
                <a:spcPct val="105000"/>
              </a:lnSpc>
              <a:buNone/>
            </a:pPr>
            <a:r>
              <a:rPr lang="en-US" sz="3800" b="1" dirty="0">
                <a:solidFill>
                  <a:srgbClr val="CDDDEC"/>
                </a:solidFill>
                <a:latin typeface="Arial" pitchFamily="34" charset="0"/>
                <a:ea typeface="Arial" pitchFamily="34" charset="-122"/>
                <a:cs typeface="Arial" pitchFamily="34" charset="-120"/>
              </a:rPr>
              <a:t>und jetzt auf der anderen Seite der </a:t>
            </a:r>
            <a:r>
              <a:rPr lang="en-US" sz="3800" b="1" dirty="0" err="1">
                <a:solidFill>
                  <a:srgbClr val="CDDDEC"/>
                </a:solidFill>
                <a:latin typeface="Arial" pitchFamily="34" charset="0"/>
                <a:ea typeface="Arial" pitchFamily="34" charset="-122"/>
                <a:cs typeface="Arial" pitchFamily="34" charset="-120"/>
              </a:rPr>
              <a:t>Macht</a:t>
            </a:r>
            <a:endParaRPr lang="en-US" sz="3800" dirty="0"/>
          </a:p>
        </p:txBody>
      </p:sp>
      <p:sp>
        <p:nvSpPr>
          <p:cNvPr id="7" name="Text 2"/>
          <p:cNvSpPr/>
          <p:nvPr/>
        </p:nvSpPr>
        <p:spPr>
          <a:xfrm>
            <a:off x="822960" y="4160520"/>
            <a:ext cx="5943600" cy="914400"/>
          </a:xfrm>
          <a:prstGeom prst="rect">
            <a:avLst/>
          </a:prstGeom>
          <a:noFill/>
          <a:ln/>
        </p:spPr>
        <p:txBody>
          <a:bodyPr wrap="square" lIns="0" tIns="0" rIns="0" bIns="0" rtlCol="0" anchor="t"/>
          <a:lstStyle/>
          <a:p>
            <a:pPr marL="0" indent="0">
              <a:buNone/>
            </a:pPr>
            <a:r>
              <a:rPr lang="en-US" sz="1600" dirty="0">
                <a:solidFill>
                  <a:srgbClr val="BFD2E6"/>
                </a:solidFill>
                <a:latin typeface="Arial" pitchFamily="34" charset="0"/>
                <a:ea typeface="Arial" pitchFamily="34" charset="-122"/>
                <a:cs typeface="Arial" pitchFamily="34" charset="-120"/>
              </a:rPr>
              <a:t>Software zur Lagerverwaltung von medizinischem Verbrauchsmaterial im Krankenhaus</a:t>
            </a:r>
            <a:endParaRPr lang="en-US" sz="16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B"/>
        </a:solidFill>
        <a:effectLst/>
      </p:bgPr>
    </p:bg>
    <p:spTree>
      <p:nvGrpSpPr>
        <p:cNvPr id="1" name=""/>
        <p:cNvGrpSpPr/>
        <p:nvPr/>
      </p:nvGrpSpPr>
      <p:grpSpPr>
        <a:xfrm>
          <a:off x="0" y="0"/>
          <a:ext cx="0" cy="0"/>
          <a:chOff x="0" y="0"/>
          <a:chExt cx="0" cy="0"/>
        </a:xfrm>
      </p:grpSpPr>
      <p:sp>
        <p:nvSpPr>
          <p:cNvPr id="2" name="!!eyebrow"/>
          <p:cNvSpPr/>
          <p:nvPr/>
        </p:nvSpPr>
        <p:spPr>
          <a:xfrm>
            <a:off x="640080" y="457200"/>
            <a:ext cx="10881360" cy="320040"/>
          </a:xfrm>
          <a:prstGeom prst="rect">
            <a:avLst/>
          </a:prstGeom>
          <a:noFill/>
          <a:ln/>
        </p:spPr>
        <p:txBody>
          <a:bodyPr wrap="square" lIns="0" tIns="0" rIns="0" bIns="0" rtlCol="0" anchor="ctr"/>
          <a:lstStyle/>
          <a:p>
            <a:pPr marL="0" indent="0">
              <a:buNone/>
            </a:pPr>
            <a:r>
              <a:rPr lang="en-US" sz="1200" b="1" kern="0" spc="200" dirty="0">
                <a:solidFill>
                  <a:srgbClr val="2E5A88"/>
                </a:solidFill>
                <a:latin typeface="Arial" pitchFamily="34" charset="0"/>
                <a:ea typeface="Arial" pitchFamily="34" charset="-122"/>
                <a:cs typeface="Arial" pitchFamily="34" charset="-120"/>
              </a:rPr>
              <a:t>PRAXISHINTERGRUND</a:t>
            </a:r>
            <a:endParaRPr lang="en-US" sz="1200" dirty="0"/>
          </a:p>
        </p:txBody>
      </p:sp>
      <p:sp>
        <p:nvSpPr>
          <p:cNvPr id="3" name="!!title"/>
          <p:cNvSpPr/>
          <p:nvPr/>
        </p:nvSpPr>
        <p:spPr>
          <a:xfrm>
            <a:off x="640080" y="786384"/>
            <a:ext cx="10972800" cy="640080"/>
          </a:xfrm>
          <a:prstGeom prst="rect">
            <a:avLst/>
          </a:prstGeom>
          <a:noFill/>
          <a:ln/>
        </p:spPr>
        <p:txBody>
          <a:bodyPr wrap="square" lIns="0" tIns="0" rIns="0" bIns="0" rtlCol="0" anchor="ctr"/>
          <a:lstStyle/>
          <a:p>
            <a:pPr marL="0" indent="0">
              <a:buNone/>
            </a:pPr>
            <a:r>
              <a:rPr lang="en-US" sz="3000" b="1" dirty="0">
                <a:solidFill>
                  <a:srgbClr val="1D3A5F"/>
                </a:solidFill>
                <a:latin typeface="Arial" pitchFamily="34" charset="0"/>
                <a:ea typeface="Arial" pitchFamily="34" charset="-122"/>
                <a:cs typeface="Arial" pitchFamily="34" charset="-120"/>
              </a:rPr>
              <a:t>16 Jahre Logistik – davon 3 Jahre im Krankenhauslager</a:t>
            </a:r>
            <a:endParaRPr lang="en-US" sz="3000" dirty="0"/>
          </a:p>
        </p:txBody>
      </p:sp>
      <p:sp>
        <p:nvSpPr>
          <p:cNvPr id="10" name="!!k3"/>
          <p:cNvSpPr/>
          <p:nvPr/>
        </p:nvSpPr>
        <p:spPr>
          <a:xfrm>
            <a:off x="640080" y="1892824"/>
            <a:ext cx="10881360" cy="1097280"/>
          </a:xfrm>
          <a:prstGeom prst="roundRect">
            <a:avLst>
              <a:gd name="adj" fmla="val 6667"/>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txBody>
          <a:bodyPr/>
          <a:lstStyle/>
          <a:p>
            <a:endParaRPr lang="de-DE"/>
          </a:p>
        </p:txBody>
      </p:sp>
      <p:sp>
        <p:nvSpPr>
          <p:cNvPr id="11" name="!!c1"/>
          <p:cNvSpPr/>
          <p:nvPr/>
        </p:nvSpPr>
        <p:spPr>
          <a:xfrm>
            <a:off x="914400" y="2167144"/>
            <a:ext cx="548640" cy="548640"/>
          </a:xfrm>
          <a:prstGeom prst="ellipse">
            <a:avLst/>
          </a:prstGeom>
          <a:solidFill>
            <a:srgbClr val="E8EEF5"/>
          </a:solidFill>
          <a:ln/>
        </p:spPr>
      </p:sp>
      <p:pic>
        <p:nvPicPr>
          <p:cNvPr id="12" name="Image 1" descr="preencoded.png"/>
          <p:cNvPicPr>
            <a:picLocks noChangeAspect="1"/>
          </p:cNvPicPr>
          <p:nvPr/>
        </p:nvPicPr>
        <p:blipFill>
          <a:blip r:embed="rId3"/>
          <a:stretch>
            <a:fillRect/>
          </a:stretch>
        </p:blipFill>
        <p:spPr>
          <a:xfrm>
            <a:off x="1057046" y="2309790"/>
            <a:ext cx="263347" cy="263347"/>
          </a:xfrm>
          <a:prstGeom prst="rect">
            <a:avLst/>
          </a:prstGeom>
        </p:spPr>
      </p:pic>
      <p:sp>
        <p:nvSpPr>
          <p:cNvPr id="13" name="Text 9"/>
          <p:cNvSpPr/>
          <p:nvPr/>
        </p:nvSpPr>
        <p:spPr>
          <a:xfrm>
            <a:off x="1737360" y="2130568"/>
            <a:ext cx="9600000" cy="365760"/>
          </a:xfrm>
          <a:prstGeom prst="rect">
            <a:avLst/>
          </a:prstGeom>
          <a:noFill/>
          <a:ln/>
        </p:spPr>
        <p:txBody>
          <a:bodyPr wrap="square" lIns="0" tIns="0" rIns="0" bIns="0" rtlCol="0" anchor="ctr"/>
          <a:lstStyle/>
          <a:p>
            <a:pPr marL="0" indent="0">
              <a:buNone/>
            </a:pPr>
            <a:r>
              <a:rPr lang="en-US" sz="1700" b="1" dirty="0">
                <a:solidFill>
                  <a:srgbClr val="1D3A5F"/>
                </a:solidFill>
                <a:latin typeface="Arial" pitchFamily="34" charset="0"/>
                <a:ea typeface="Arial" pitchFamily="34" charset="-122"/>
                <a:cs typeface="Arial" pitchFamily="34" charset="-120"/>
              </a:rPr>
              <a:t>Diakonissen Speyer</a:t>
            </a:r>
            <a:endParaRPr lang="en-US" sz="1700" dirty="0"/>
          </a:p>
        </p:txBody>
      </p:sp>
      <p:sp>
        <p:nvSpPr>
          <p:cNvPr id="14" name="Text 10"/>
          <p:cNvSpPr/>
          <p:nvPr/>
        </p:nvSpPr>
        <p:spPr>
          <a:xfrm>
            <a:off x="1737360" y="2514616"/>
            <a:ext cx="9600000" cy="320040"/>
          </a:xfrm>
          <a:prstGeom prst="rect">
            <a:avLst/>
          </a:prstGeom>
          <a:noFill/>
          <a:ln/>
        </p:spPr>
        <p:txBody>
          <a:bodyPr wrap="square" lIns="0" tIns="0" rIns="0" bIns="0" rtlCol="0" anchor="ctr"/>
          <a:lstStyle/>
          <a:p>
            <a:pPr marL="0" indent="0">
              <a:buNone/>
            </a:pPr>
            <a:r>
              <a:rPr lang="en-US" sz="1300" dirty="0">
                <a:solidFill>
                  <a:srgbClr val="5C6B7A"/>
                </a:solidFill>
                <a:latin typeface="Arial" pitchFamily="34" charset="0"/>
                <a:ea typeface="Arial" pitchFamily="34" charset="-122"/>
                <a:cs typeface="Arial" pitchFamily="34" charset="-120"/>
              </a:rPr>
              <a:t>Teamleiter im Krankenhaus-Zentrallager – Praxis genau im Umfeld dieses Projekts</a:t>
            </a:r>
          </a:p>
        </p:txBody>
      </p:sp>
      <p:sp>
        <p:nvSpPr>
          <p:cNvPr id="15" name="Text 11"/>
          <p:cNvSpPr/>
          <p:nvPr/>
        </p:nvSpPr>
        <p:spPr>
          <a:xfrm>
            <a:off x="640080" y="3675888"/>
            <a:ext cx="10881360" cy="274320"/>
          </a:xfrm>
          <a:prstGeom prst="rect">
            <a:avLst/>
          </a:prstGeom>
          <a:noFill/>
          <a:ln/>
        </p:spPr>
        <p:txBody>
          <a:bodyPr wrap="square" lIns="0" tIns="0" rIns="0" bIns="0" rtlCol="0" anchor="ctr"/>
          <a:lstStyle/>
          <a:p>
            <a:pPr marL="0" indent="0">
              <a:buNone/>
            </a:pPr>
            <a:r>
              <a:rPr lang="en-US" sz="1100" b="1" kern="0" spc="100" dirty="0">
                <a:solidFill>
                  <a:srgbClr val="2E5A88"/>
                </a:solidFill>
                <a:latin typeface="Arial" pitchFamily="34" charset="0"/>
                <a:ea typeface="Arial" pitchFamily="34" charset="-122"/>
                <a:cs typeface="Arial" pitchFamily="34" charset="-120"/>
              </a:rPr>
              <a:t>AUS DEM ZENTRALLAGER DER DIAKONISSEN SPEYER</a:t>
            </a:r>
            <a:endParaRPr lang="en-US" sz="1100" dirty="0"/>
          </a:p>
        </p:txBody>
      </p:sp>
      <p:sp>
        <p:nvSpPr>
          <p:cNvPr id="16" name="Shape 12"/>
          <p:cNvSpPr/>
          <p:nvPr/>
        </p:nvSpPr>
        <p:spPr>
          <a:xfrm>
            <a:off x="640080" y="3986784"/>
            <a:ext cx="2521458" cy="1371600"/>
          </a:xfrm>
          <a:prstGeom prst="roundRect">
            <a:avLst>
              <a:gd name="adj" fmla="val 533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17" name="Shape 13"/>
          <p:cNvSpPr/>
          <p:nvPr/>
        </p:nvSpPr>
        <p:spPr>
          <a:xfrm>
            <a:off x="877824" y="4187952"/>
            <a:ext cx="457200" cy="457200"/>
          </a:xfrm>
          <a:prstGeom prst="ellipse">
            <a:avLst/>
          </a:prstGeom>
          <a:solidFill>
            <a:srgbClr val="E8EEF5"/>
          </a:solidFill>
          <a:ln/>
        </p:spPr>
      </p:sp>
      <p:pic>
        <p:nvPicPr>
          <p:cNvPr id="18" name="Image 2" descr="preencoded.png"/>
          <p:cNvPicPr>
            <a:picLocks noChangeAspect="1"/>
          </p:cNvPicPr>
          <p:nvPr/>
        </p:nvPicPr>
        <p:blipFill>
          <a:blip r:embed="rId4"/>
          <a:stretch>
            <a:fillRect/>
          </a:stretch>
        </p:blipFill>
        <p:spPr>
          <a:xfrm>
            <a:off x="996696" y="4306824"/>
            <a:ext cx="219456" cy="219456"/>
          </a:xfrm>
          <a:prstGeom prst="rect">
            <a:avLst/>
          </a:prstGeom>
        </p:spPr>
      </p:pic>
      <p:sp>
        <p:nvSpPr>
          <p:cNvPr id="19" name="Text 14"/>
          <p:cNvSpPr/>
          <p:nvPr/>
        </p:nvSpPr>
        <p:spPr>
          <a:xfrm>
            <a:off x="1463040" y="4206240"/>
            <a:ext cx="1561338" cy="548640"/>
          </a:xfrm>
          <a:prstGeom prst="rect">
            <a:avLst/>
          </a:prstGeom>
          <a:noFill/>
          <a:ln/>
        </p:spPr>
        <p:txBody>
          <a:bodyPr wrap="square" lIns="0" tIns="0" rIns="0" bIns="0" rtlCol="0" anchor="ctr"/>
          <a:lstStyle/>
          <a:p>
            <a:pPr marL="0" indent="0">
              <a:buNone/>
            </a:pPr>
            <a:r>
              <a:rPr lang="en-US" sz="2600" b="1" dirty="0">
                <a:solidFill>
                  <a:srgbClr val="2E5A88"/>
                </a:solidFill>
                <a:latin typeface="Arial" pitchFamily="34" charset="0"/>
                <a:ea typeface="Arial" pitchFamily="34" charset="-122"/>
                <a:cs typeface="Arial" pitchFamily="34" charset="-120"/>
              </a:rPr>
              <a:t>1.200</a:t>
            </a:r>
            <a:endParaRPr lang="en-US" sz="2600" dirty="0"/>
          </a:p>
        </p:txBody>
      </p:sp>
      <p:sp>
        <p:nvSpPr>
          <p:cNvPr id="20" name="Text 15"/>
          <p:cNvSpPr/>
          <p:nvPr/>
        </p:nvSpPr>
        <p:spPr>
          <a:xfrm>
            <a:off x="877824" y="4882896"/>
            <a:ext cx="2064258" cy="365760"/>
          </a:xfrm>
          <a:prstGeom prst="rect">
            <a:avLst/>
          </a:prstGeom>
          <a:noFill/>
          <a:ln/>
        </p:spPr>
        <p:txBody>
          <a:bodyPr wrap="square" lIns="0" tIns="0" rIns="0" bIns="0" rtlCol="0" anchor="ctr"/>
          <a:lstStyle/>
          <a:p>
            <a:pPr marL="0" indent="0">
              <a:buNone/>
            </a:pPr>
            <a:r>
              <a:rPr lang="en-US" sz="1250" dirty="0">
                <a:solidFill>
                  <a:srgbClr val="5C6B7A"/>
                </a:solidFill>
                <a:latin typeface="Arial" pitchFamily="34" charset="0"/>
                <a:ea typeface="Arial" pitchFamily="34" charset="-122"/>
                <a:cs typeface="Arial" pitchFamily="34" charset="-120"/>
              </a:rPr>
              <a:t>lagergeführte Artikel</a:t>
            </a:r>
            <a:endParaRPr lang="en-US" sz="1250" dirty="0"/>
          </a:p>
        </p:txBody>
      </p:sp>
      <p:sp>
        <p:nvSpPr>
          <p:cNvPr id="21" name="Shape 16"/>
          <p:cNvSpPr/>
          <p:nvPr/>
        </p:nvSpPr>
        <p:spPr>
          <a:xfrm>
            <a:off x="3435858" y="3986784"/>
            <a:ext cx="2521458" cy="1371600"/>
          </a:xfrm>
          <a:prstGeom prst="roundRect">
            <a:avLst>
              <a:gd name="adj" fmla="val 533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22" name="Shape 17"/>
          <p:cNvSpPr/>
          <p:nvPr/>
        </p:nvSpPr>
        <p:spPr>
          <a:xfrm>
            <a:off x="3673602" y="4187952"/>
            <a:ext cx="457200" cy="457200"/>
          </a:xfrm>
          <a:prstGeom prst="ellipse">
            <a:avLst/>
          </a:prstGeom>
          <a:solidFill>
            <a:srgbClr val="E8EEF5"/>
          </a:solidFill>
          <a:ln/>
        </p:spPr>
      </p:sp>
      <p:pic>
        <p:nvPicPr>
          <p:cNvPr id="23" name="Image 3" descr="preencoded.png"/>
          <p:cNvPicPr>
            <a:picLocks noChangeAspect="1"/>
          </p:cNvPicPr>
          <p:nvPr/>
        </p:nvPicPr>
        <p:blipFill>
          <a:blip r:embed="rId5"/>
          <a:stretch>
            <a:fillRect/>
          </a:stretch>
        </p:blipFill>
        <p:spPr>
          <a:xfrm>
            <a:off x="3792474" y="4306824"/>
            <a:ext cx="219456" cy="219456"/>
          </a:xfrm>
          <a:prstGeom prst="rect">
            <a:avLst/>
          </a:prstGeom>
        </p:spPr>
      </p:pic>
      <p:sp>
        <p:nvSpPr>
          <p:cNvPr id="24" name="Text 18"/>
          <p:cNvSpPr/>
          <p:nvPr/>
        </p:nvSpPr>
        <p:spPr>
          <a:xfrm>
            <a:off x="4258818" y="4206240"/>
            <a:ext cx="1561338" cy="548640"/>
          </a:xfrm>
          <a:prstGeom prst="rect">
            <a:avLst/>
          </a:prstGeom>
          <a:noFill/>
          <a:ln/>
        </p:spPr>
        <p:txBody>
          <a:bodyPr wrap="square" lIns="0" tIns="0" rIns="0" bIns="0" rtlCol="0" anchor="ctr"/>
          <a:lstStyle/>
          <a:p>
            <a:pPr marL="0" indent="0">
              <a:buNone/>
            </a:pPr>
            <a:r>
              <a:rPr lang="en-US" sz="2600" b="1" dirty="0">
                <a:solidFill>
                  <a:srgbClr val="2E5A88"/>
                </a:solidFill>
                <a:latin typeface="Arial" pitchFamily="34" charset="0"/>
                <a:ea typeface="Arial" pitchFamily="34" charset="-122"/>
                <a:cs typeface="Arial" pitchFamily="34" charset="-120"/>
              </a:rPr>
              <a:t>24.000+</a:t>
            </a:r>
            <a:endParaRPr lang="en-US" sz="2600" dirty="0"/>
          </a:p>
        </p:txBody>
      </p:sp>
      <p:sp>
        <p:nvSpPr>
          <p:cNvPr id="25" name="Text 19"/>
          <p:cNvSpPr/>
          <p:nvPr/>
        </p:nvSpPr>
        <p:spPr>
          <a:xfrm>
            <a:off x="3673602" y="4882896"/>
            <a:ext cx="2064258" cy="365760"/>
          </a:xfrm>
          <a:prstGeom prst="rect">
            <a:avLst/>
          </a:prstGeom>
          <a:noFill/>
          <a:ln/>
        </p:spPr>
        <p:txBody>
          <a:bodyPr wrap="square" lIns="0" tIns="0" rIns="0" bIns="0" rtlCol="0" anchor="ctr"/>
          <a:lstStyle/>
          <a:p>
            <a:pPr marL="0" indent="0">
              <a:buNone/>
            </a:pPr>
            <a:r>
              <a:rPr lang="en-US" sz="1250" dirty="0">
                <a:solidFill>
                  <a:srgbClr val="5C6B7A"/>
                </a:solidFill>
                <a:latin typeface="Arial" pitchFamily="34" charset="0"/>
                <a:ea typeface="Arial" pitchFamily="34" charset="-122"/>
                <a:cs typeface="Arial" pitchFamily="34" charset="-120"/>
              </a:rPr>
              <a:t>Artikel im Einkauf</a:t>
            </a:r>
            <a:endParaRPr lang="en-US" sz="1250" dirty="0"/>
          </a:p>
        </p:txBody>
      </p:sp>
      <p:sp>
        <p:nvSpPr>
          <p:cNvPr id="26" name="Shape 20"/>
          <p:cNvSpPr/>
          <p:nvPr/>
        </p:nvSpPr>
        <p:spPr>
          <a:xfrm>
            <a:off x="6231636" y="3986784"/>
            <a:ext cx="2521458" cy="1371600"/>
          </a:xfrm>
          <a:prstGeom prst="roundRect">
            <a:avLst>
              <a:gd name="adj" fmla="val 533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27" name="Shape 21"/>
          <p:cNvSpPr/>
          <p:nvPr/>
        </p:nvSpPr>
        <p:spPr>
          <a:xfrm>
            <a:off x="6469380" y="4187952"/>
            <a:ext cx="457200" cy="457200"/>
          </a:xfrm>
          <a:prstGeom prst="ellipse">
            <a:avLst/>
          </a:prstGeom>
          <a:solidFill>
            <a:srgbClr val="E8EEF5"/>
          </a:solidFill>
          <a:ln/>
        </p:spPr>
      </p:sp>
      <p:pic>
        <p:nvPicPr>
          <p:cNvPr id="28" name="Image 4" descr="preencoded.png"/>
          <p:cNvPicPr>
            <a:picLocks noChangeAspect="1"/>
          </p:cNvPicPr>
          <p:nvPr/>
        </p:nvPicPr>
        <p:blipFill>
          <a:blip r:embed="rId6"/>
          <a:stretch>
            <a:fillRect/>
          </a:stretch>
        </p:blipFill>
        <p:spPr>
          <a:xfrm>
            <a:off x="6588252" y="4306824"/>
            <a:ext cx="219456" cy="219456"/>
          </a:xfrm>
          <a:prstGeom prst="rect">
            <a:avLst/>
          </a:prstGeom>
        </p:spPr>
      </p:pic>
      <p:sp>
        <p:nvSpPr>
          <p:cNvPr id="29" name="Text 22"/>
          <p:cNvSpPr/>
          <p:nvPr/>
        </p:nvSpPr>
        <p:spPr>
          <a:xfrm>
            <a:off x="7054596" y="4206240"/>
            <a:ext cx="1561338" cy="548640"/>
          </a:xfrm>
          <a:prstGeom prst="rect">
            <a:avLst/>
          </a:prstGeom>
          <a:noFill/>
          <a:ln/>
        </p:spPr>
        <p:txBody>
          <a:bodyPr wrap="square" lIns="0" tIns="0" rIns="0" bIns="0" rtlCol="0" anchor="ctr"/>
          <a:lstStyle/>
          <a:p>
            <a:pPr marL="0" indent="0">
              <a:buNone/>
            </a:pPr>
            <a:r>
              <a:rPr lang="en-US" sz="2600" b="1" dirty="0">
                <a:solidFill>
                  <a:srgbClr val="2E5A88"/>
                </a:solidFill>
                <a:latin typeface="Arial" pitchFamily="34" charset="0"/>
                <a:ea typeface="Arial" pitchFamily="34" charset="-122"/>
                <a:cs typeface="Arial" pitchFamily="34" charset="-120"/>
              </a:rPr>
              <a:t>15.000</a:t>
            </a:r>
            <a:endParaRPr lang="en-US" sz="2600" dirty="0"/>
          </a:p>
        </p:txBody>
      </p:sp>
      <p:sp>
        <p:nvSpPr>
          <p:cNvPr id="30" name="Text 23"/>
          <p:cNvSpPr/>
          <p:nvPr/>
        </p:nvSpPr>
        <p:spPr>
          <a:xfrm>
            <a:off x="6469380" y="4882896"/>
            <a:ext cx="2064258" cy="365760"/>
          </a:xfrm>
          <a:prstGeom prst="rect">
            <a:avLst/>
          </a:prstGeom>
          <a:noFill/>
          <a:ln/>
        </p:spPr>
        <p:txBody>
          <a:bodyPr wrap="square" lIns="0" tIns="0" rIns="0" bIns="0" rtlCol="0" anchor="ctr"/>
          <a:lstStyle/>
          <a:p>
            <a:pPr marL="0" indent="0">
              <a:buNone/>
            </a:pPr>
            <a:r>
              <a:rPr lang="en-US" sz="1250" dirty="0">
                <a:solidFill>
                  <a:srgbClr val="5C6B7A"/>
                </a:solidFill>
                <a:latin typeface="Arial" pitchFamily="34" charset="0"/>
                <a:ea typeface="Arial" pitchFamily="34" charset="-122"/>
                <a:cs typeface="Arial" pitchFamily="34" charset="-120"/>
              </a:rPr>
              <a:t>Lieferscheine / Jahr</a:t>
            </a:r>
            <a:endParaRPr lang="en-US" sz="1250" dirty="0"/>
          </a:p>
        </p:txBody>
      </p:sp>
      <p:sp>
        <p:nvSpPr>
          <p:cNvPr id="31" name="Shape 24"/>
          <p:cNvSpPr/>
          <p:nvPr/>
        </p:nvSpPr>
        <p:spPr>
          <a:xfrm>
            <a:off x="9027414" y="3986784"/>
            <a:ext cx="2521458" cy="1371600"/>
          </a:xfrm>
          <a:prstGeom prst="roundRect">
            <a:avLst>
              <a:gd name="adj" fmla="val 533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32" name="Shape 25"/>
          <p:cNvSpPr/>
          <p:nvPr/>
        </p:nvSpPr>
        <p:spPr>
          <a:xfrm>
            <a:off x="9265158" y="4187952"/>
            <a:ext cx="457200" cy="457200"/>
          </a:xfrm>
          <a:prstGeom prst="ellipse">
            <a:avLst/>
          </a:prstGeom>
          <a:solidFill>
            <a:srgbClr val="E8EEF5"/>
          </a:solidFill>
          <a:ln/>
        </p:spPr>
      </p:sp>
      <p:pic>
        <p:nvPicPr>
          <p:cNvPr id="33" name="Image 5" descr="preencoded.png"/>
          <p:cNvPicPr>
            <a:picLocks noChangeAspect="1"/>
          </p:cNvPicPr>
          <p:nvPr/>
        </p:nvPicPr>
        <p:blipFill>
          <a:blip r:embed="rId7"/>
          <a:stretch>
            <a:fillRect/>
          </a:stretch>
        </p:blipFill>
        <p:spPr>
          <a:xfrm>
            <a:off x="9384030" y="4306824"/>
            <a:ext cx="219456" cy="219456"/>
          </a:xfrm>
          <a:prstGeom prst="rect">
            <a:avLst/>
          </a:prstGeom>
        </p:spPr>
      </p:pic>
      <p:sp>
        <p:nvSpPr>
          <p:cNvPr id="34" name="Text 26"/>
          <p:cNvSpPr/>
          <p:nvPr/>
        </p:nvSpPr>
        <p:spPr>
          <a:xfrm>
            <a:off x="9850374" y="4206240"/>
            <a:ext cx="1561338" cy="548640"/>
          </a:xfrm>
          <a:prstGeom prst="rect">
            <a:avLst/>
          </a:prstGeom>
          <a:noFill/>
          <a:ln/>
        </p:spPr>
        <p:txBody>
          <a:bodyPr wrap="square" lIns="0" tIns="0" rIns="0" bIns="0" rtlCol="0" anchor="ctr"/>
          <a:lstStyle/>
          <a:p>
            <a:pPr marL="0" indent="0">
              <a:buNone/>
            </a:pPr>
            <a:r>
              <a:rPr lang="en-US" sz="2600" b="1" dirty="0">
                <a:solidFill>
                  <a:srgbClr val="2E5A88"/>
                </a:solidFill>
                <a:latin typeface="Arial" pitchFamily="34" charset="0"/>
                <a:ea typeface="Arial" pitchFamily="34" charset="-122"/>
                <a:cs typeface="Arial" pitchFamily="34" charset="-120"/>
              </a:rPr>
              <a:t>12</a:t>
            </a:r>
            <a:endParaRPr lang="en-US" sz="2600" dirty="0"/>
          </a:p>
        </p:txBody>
      </p:sp>
      <p:sp>
        <p:nvSpPr>
          <p:cNvPr id="35" name="Text 27"/>
          <p:cNvSpPr/>
          <p:nvPr/>
        </p:nvSpPr>
        <p:spPr>
          <a:xfrm>
            <a:off x="9265158" y="4882896"/>
            <a:ext cx="2064258" cy="365760"/>
          </a:xfrm>
          <a:prstGeom prst="rect">
            <a:avLst/>
          </a:prstGeom>
          <a:noFill/>
          <a:ln/>
        </p:spPr>
        <p:txBody>
          <a:bodyPr wrap="square" lIns="0" tIns="0" rIns="0" bIns="0" rtlCol="0" anchor="ctr"/>
          <a:lstStyle/>
          <a:p>
            <a:pPr marL="0" indent="0">
              <a:buNone/>
            </a:pPr>
            <a:r>
              <a:rPr lang="en-US" sz="1250" dirty="0">
                <a:solidFill>
                  <a:srgbClr val="5C6B7A"/>
                </a:solidFill>
                <a:latin typeface="Arial" pitchFamily="34" charset="0"/>
                <a:ea typeface="Arial" pitchFamily="34" charset="-122"/>
                <a:cs typeface="Arial" pitchFamily="34" charset="-120"/>
              </a:rPr>
              <a:t>Mitarbeiter geführt</a:t>
            </a:r>
            <a:endParaRPr lang="en-US" sz="1250" dirty="0"/>
          </a:p>
        </p:txBody>
      </p:sp>
      <p:sp>
        <p:nvSpPr>
          <p:cNvPr id="210" name="PresseZitat"/>
          <p:cNvSpPr/>
          <p:nvPr/>
        </p:nvSpPr>
        <p:spPr>
          <a:xfrm>
            <a:off x="640080" y="5580000"/>
            <a:ext cx="10881360" cy="640080"/>
          </a:xfrm>
          <a:prstGeom prst="rect">
            <a:avLst/>
          </a:prstGeom>
          <a:noFill/>
        </p:spPr>
        <p:txBody>
          <a:bodyPr lIns="0" tIns="0" rIns="0" bIns="0" anchor="t"/>
          <a:lstStyle/>
          <a:p>
            <a:r>
              <a:rPr lang="de-DE" sz="1300" i="1">
                <a:solidFill>
                  <a:srgbClr val="5C6B7A"/>
                </a:solidFill>
                <a:latin typeface="Arial"/>
              </a:rPr>
              <a:t>Corona-Frühphase, über den zentralen Bereich der Diakonissen: „rechtzeitig nötige Vorräte beschafft“ und verteilt – „keine Versorgungsprobleme zu erwarten“. Dieser zentrale Bereich: die Wirtschaftsabteilung mit dem Zentrallager.</a:t>
            </a:r>
          </a:p>
          <a:p>
            <a:r>
              <a:rPr lang="de-DE" sz="1100">
                <a:solidFill>
                  <a:srgbClr val="2E5A88"/>
                </a:solidFill>
                <a:latin typeface="Arial"/>
              </a:rPr>
              <a:t>DIE RHEINPFALZ, März 2020 · „Krankenhaus Bad Dürkheim: Zeit, Raum und Betten für Corona-Fälle“</a:t>
            </a:r>
          </a:p>
        </p:txBody>
      </p:sp>
      <p:sp>
        <p:nvSpPr>
          <p:cNvPr id="37" name="!!foot"/>
          <p:cNvSpPr/>
          <p:nvPr/>
        </p:nvSpPr>
        <p:spPr>
          <a:xfrm>
            <a:off x="640080" y="6437376"/>
            <a:ext cx="10908792" cy="274320"/>
          </a:xfrm>
          <a:prstGeom prst="rect">
            <a:avLst/>
          </a:prstGeom>
          <a:noFill/>
          <a:ln/>
        </p:spPr>
        <p:txBody>
          <a:bodyPr wrap="square" lIns="0" tIns="0" rIns="0" bIns="0" rtlCol="0" anchor="ctr"/>
          <a:lstStyle/>
          <a:p>
            <a:pPr marL="0" indent="0" algn="l">
              <a:buNone/>
            </a:pPr>
            <a:r>
              <a:rPr lang="en-US" sz="900" dirty="0">
                <a:solidFill>
                  <a:srgbClr val="5C6B7A"/>
                </a:solidFill>
                <a:latin typeface="Arial" pitchFamily="34" charset="0"/>
                <a:ea typeface="Arial" pitchFamily="34" charset="-122"/>
                <a:cs typeface="Arial" pitchFamily="34" charset="-120"/>
              </a:rPr>
              <a:t>Sascha Schulz     ·     Lagerverwaltung von medizinischem Verbrauchsmaterial im Krankenhaus</a:t>
            </a:r>
            <a:endParaRPr lang="en-US" sz="900" dirty="0"/>
          </a:p>
        </p:txBody>
      </p:sp>
      <p:sp>
        <p:nvSpPr>
          <p:cNvPr id="211" name="!!scrolltrack"/>
          <p:cNvSpPr/>
          <p:nvPr/>
        </p:nvSpPr>
        <p:spPr>
          <a:xfrm>
            <a:off x="11979240" y="457200"/>
            <a:ext cx="27432" cy="5943600"/>
          </a:xfrm>
          <a:prstGeom prst="roundRect">
            <a:avLst>
              <a:gd name="adj" fmla="val 50000"/>
            </a:avLst>
          </a:prstGeom>
          <a:solidFill>
            <a:srgbClr val="E3E9F1"/>
          </a:solidFill>
          <a:ln/>
        </p:spPr>
      </p:sp>
      <p:sp>
        <p:nvSpPr>
          <p:cNvPr id="212" name="!!scrollthumb"/>
          <p:cNvSpPr/>
          <p:nvPr/>
        </p:nvSpPr>
        <p:spPr>
          <a:xfrm>
            <a:off x="11979240" y="787400"/>
            <a:ext cx="27432" cy="330200"/>
          </a:xfrm>
          <a:prstGeom prst="roundRect">
            <a:avLst>
              <a:gd name="adj" fmla="val 50000"/>
            </a:avLst>
          </a:prstGeom>
          <a:solidFill>
            <a:srgbClr val="2E5A88"/>
          </a:solidFill>
          <a:ln/>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B"/>
        </a:solidFill>
        <a:effectLst/>
      </p:bgPr>
    </p:bg>
    <p:spTree>
      <p:nvGrpSpPr>
        <p:cNvPr id="1" name=""/>
        <p:cNvGrpSpPr/>
        <p:nvPr/>
      </p:nvGrpSpPr>
      <p:grpSpPr>
        <a:xfrm>
          <a:off x="0" y="0"/>
          <a:ext cx="0" cy="0"/>
          <a:chOff x="0" y="0"/>
          <a:chExt cx="0" cy="0"/>
        </a:xfrm>
      </p:grpSpPr>
      <p:sp>
        <p:nvSpPr>
          <p:cNvPr id="2" name="!!eyebrow"/>
          <p:cNvSpPr/>
          <p:nvPr/>
        </p:nvSpPr>
        <p:spPr>
          <a:xfrm>
            <a:off x="640080" y="457200"/>
            <a:ext cx="10881360" cy="320040"/>
          </a:xfrm>
          <a:prstGeom prst="rect">
            <a:avLst/>
          </a:prstGeom>
          <a:noFill/>
          <a:ln/>
        </p:spPr>
        <p:txBody>
          <a:bodyPr wrap="square" lIns="0" tIns="0" rIns="0" bIns="0" rtlCol="0" anchor="ctr"/>
          <a:lstStyle/>
          <a:p>
            <a:pPr marL="0" indent="0">
              <a:buNone/>
            </a:pPr>
            <a:r>
              <a:rPr lang="en-US" sz="1200" b="1" kern="0" spc="200" dirty="0">
                <a:solidFill>
                  <a:srgbClr val="2E5A88"/>
                </a:solidFill>
                <a:latin typeface="Arial" pitchFamily="34" charset="0"/>
                <a:ea typeface="Arial" pitchFamily="34" charset="-122"/>
                <a:cs typeface="Arial" pitchFamily="34" charset="-120"/>
              </a:rPr>
              <a:t>DER BLINDE FLECK</a:t>
            </a:r>
            <a:endParaRPr lang="en-US" sz="1200" dirty="0"/>
          </a:p>
        </p:txBody>
      </p:sp>
      <p:sp>
        <p:nvSpPr>
          <p:cNvPr id="3" name="!!title"/>
          <p:cNvSpPr/>
          <p:nvPr/>
        </p:nvSpPr>
        <p:spPr>
          <a:xfrm>
            <a:off x="640080" y="786384"/>
            <a:ext cx="10972800" cy="640080"/>
          </a:xfrm>
          <a:prstGeom prst="rect">
            <a:avLst/>
          </a:prstGeom>
          <a:noFill/>
          <a:ln/>
        </p:spPr>
        <p:txBody>
          <a:bodyPr wrap="square" lIns="0" tIns="0" rIns="0" bIns="0" rtlCol="0" anchor="ctr"/>
          <a:lstStyle/>
          <a:p>
            <a:pPr marL="0" indent="0">
              <a:buNone/>
            </a:pPr>
            <a:r>
              <a:rPr lang="en-US" sz="3000" b="1" dirty="0">
                <a:solidFill>
                  <a:srgbClr val="1D3A5F"/>
                </a:solidFill>
                <a:latin typeface="Arial" pitchFamily="34" charset="0"/>
                <a:ea typeface="Arial" pitchFamily="34" charset="-122"/>
                <a:cs typeface="Arial" pitchFamily="34" charset="-120"/>
              </a:rPr>
              <a:t>Samstag, 22 Uhr – das Material geht aus</a:t>
            </a:r>
            <a:endParaRPr lang="en-US" sz="3000" dirty="0"/>
          </a:p>
        </p:txBody>
      </p:sp>
      <p:sp>
        <p:nvSpPr>
          <p:cNvPr id="4" name="!!c1"/>
          <p:cNvSpPr/>
          <p:nvPr/>
        </p:nvSpPr>
        <p:spPr>
          <a:xfrm>
            <a:off x="640080" y="2148840"/>
            <a:ext cx="1051560" cy="1051560"/>
          </a:xfrm>
          <a:prstGeom prst="ellipse">
            <a:avLst/>
          </a:prstGeom>
          <a:solidFill>
            <a:srgbClr val="E8EEF5"/>
          </a:solidFill>
          <a:ln/>
        </p:spPr>
      </p:sp>
      <p:pic>
        <p:nvPicPr>
          <p:cNvPr id="5" name="Image 0" descr="preencoded.png"/>
          <p:cNvPicPr>
            <a:picLocks noChangeAspect="1"/>
          </p:cNvPicPr>
          <p:nvPr/>
        </p:nvPicPr>
        <p:blipFill>
          <a:blip r:embed="rId3"/>
          <a:stretch>
            <a:fillRect/>
          </a:stretch>
        </p:blipFill>
        <p:spPr>
          <a:xfrm>
            <a:off x="913486" y="2422246"/>
            <a:ext cx="504749" cy="504749"/>
          </a:xfrm>
          <a:prstGeom prst="rect">
            <a:avLst/>
          </a:prstGeom>
        </p:spPr>
      </p:pic>
      <p:sp>
        <p:nvSpPr>
          <p:cNvPr id="6" name="Text 3"/>
          <p:cNvSpPr/>
          <p:nvPr/>
        </p:nvSpPr>
        <p:spPr>
          <a:xfrm>
            <a:off x="1965960" y="2456267"/>
            <a:ext cx="9326880" cy="436705"/>
          </a:xfrm>
          <a:prstGeom prst="rect">
            <a:avLst/>
          </a:prstGeom>
          <a:noFill/>
          <a:ln/>
        </p:spPr>
        <p:txBody>
          <a:bodyPr wrap="square" lIns="0" tIns="0" rIns="0" bIns="0" rtlCol="0" anchor="t"/>
          <a:lstStyle/>
          <a:p>
            <a:pPr marL="0" indent="0">
              <a:lnSpc>
                <a:spcPct val="110000"/>
              </a:lnSpc>
              <a:buNone/>
            </a:pPr>
            <a:r>
              <a:rPr lang="en-US" sz="2800" b="1" dirty="0">
                <a:solidFill>
                  <a:srgbClr val="1D3A5F"/>
                </a:solidFill>
                <a:latin typeface="Arial" pitchFamily="34" charset="0"/>
                <a:ea typeface="Arial" pitchFamily="34" charset="-122"/>
                <a:cs typeface="Arial" pitchFamily="34" charset="-120"/>
              </a:rPr>
              <a:t>und </a:t>
            </a:r>
            <a:r>
              <a:rPr lang="en-US" sz="2800" b="1" dirty="0" err="1">
                <a:solidFill>
                  <a:srgbClr val="1D3A5F"/>
                </a:solidFill>
                <a:latin typeface="Arial" pitchFamily="34" charset="0"/>
                <a:ea typeface="Arial" pitchFamily="34" charset="-122"/>
                <a:cs typeface="Arial" pitchFamily="34" charset="-120"/>
              </a:rPr>
              <a:t>keiner</a:t>
            </a:r>
            <a:r>
              <a:rPr lang="en-US" sz="2800" b="1" dirty="0">
                <a:solidFill>
                  <a:srgbClr val="1D3A5F"/>
                </a:solidFill>
                <a:latin typeface="Arial" pitchFamily="34" charset="0"/>
                <a:ea typeface="Arial" pitchFamily="34" charset="-122"/>
                <a:cs typeface="Arial" pitchFamily="34" charset="-120"/>
              </a:rPr>
              <a:t> </a:t>
            </a:r>
            <a:r>
              <a:rPr lang="en-US" sz="2800" b="1" dirty="0" err="1">
                <a:solidFill>
                  <a:srgbClr val="1D3A5F"/>
                </a:solidFill>
                <a:latin typeface="Arial" pitchFamily="34" charset="0"/>
                <a:ea typeface="Arial" pitchFamily="34" charset="-122"/>
                <a:cs typeface="Arial" pitchFamily="34" charset="-120"/>
              </a:rPr>
              <a:t>sieht</a:t>
            </a:r>
            <a:r>
              <a:rPr lang="en-US" sz="2800" b="1" dirty="0">
                <a:solidFill>
                  <a:srgbClr val="1D3A5F"/>
                </a:solidFill>
                <a:latin typeface="Arial" pitchFamily="34" charset="0"/>
                <a:ea typeface="Arial" pitchFamily="34" charset="-122"/>
                <a:cs typeface="Arial" pitchFamily="34" charset="-120"/>
              </a:rPr>
              <a:t> das </a:t>
            </a:r>
            <a:r>
              <a:rPr lang="en-US" sz="2800" b="1" dirty="0" err="1">
                <a:solidFill>
                  <a:srgbClr val="1D3A5F"/>
                </a:solidFill>
                <a:latin typeface="Arial" pitchFamily="34" charset="0"/>
                <a:ea typeface="Arial" pitchFamily="34" charset="-122"/>
                <a:cs typeface="Arial" pitchFamily="34" charset="-120"/>
              </a:rPr>
              <a:t>kommen</a:t>
            </a:r>
            <a:r>
              <a:rPr lang="en-US" sz="2800" b="1" dirty="0">
                <a:solidFill>
                  <a:srgbClr val="1D3A5F"/>
                </a:solidFill>
                <a:latin typeface="Arial" pitchFamily="34" charset="0"/>
                <a:ea typeface="Arial" pitchFamily="34" charset="-122"/>
                <a:cs typeface="Arial" pitchFamily="34" charset="-120"/>
              </a:rPr>
              <a:t>!</a:t>
            </a:r>
            <a:endParaRPr lang="en-US" sz="2800" dirty="0"/>
          </a:p>
        </p:txBody>
      </p:sp>
      <p:sp>
        <p:nvSpPr>
          <p:cNvPr id="7" name="Text 4"/>
          <p:cNvSpPr/>
          <p:nvPr/>
        </p:nvSpPr>
        <p:spPr>
          <a:xfrm>
            <a:off x="1965960" y="3337560"/>
            <a:ext cx="9144000" cy="1005840"/>
          </a:xfrm>
          <a:prstGeom prst="rect">
            <a:avLst/>
          </a:prstGeom>
          <a:noFill/>
          <a:ln/>
        </p:spPr>
        <p:txBody>
          <a:bodyPr wrap="square" lIns="0" tIns="0" rIns="0" bIns="0" rtlCol="0" anchor="t"/>
          <a:lstStyle/>
          <a:p>
            <a:pPr marL="0" indent="0">
              <a:lnSpc>
                <a:spcPct val="130000"/>
              </a:lnSpc>
              <a:buNone/>
            </a:pPr>
            <a:r>
              <a:rPr lang="en-US" sz="1700" dirty="0">
                <a:solidFill>
                  <a:srgbClr val="5C6B7A"/>
                </a:solidFill>
                <a:latin typeface="Arial" pitchFamily="34" charset="0"/>
                <a:ea typeface="Arial" pitchFamily="34" charset="-122"/>
                <a:cs typeface="Arial" pitchFamily="34" charset="-120"/>
              </a:rPr>
              <a:t>Die Station braucht Nachschub, aber niemand kann den </a:t>
            </a:r>
            <a:r>
              <a:rPr lang="en-US" sz="1700" dirty="0" err="1">
                <a:solidFill>
                  <a:srgbClr val="5C6B7A"/>
                </a:solidFill>
                <a:latin typeface="Arial" pitchFamily="34" charset="0"/>
                <a:ea typeface="Arial" pitchFamily="34" charset="-122"/>
                <a:cs typeface="Arial" pitchFamily="34" charset="-120"/>
              </a:rPr>
              <a:t>tatsächlichen</a:t>
            </a:r>
            <a:r>
              <a:rPr lang="en-US" sz="1700" dirty="0">
                <a:solidFill>
                  <a:srgbClr val="5C6B7A"/>
                </a:solidFill>
                <a:latin typeface="Arial" pitchFamily="34" charset="0"/>
                <a:ea typeface="Arial" pitchFamily="34" charset="-122"/>
                <a:cs typeface="Arial" pitchFamily="34" charset="-120"/>
              </a:rPr>
              <a:t> </a:t>
            </a:r>
            <a:r>
              <a:rPr lang="en-US" sz="1700" dirty="0" err="1">
                <a:solidFill>
                  <a:srgbClr val="5C6B7A"/>
                </a:solidFill>
                <a:latin typeface="Arial" pitchFamily="34" charset="0"/>
                <a:ea typeface="Arial" pitchFamily="34" charset="-122"/>
                <a:cs typeface="Arial" pitchFamily="34" charset="-120"/>
              </a:rPr>
              <a:t>Bestand</a:t>
            </a:r>
            <a:r>
              <a:rPr lang="en-US" sz="1700" dirty="0">
                <a:solidFill>
                  <a:srgbClr val="5C6B7A"/>
                </a:solidFill>
                <a:latin typeface="Arial" pitchFamily="34" charset="0"/>
                <a:ea typeface="Arial" pitchFamily="34" charset="-122"/>
                <a:cs typeface="Arial" pitchFamily="34" charset="-120"/>
              </a:rPr>
              <a:t> einsehen. Es folgen Telefonketten, Nachfragen, Improvisieren – und nachts ist das Lager nicht besetzt.</a:t>
            </a:r>
            <a:endParaRPr lang="en-US" sz="1700" dirty="0"/>
          </a:p>
        </p:txBody>
      </p:sp>
      <p:sp>
        <p:nvSpPr>
          <p:cNvPr id="8" name="!!k3"/>
          <p:cNvSpPr/>
          <p:nvPr/>
        </p:nvSpPr>
        <p:spPr>
          <a:xfrm>
            <a:off x="640080" y="4732020"/>
            <a:ext cx="10908792" cy="822960"/>
          </a:xfrm>
          <a:prstGeom prst="roundRect">
            <a:avLst>
              <a:gd name="adj" fmla="val 9474"/>
            </a:avLst>
          </a:prstGeom>
          <a:solidFill>
            <a:srgbClr val="1D3A5F"/>
          </a:solidFill>
          <a:ln/>
          <a:effectLst>
            <a:outerShdw blurRad="114300" dist="38100" dir="5400000" algn="bl" rotWithShape="0">
              <a:srgbClr val="7A8AA0">
                <a:alpha val="22000"/>
              </a:srgbClr>
            </a:outerShdw>
          </a:effectLst>
        </p:spPr>
      </p:sp>
      <p:sp>
        <p:nvSpPr>
          <p:cNvPr id="9" name="Text 6"/>
          <p:cNvSpPr/>
          <p:nvPr/>
        </p:nvSpPr>
        <p:spPr>
          <a:xfrm>
            <a:off x="1339596" y="4732020"/>
            <a:ext cx="9509760" cy="82296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  Genau diesen blinden Fleck beseitigt die Software.</a:t>
            </a:r>
            <a:endParaRPr lang="en-US" sz="1800" dirty="0"/>
          </a:p>
        </p:txBody>
      </p:sp>
      <p:sp>
        <p:nvSpPr>
          <p:cNvPr id="10" name="!!foot"/>
          <p:cNvSpPr/>
          <p:nvPr/>
        </p:nvSpPr>
        <p:spPr>
          <a:xfrm>
            <a:off x="640080" y="6437376"/>
            <a:ext cx="10908792" cy="274320"/>
          </a:xfrm>
          <a:prstGeom prst="rect">
            <a:avLst/>
          </a:prstGeom>
          <a:noFill/>
          <a:ln/>
        </p:spPr>
        <p:txBody>
          <a:bodyPr wrap="square" lIns="0" tIns="0" rIns="0" bIns="0" rtlCol="0" anchor="ctr"/>
          <a:lstStyle/>
          <a:p>
            <a:pPr marL="0" indent="0" algn="l">
              <a:buNone/>
            </a:pPr>
            <a:r>
              <a:rPr lang="en-US" sz="900" dirty="0">
                <a:solidFill>
                  <a:srgbClr val="5C6B7A"/>
                </a:solidFill>
                <a:latin typeface="Arial" pitchFamily="34" charset="0"/>
                <a:ea typeface="Arial" pitchFamily="34" charset="-122"/>
                <a:cs typeface="Arial" pitchFamily="34" charset="-120"/>
              </a:rPr>
              <a:t>Sascha Schulz     ·     Lagerverwaltung von medizinischem Verbrauchsmaterial im Krankenhaus</a:t>
            </a:r>
            <a:endParaRPr lang="en-US" sz="900" dirty="0"/>
          </a:p>
        </p:txBody>
      </p:sp>
      <p:sp>
        <p:nvSpPr>
          <p:cNvPr id="11" name="!!scrolltrack"/>
          <p:cNvSpPr/>
          <p:nvPr/>
        </p:nvSpPr>
        <p:spPr>
          <a:xfrm>
            <a:off x="11979240" y="457200"/>
            <a:ext cx="27432" cy="5943600"/>
          </a:xfrm>
          <a:prstGeom prst="roundRect">
            <a:avLst>
              <a:gd name="adj" fmla="val 50000"/>
            </a:avLst>
          </a:prstGeom>
          <a:solidFill>
            <a:srgbClr val="E3E9F1"/>
          </a:solidFill>
          <a:ln/>
        </p:spPr>
      </p:sp>
      <p:sp>
        <p:nvSpPr>
          <p:cNvPr id="12" name="!!scrollthumb"/>
          <p:cNvSpPr/>
          <p:nvPr/>
        </p:nvSpPr>
        <p:spPr>
          <a:xfrm>
            <a:off x="11979240" y="1117600"/>
            <a:ext cx="27432" cy="330200"/>
          </a:xfrm>
          <a:prstGeom prst="roundRect">
            <a:avLst>
              <a:gd name="adj" fmla="val 50000"/>
            </a:avLst>
          </a:prstGeom>
          <a:solidFill>
            <a:srgbClr val="2E5A88"/>
          </a:solidFill>
          <a:ln/>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B"/>
        </a:solidFill>
        <a:effectLst/>
      </p:bgPr>
    </p:bg>
    <p:spTree>
      <p:nvGrpSpPr>
        <p:cNvPr id="1" name=""/>
        <p:cNvGrpSpPr/>
        <p:nvPr/>
      </p:nvGrpSpPr>
      <p:grpSpPr>
        <a:xfrm>
          <a:off x="0" y="0"/>
          <a:ext cx="0" cy="0"/>
          <a:chOff x="0" y="0"/>
          <a:chExt cx="0" cy="0"/>
        </a:xfrm>
      </p:grpSpPr>
      <p:sp>
        <p:nvSpPr>
          <p:cNvPr id="2" name="!!eyebrow"/>
          <p:cNvSpPr/>
          <p:nvPr/>
        </p:nvSpPr>
        <p:spPr>
          <a:xfrm>
            <a:off x="640080" y="457200"/>
            <a:ext cx="10881360" cy="320040"/>
          </a:xfrm>
          <a:prstGeom prst="rect">
            <a:avLst/>
          </a:prstGeom>
          <a:noFill/>
          <a:ln/>
        </p:spPr>
        <p:txBody>
          <a:bodyPr wrap="square" lIns="0" tIns="0" rIns="0" bIns="0" rtlCol="0" anchor="ctr"/>
          <a:lstStyle/>
          <a:p>
            <a:pPr marL="0" indent="0">
              <a:buNone/>
            </a:pPr>
            <a:r>
              <a:rPr lang="en-US" sz="1200" b="1" kern="0" spc="200" dirty="0">
                <a:solidFill>
                  <a:srgbClr val="2E5A88"/>
                </a:solidFill>
                <a:latin typeface="Arial" pitchFamily="34" charset="0"/>
                <a:ea typeface="Arial" pitchFamily="34" charset="-122"/>
                <a:cs typeface="Arial" pitchFamily="34" charset="-120"/>
              </a:rPr>
              <a:t>ZIEL &amp; FAHRPLAN</a:t>
            </a:r>
            <a:endParaRPr lang="en-US" sz="1200" dirty="0"/>
          </a:p>
        </p:txBody>
      </p:sp>
      <p:sp>
        <p:nvSpPr>
          <p:cNvPr id="3" name="!!title"/>
          <p:cNvSpPr/>
          <p:nvPr/>
        </p:nvSpPr>
        <p:spPr>
          <a:xfrm>
            <a:off x="640080" y="786384"/>
            <a:ext cx="10972800" cy="640080"/>
          </a:xfrm>
          <a:prstGeom prst="rect">
            <a:avLst/>
          </a:prstGeom>
          <a:noFill/>
          <a:ln/>
        </p:spPr>
        <p:txBody>
          <a:bodyPr wrap="square" lIns="0" tIns="0" rIns="0" bIns="0" rtlCol="0" anchor="ctr"/>
          <a:lstStyle/>
          <a:p>
            <a:pPr marL="0" indent="0">
              <a:buNone/>
            </a:pPr>
            <a:r>
              <a:rPr lang="en-US" sz="3000" b="1" dirty="0">
                <a:solidFill>
                  <a:srgbClr val="1D3A5F"/>
                </a:solidFill>
                <a:latin typeface="Arial" pitchFamily="34" charset="0"/>
                <a:ea typeface="Arial" pitchFamily="34" charset="-122"/>
                <a:cs typeface="Arial" pitchFamily="34" charset="-120"/>
              </a:rPr>
              <a:t>Die Reise: vom Zettel zur eigenen Software</a:t>
            </a:r>
            <a:endParaRPr lang="en-US" sz="3000" dirty="0"/>
          </a:p>
        </p:txBody>
      </p:sp>
      <p:sp>
        <p:nvSpPr>
          <p:cNvPr id="4" name="!!sub"/>
          <p:cNvSpPr/>
          <p:nvPr/>
        </p:nvSpPr>
        <p:spPr>
          <a:xfrm>
            <a:off x="640080" y="1481328"/>
            <a:ext cx="10881360" cy="457200"/>
          </a:xfrm>
          <a:prstGeom prst="rect">
            <a:avLst/>
          </a:prstGeom>
          <a:noFill/>
          <a:ln/>
        </p:spPr>
        <p:txBody>
          <a:bodyPr wrap="square" lIns="0" tIns="0" rIns="0" bIns="0" rtlCol="0" anchor="ctr"/>
          <a:lstStyle/>
          <a:p>
            <a:pPr marL="0" indent="0">
              <a:buNone/>
            </a:pPr>
            <a:r>
              <a:rPr lang="en-US" sz="1500" dirty="0">
                <a:solidFill>
                  <a:srgbClr val="5C6B7A"/>
                </a:solidFill>
                <a:latin typeface="Arial" pitchFamily="34" charset="0"/>
                <a:ea typeface="Arial" pitchFamily="34" charset="-122"/>
                <a:cs typeface="Arial" pitchFamily="34" charset="-120"/>
              </a:rPr>
              <a:t>Ziel: eine JavaFX-Desktop-Anwendung mit MySQL, die Bestände für alle sichtbar macht – die Antwort auf den blinden Fleck von eben.</a:t>
            </a:r>
            <a:endParaRPr lang="en-US" sz="1500" dirty="0"/>
          </a:p>
        </p:txBody>
      </p:sp>
      <p:sp>
        <p:nvSpPr>
          <p:cNvPr id="5" name="!!k1"/>
          <p:cNvSpPr/>
          <p:nvPr/>
        </p:nvSpPr>
        <p:spPr>
          <a:xfrm>
            <a:off x="640080" y="2286000"/>
            <a:ext cx="3200400" cy="2880360"/>
          </a:xfrm>
          <a:prstGeom prst="roundRect">
            <a:avLst>
              <a:gd name="adj" fmla="val 2857"/>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6" name="!!c1"/>
          <p:cNvSpPr/>
          <p:nvPr/>
        </p:nvSpPr>
        <p:spPr>
          <a:xfrm>
            <a:off x="932688" y="2596896"/>
            <a:ext cx="658368" cy="658368"/>
          </a:xfrm>
          <a:prstGeom prst="ellipse">
            <a:avLst/>
          </a:prstGeom>
          <a:solidFill>
            <a:srgbClr val="E8EEF5"/>
          </a:solidFill>
          <a:ln/>
        </p:spPr>
      </p:sp>
      <p:pic>
        <p:nvPicPr>
          <p:cNvPr id="7" name="Image 0" descr="preencoded.png"/>
          <p:cNvPicPr>
            <a:picLocks noChangeAspect="1"/>
          </p:cNvPicPr>
          <p:nvPr/>
        </p:nvPicPr>
        <p:blipFill>
          <a:blip r:embed="rId3"/>
          <a:stretch>
            <a:fillRect/>
          </a:stretch>
        </p:blipFill>
        <p:spPr>
          <a:xfrm>
            <a:off x="1103864" y="2768072"/>
            <a:ext cx="316017" cy="316017"/>
          </a:xfrm>
          <a:prstGeom prst="rect">
            <a:avLst/>
          </a:prstGeom>
        </p:spPr>
      </p:pic>
      <p:sp>
        <p:nvSpPr>
          <p:cNvPr id="8" name="Text 5"/>
          <p:cNvSpPr/>
          <p:nvPr/>
        </p:nvSpPr>
        <p:spPr>
          <a:xfrm>
            <a:off x="932688" y="3474720"/>
            <a:ext cx="2807208"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cs typeface="Arial" pitchFamily="34" charset="-120"/>
              </a:rPr>
              <a:t>ZETTEL &amp; SAP</a:t>
            </a:r>
            <a:endParaRPr lang="en-US" sz="1200" dirty="0"/>
          </a:p>
        </p:txBody>
      </p:sp>
      <p:sp>
        <p:nvSpPr>
          <p:cNvPr id="9" name="Text 6"/>
          <p:cNvSpPr/>
          <p:nvPr/>
        </p:nvSpPr>
        <p:spPr>
          <a:xfrm>
            <a:off x="932688" y="3767328"/>
            <a:ext cx="2807208" cy="256032"/>
          </a:xfrm>
          <a:prstGeom prst="rect">
            <a:avLst/>
          </a:prstGeom>
          <a:noFill/>
          <a:ln/>
        </p:spPr>
        <p:txBody>
          <a:bodyPr wrap="square" lIns="0" tIns="0" rIns="0" bIns="0" rtlCol="0" anchor="ctr"/>
          <a:lstStyle/>
          <a:p>
            <a:r>
              <a:rPr lang="en-US" sz="1100" dirty="0" err="1">
                <a:solidFill>
                  <a:srgbClr val="5C6B7A"/>
                </a:solidFill>
                <a:latin typeface="Arial" pitchFamily="34" charset="0"/>
                <a:ea typeface="Arial" pitchFamily="34" charset="-122"/>
                <a:cs typeface="Arial" pitchFamily="34" charset="-120"/>
              </a:rPr>
              <a:t>Damals · von Hand</a:t>
            </a:r>
          </a:p>
        </p:txBody>
      </p:sp>
      <p:sp>
        <p:nvSpPr>
          <p:cNvPr id="10" name="Text 7"/>
          <p:cNvSpPr/>
          <p:nvPr/>
        </p:nvSpPr>
        <p:spPr>
          <a:xfrm>
            <a:off x="932688" y="4160520"/>
            <a:ext cx="2807208" cy="731520"/>
          </a:xfrm>
          <a:prstGeom prst="rect">
            <a:avLst/>
          </a:prstGeom>
          <a:noFill/>
          <a:ln/>
        </p:spPr>
        <p:txBody>
          <a:bodyPr wrap="square" lIns="0" tIns="0" rIns="0" bIns="0" rtlCol="0" anchor="t"/>
          <a:lstStyle/>
          <a:p>
            <a:pPr marL="0" indent="0">
              <a:buNone/>
            </a:pPr>
            <a:r>
              <a:rPr lang="en-US" sz="1800" b="1" dirty="0">
                <a:solidFill>
                  <a:srgbClr val="1D3A5F"/>
                </a:solidFill>
                <a:latin typeface="Arial" pitchFamily="34" charset="0"/>
                <a:ea typeface="Arial" pitchFamily="34" charset="-122"/>
                <a:cs typeface="Arial" pitchFamily="34" charset="-120"/>
              </a:rPr>
              <a:t>Ohne gemeinsamen Überblick</a:t>
            </a:r>
          </a:p>
        </p:txBody>
      </p:sp>
      <p:sp>
        <p:nvSpPr>
          <p:cNvPr id="11" name="!!k2"/>
          <p:cNvSpPr/>
          <p:nvPr/>
        </p:nvSpPr>
        <p:spPr>
          <a:xfrm>
            <a:off x="4495800" y="2295144"/>
            <a:ext cx="3200400" cy="2880360"/>
          </a:xfrm>
          <a:prstGeom prst="roundRect">
            <a:avLst>
              <a:gd name="adj" fmla="val 2857"/>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12" name="!!c2"/>
          <p:cNvSpPr/>
          <p:nvPr/>
        </p:nvSpPr>
        <p:spPr>
          <a:xfrm>
            <a:off x="4875276" y="2596896"/>
            <a:ext cx="658368" cy="658368"/>
          </a:xfrm>
          <a:prstGeom prst="ellipse">
            <a:avLst/>
          </a:prstGeom>
          <a:solidFill>
            <a:srgbClr val="E8EEF5"/>
          </a:solidFill>
          <a:ln/>
        </p:spPr>
      </p:sp>
      <p:pic>
        <p:nvPicPr>
          <p:cNvPr id="13" name="Image 1" descr="preencoded.png"/>
          <p:cNvPicPr>
            <a:picLocks noChangeAspect="1"/>
          </p:cNvPicPr>
          <p:nvPr/>
        </p:nvPicPr>
        <p:blipFill>
          <a:blip r:embed="rId4"/>
          <a:stretch>
            <a:fillRect/>
          </a:stretch>
        </p:blipFill>
        <p:spPr>
          <a:xfrm>
            <a:off x="5046452" y="2768072"/>
            <a:ext cx="316017" cy="316017"/>
          </a:xfrm>
          <a:prstGeom prst="rect">
            <a:avLst/>
          </a:prstGeom>
        </p:spPr>
      </p:pic>
      <p:sp>
        <p:nvSpPr>
          <p:cNvPr id="14" name="Text 10"/>
          <p:cNvSpPr/>
          <p:nvPr/>
        </p:nvSpPr>
        <p:spPr>
          <a:xfrm>
            <a:off x="4875276" y="3474720"/>
            <a:ext cx="2807208"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ea typeface="Arial" pitchFamily="34" charset="-122"/>
                <a:cs typeface="Arial" pitchFamily="34" charset="-120"/>
              </a:rPr>
              <a:t>AMONDIS</a:t>
            </a:r>
            <a:endParaRPr lang="en-US" sz="1200" dirty="0"/>
          </a:p>
        </p:txBody>
      </p:sp>
      <p:sp>
        <p:nvSpPr>
          <p:cNvPr id="15" name="Text 11"/>
          <p:cNvSpPr/>
          <p:nvPr/>
        </p:nvSpPr>
        <p:spPr>
          <a:xfrm>
            <a:off x="4875276" y="3767328"/>
            <a:ext cx="2807208" cy="256032"/>
          </a:xfrm>
          <a:prstGeom prst="rect">
            <a:avLst/>
          </a:prstGeom>
          <a:noFill/>
          <a:ln/>
        </p:spPr>
        <p:txBody>
          <a:bodyPr wrap="square" lIns="0" tIns="0" rIns="0" bIns="0" rtlCol="0" anchor="ctr"/>
          <a:lstStyle/>
          <a:p>
            <a:pPr marL="0" indent="0">
              <a:buNone/>
            </a:pPr>
            <a:r>
              <a:rPr lang="en-US" sz="1100" dirty="0">
                <a:solidFill>
                  <a:srgbClr val="5C6B7A"/>
                </a:solidFill>
                <a:latin typeface="Arial" pitchFamily="34" charset="0"/>
                <a:ea typeface="Arial" pitchFamily="34" charset="-122"/>
                <a:cs typeface="Arial" pitchFamily="34" charset="-120"/>
              </a:rPr>
              <a:t>Dann · als Anwender</a:t>
            </a:r>
          </a:p>
        </p:txBody>
      </p:sp>
      <p:sp>
        <p:nvSpPr>
          <p:cNvPr id="16" name="Text 12"/>
          <p:cNvSpPr/>
          <p:nvPr/>
        </p:nvSpPr>
        <p:spPr>
          <a:xfrm>
            <a:off x="4875276" y="4160520"/>
            <a:ext cx="2807208" cy="731520"/>
          </a:xfrm>
          <a:prstGeom prst="rect">
            <a:avLst/>
          </a:prstGeom>
          <a:noFill/>
          <a:ln/>
        </p:spPr>
        <p:txBody>
          <a:bodyPr wrap="square" lIns="0" tIns="0" rIns="0" bIns="0" rtlCol="0" anchor="t"/>
          <a:lstStyle/>
          <a:p>
            <a:pPr marL="0" indent="0">
              <a:buNone/>
            </a:pPr>
            <a:r>
              <a:rPr lang="en-US" sz="1800" b="1" dirty="0">
                <a:solidFill>
                  <a:srgbClr val="1D3A5F"/>
                </a:solidFill>
                <a:latin typeface="Arial" pitchFamily="34" charset="0"/>
                <a:ea typeface="Arial" pitchFamily="34" charset="-122"/>
                <a:cs typeface="Arial" pitchFamily="34" charset="-120"/>
              </a:rPr>
              <a:t>Federführend eingeführt</a:t>
            </a:r>
            <a:endParaRPr lang="en-US" sz="1800" dirty="0"/>
          </a:p>
        </p:txBody>
      </p:sp>
      <p:sp>
        <p:nvSpPr>
          <p:cNvPr id="17" name="!!k3"/>
          <p:cNvSpPr/>
          <p:nvPr/>
        </p:nvSpPr>
        <p:spPr>
          <a:xfrm>
            <a:off x="8351520" y="2286000"/>
            <a:ext cx="3200400" cy="2880360"/>
          </a:xfrm>
          <a:prstGeom prst="roundRect">
            <a:avLst>
              <a:gd name="adj" fmla="val 2857"/>
            </a:avLst>
          </a:prstGeom>
          <a:solidFill>
            <a:srgbClr val="E8EEF5"/>
          </a:solidFill>
          <a:ln w="19050">
            <a:solidFill>
              <a:srgbClr val="2E5A88"/>
            </a:solidFill>
            <a:prstDash val="solid"/>
          </a:ln>
          <a:effectLst>
            <a:outerShdw blurRad="114300" dist="38100" dir="5400000" algn="bl" rotWithShape="0">
              <a:srgbClr val="7A8AA0">
                <a:alpha val="22000"/>
              </a:srgbClr>
            </a:outerShdw>
          </a:effectLst>
        </p:spPr>
      </p:sp>
      <p:sp>
        <p:nvSpPr>
          <p:cNvPr id="18" name="!!c3"/>
          <p:cNvSpPr/>
          <p:nvPr/>
        </p:nvSpPr>
        <p:spPr>
          <a:xfrm>
            <a:off x="8644128" y="2596896"/>
            <a:ext cx="658368" cy="658368"/>
          </a:xfrm>
          <a:prstGeom prst="ellipse">
            <a:avLst/>
          </a:prstGeom>
          <a:solidFill>
            <a:srgbClr val="FFFFFF"/>
          </a:solidFill>
          <a:ln/>
        </p:spPr>
      </p:sp>
      <p:pic>
        <p:nvPicPr>
          <p:cNvPr id="19" name="Image 2" descr="preencoded.png"/>
          <p:cNvPicPr>
            <a:picLocks noChangeAspect="1"/>
          </p:cNvPicPr>
          <p:nvPr/>
        </p:nvPicPr>
        <p:blipFill>
          <a:blip r:embed="rId5"/>
          <a:stretch>
            <a:fillRect/>
          </a:stretch>
        </p:blipFill>
        <p:spPr>
          <a:xfrm>
            <a:off x="8815304" y="2768072"/>
            <a:ext cx="316017" cy="316017"/>
          </a:xfrm>
          <a:prstGeom prst="rect">
            <a:avLst/>
          </a:prstGeom>
        </p:spPr>
      </p:pic>
      <p:sp>
        <p:nvSpPr>
          <p:cNvPr id="20" name="Text 15"/>
          <p:cNvSpPr/>
          <p:nvPr/>
        </p:nvSpPr>
        <p:spPr>
          <a:xfrm>
            <a:off x="8644128" y="3474720"/>
            <a:ext cx="2807208"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ea typeface="Arial" pitchFamily="34" charset="-122"/>
                <a:cs typeface="Arial" pitchFamily="34" charset="-120"/>
              </a:rPr>
              <a:t>EIGENE SOFTWARE</a:t>
            </a:r>
            <a:endParaRPr lang="en-US" sz="1200" dirty="0"/>
          </a:p>
        </p:txBody>
      </p:sp>
      <p:sp>
        <p:nvSpPr>
          <p:cNvPr id="21" name="Text 16"/>
          <p:cNvSpPr/>
          <p:nvPr/>
        </p:nvSpPr>
        <p:spPr>
          <a:xfrm>
            <a:off x="8644128" y="3767328"/>
            <a:ext cx="2807208" cy="256032"/>
          </a:xfrm>
          <a:prstGeom prst="rect">
            <a:avLst/>
          </a:prstGeom>
          <a:noFill/>
          <a:ln/>
        </p:spPr>
        <p:txBody>
          <a:bodyPr wrap="square" lIns="0" tIns="0" rIns="0" bIns="0" rtlCol="0" anchor="ctr"/>
          <a:lstStyle/>
          <a:p>
            <a:pPr marL="0" indent="0">
              <a:buNone/>
            </a:pPr>
            <a:r>
              <a:rPr lang="en-US" sz="1100" dirty="0">
                <a:solidFill>
                  <a:srgbClr val="5C6B7A"/>
                </a:solidFill>
                <a:latin typeface="Arial" pitchFamily="34" charset="0"/>
                <a:ea typeface="Arial" pitchFamily="34" charset="-122"/>
                <a:cs typeface="Arial" pitchFamily="34" charset="-120"/>
              </a:rPr>
              <a:t>Heute · Entwickler</a:t>
            </a:r>
            <a:endParaRPr lang="en-US" sz="1100" dirty="0"/>
          </a:p>
        </p:txBody>
      </p:sp>
      <p:sp>
        <p:nvSpPr>
          <p:cNvPr id="22" name="Text 17"/>
          <p:cNvSpPr/>
          <p:nvPr/>
        </p:nvSpPr>
        <p:spPr>
          <a:xfrm>
            <a:off x="8644128" y="4160520"/>
            <a:ext cx="2807208" cy="731520"/>
          </a:xfrm>
          <a:prstGeom prst="rect">
            <a:avLst/>
          </a:prstGeom>
          <a:noFill/>
          <a:ln/>
        </p:spPr>
        <p:txBody>
          <a:bodyPr wrap="square" lIns="0" tIns="0" rIns="0" bIns="0" rtlCol="0" anchor="t"/>
          <a:lstStyle/>
          <a:p>
            <a:pPr marL="0" indent="0">
              <a:buNone/>
            </a:pPr>
            <a:r>
              <a:rPr lang="en-US" sz="1800" b="1" dirty="0">
                <a:solidFill>
                  <a:srgbClr val="1D3A5F"/>
                </a:solidFill>
                <a:latin typeface="Arial" pitchFamily="34" charset="0"/>
                <a:ea typeface="Arial" pitchFamily="34" charset="-122"/>
                <a:cs typeface="Arial" pitchFamily="34" charset="-120"/>
              </a:rPr>
              <a:t>Selbst entworfen &amp; gebaut</a:t>
            </a:r>
            <a:endParaRPr lang="en-US" sz="1800" dirty="0"/>
          </a:p>
        </p:txBody>
      </p:sp>
      <p:sp>
        <p:nvSpPr>
          <p:cNvPr id="100" name="!!ar1"/>
          <p:cNvSpPr/>
          <p:nvPr/>
        </p:nvSpPr>
        <p:spPr>
          <a:xfrm>
            <a:off x="3840480" y="3451860"/>
            <a:ext cx="655320" cy="548640"/>
          </a:xfrm>
          <a:prstGeom prst="rect">
            <a:avLst/>
          </a:prstGeom>
          <a:noFill/>
        </p:spPr>
        <p:txBody>
          <a:bodyPr lIns="0" tIns="0" rIns="0" bIns="0" anchor="ctr"/>
          <a:lstStyle/>
          <a:p>
            <a:pPr algn="ctr"/>
            <a:r>
              <a:rPr lang="de-DE" sz="3600" b="1">
                <a:solidFill>
                  <a:srgbClr val="2E5A88"/>
                </a:solidFill>
                <a:latin typeface="Arial"/>
              </a:rPr>
              <a:t>→</a:t>
            </a:r>
          </a:p>
        </p:txBody>
      </p:sp>
      <p:sp>
        <p:nvSpPr>
          <p:cNvPr id="101" name="!!ar2"/>
          <p:cNvSpPr/>
          <p:nvPr/>
        </p:nvSpPr>
        <p:spPr>
          <a:xfrm>
            <a:off x="7696200" y="3451860"/>
            <a:ext cx="655320" cy="548640"/>
          </a:xfrm>
          <a:prstGeom prst="rect">
            <a:avLst/>
          </a:prstGeom>
          <a:noFill/>
        </p:spPr>
        <p:txBody>
          <a:bodyPr lIns="0" tIns="0" rIns="0" bIns="0" anchor="ctr"/>
          <a:lstStyle/>
          <a:p>
            <a:pPr algn="ctr"/>
            <a:r>
              <a:rPr lang="de-DE" sz="3600" b="1">
                <a:solidFill>
                  <a:srgbClr val="2E5A88"/>
                </a:solidFill>
                <a:latin typeface="Arial"/>
              </a:rPr>
              <a:t>→</a:t>
            </a:r>
          </a:p>
        </p:txBody>
      </p:sp>
      <p:sp>
        <p:nvSpPr>
          <p:cNvPr id="23" name="Text 18"/>
          <p:cNvSpPr/>
          <p:nvPr/>
        </p:nvSpPr>
        <p:spPr>
          <a:xfrm>
            <a:off x="640080" y="5650000"/>
            <a:ext cx="10881360" cy="365760"/>
          </a:xfrm>
          <a:prstGeom prst="rect">
            <a:avLst/>
          </a:prstGeom>
          <a:noFill/>
          <a:ln/>
        </p:spPr>
        <p:txBody>
          <a:bodyPr wrap="square" lIns="0" tIns="0" rIns="0" bIns="0" rtlCol="0" anchor="ctr"/>
          <a:lstStyle/>
          <a:p>
            <a:pPr marL="0" indent="0">
              <a:buNone/>
            </a:pPr>
            <a:r>
              <a:rPr lang="en-US" sz="1300" i="1" dirty="0">
                <a:solidFill>
                  <a:srgbClr val="5C6B7A"/>
                </a:solidFill>
                <a:latin typeface="Arial" pitchFamily="34" charset="0"/>
                <a:ea typeface="Arial" pitchFamily="34" charset="-122"/>
                <a:cs typeface="Arial" pitchFamily="34" charset="-120"/>
              </a:rPr>
              <a:t>Jede Kernfunktion zeige ich an denselben drei Etappen: früher von Hand, dann mit Amondis als Anwender, heute selbst gebaut.</a:t>
            </a:r>
          </a:p>
        </p:txBody>
      </p:sp>
      <p:sp>
        <p:nvSpPr>
          <p:cNvPr id="24" name="!!foot"/>
          <p:cNvSpPr/>
          <p:nvPr/>
        </p:nvSpPr>
        <p:spPr>
          <a:xfrm>
            <a:off x="640080" y="6437376"/>
            <a:ext cx="10908792" cy="274320"/>
          </a:xfrm>
          <a:prstGeom prst="rect">
            <a:avLst/>
          </a:prstGeom>
          <a:noFill/>
          <a:ln/>
        </p:spPr>
        <p:txBody>
          <a:bodyPr wrap="square" lIns="0" tIns="0" rIns="0" bIns="0" rtlCol="0" anchor="ctr"/>
          <a:lstStyle/>
          <a:p>
            <a:pPr marL="0" indent="0" algn="l">
              <a:buNone/>
            </a:pPr>
            <a:r>
              <a:rPr lang="en-US" sz="900" dirty="0">
                <a:solidFill>
                  <a:srgbClr val="5C6B7A"/>
                </a:solidFill>
                <a:latin typeface="Arial" pitchFamily="34" charset="0"/>
                <a:ea typeface="Arial" pitchFamily="34" charset="-122"/>
                <a:cs typeface="Arial" pitchFamily="34" charset="-120"/>
              </a:rPr>
              <a:t>Sascha Schulz     ·     Lagerverwaltung von medizinischem Verbrauchsmaterial im Krankenhaus</a:t>
            </a:r>
            <a:endParaRPr lang="en-US" sz="900" dirty="0"/>
          </a:p>
        </p:txBody>
      </p:sp>
      <p:sp>
        <p:nvSpPr>
          <p:cNvPr id="102" name="!!scrolltrack"/>
          <p:cNvSpPr/>
          <p:nvPr/>
        </p:nvSpPr>
        <p:spPr>
          <a:xfrm>
            <a:off x="11979240" y="457200"/>
            <a:ext cx="27432" cy="5943600"/>
          </a:xfrm>
          <a:prstGeom prst="roundRect">
            <a:avLst>
              <a:gd name="adj" fmla="val 50000"/>
            </a:avLst>
          </a:prstGeom>
          <a:solidFill>
            <a:srgbClr val="E3E9F1"/>
          </a:solidFill>
          <a:ln/>
        </p:spPr>
      </p:sp>
      <p:sp>
        <p:nvSpPr>
          <p:cNvPr id="103" name="!!scrollthumb"/>
          <p:cNvSpPr/>
          <p:nvPr/>
        </p:nvSpPr>
        <p:spPr>
          <a:xfrm>
            <a:off x="11979240" y="1447800"/>
            <a:ext cx="27432" cy="330200"/>
          </a:xfrm>
          <a:prstGeom prst="roundRect">
            <a:avLst>
              <a:gd name="adj" fmla="val 50000"/>
            </a:avLst>
          </a:prstGeom>
          <a:solidFill>
            <a:srgbClr val="2E5A88"/>
          </a:solidFill>
          <a:ln/>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B"/>
        </a:solidFill>
        <a:effectLst/>
      </p:bgPr>
    </p:bg>
    <p:spTree>
      <p:nvGrpSpPr>
        <p:cNvPr id="1" name=""/>
        <p:cNvGrpSpPr/>
        <p:nvPr/>
      </p:nvGrpSpPr>
      <p:grpSpPr>
        <a:xfrm>
          <a:off x="0" y="0"/>
          <a:ext cx="0" cy="0"/>
          <a:chOff x="0" y="0"/>
          <a:chExt cx="0" cy="0"/>
        </a:xfrm>
      </p:grpSpPr>
      <p:sp>
        <p:nvSpPr>
          <p:cNvPr id="2" name="!!eyebrow"/>
          <p:cNvSpPr/>
          <p:nvPr/>
        </p:nvSpPr>
        <p:spPr>
          <a:xfrm>
            <a:off x="640080" y="457200"/>
            <a:ext cx="10881360" cy="320040"/>
          </a:xfrm>
          <a:prstGeom prst="rect">
            <a:avLst/>
          </a:prstGeom>
          <a:noFill/>
          <a:ln/>
        </p:spPr>
        <p:txBody>
          <a:bodyPr wrap="square" lIns="0" tIns="0" rIns="0" bIns="0" rtlCol="0" anchor="ctr"/>
          <a:lstStyle/>
          <a:p>
            <a:pPr marL="0" indent="0">
              <a:buNone/>
            </a:pPr>
            <a:r>
              <a:rPr lang="en-US" sz="1200" b="1" kern="0" spc="200" dirty="0">
                <a:solidFill>
                  <a:srgbClr val="2E5A88"/>
                </a:solidFill>
                <a:latin typeface="Arial" pitchFamily="34" charset="0"/>
                <a:ea typeface="Arial" pitchFamily="34" charset="-122"/>
                <a:cs typeface="Arial" pitchFamily="34" charset="-120"/>
              </a:rPr>
              <a:t>DIE REISE · SCHRITT 1 VON 4</a:t>
            </a:r>
          </a:p>
        </p:txBody>
      </p:sp>
      <p:sp>
        <p:nvSpPr>
          <p:cNvPr id="3" name="!!title"/>
          <p:cNvSpPr/>
          <p:nvPr/>
        </p:nvSpPr>
        <p:spPr>
          <a:xfrm>
            <a:off x="640080" y="786384"/>
            <a:ext cx="10972800" cy="640080"/>
          </a:xfrm>
          <a:prstGeom prst="rect">
            <a:avLst/>
          </a:prstGeom>
          <a:noFill/>
          <a:ln/>
        </p:spPr>
        <p:txBody>
          <a:bodyPr wrap="square" lIns="0" tIns="0" rIns="0" bIns="0" rtlCol="0" anchor="ctr"/>
          <a:lstStyle/>
          <a:p>
            <a:pPr marL="0" indent="0">
              <a:buNone/>
            </a:pPr>
            <a:r>
              <a:rPr lang="en-US" sz="3000" b="1" dirty="0">
                <a:solidFill>
                  <a:srgbClr val="1D3A5F"/>
                </a:solidFill>
                <a:latin typeface="Arial" pitchFamily="34" charset="0"/>
                <a:ea typeface="Arial" pitchFamily="34" charset="-122"/>
                <a:cs typeface="Arial" pitchFamily="34" charset="-120"/>
              </a:rPr>
              <a:t>Bestellen</a:t>
            </a:r>
            <a:endParaRPr lang="en-US" sz="3000" dirty="0"/>
          </a:p>
        </p:txBody>
      </p:sp>
      <p:sp>
        <p:nvSpPr>
          <p:cNvPr id="4" name="!!sub"/>
          <p:cNvSpPr/>
          <p:nvPr/>
        </p:nvSpPr>
        <p:spPr>
          <a:xfrm>
            <a:off x="640080" y="1481328"/>
            <a:ext cx="10881360" cy="457200"/>
          </a:xfrm>
          <a:prstGeom prst="rect">
            <a:avLst/>
          </a:prstGeom>
          <a:noFill/>
          <a:ln/>
        </p:spPr>
        <p:txBody>
          <a:bodyPr wrap="square" lIns="0" tIns="0" rIns="0" bIns="0" rtlCol="0" anchor="ctr"/>
          <a:lstStyle/>
          <a:p>
            <a:pPr marL="0" indent="0">
              <a:buNone/>
            </a:pPr>
            <a:r>
              <a:rPr lang="en-US" sz="1500" dirty="0">
                <a:solidFill>
                  <a:srgbClr val="5C6B7A"/>
                </a:solidFill>
                <a:latin typeface="Arial" pitchFamily="34" charset="0"/>
                <a:ea typeface="Arial" pitchFamily="34" charset="-122"/>
                <a:cs typeface="Arial" pitchFamily="34" charset="-120"/>
              </a:rPr>
              <a:t>Vom Fax-Zettel zur eigenen Bestellübersicht</a:t>
            </a:r>
            <a:endParaRPr lang="en-US" sz="1500" dirty="0"/>
          </a:p>
        </p:txBody>
      </p:sp>
      <p:sp>
        <p:nvSpPr>
          <p:cNvPr id="5" name="!!k1"/>
          <p:cNvSpPr/>
          <p:nvPr/>
        </p:nvSpPr>
        <p:spPr>
          <a:xfrm>
            <a:off x="640080" y="2331720"/>
            <a:ext cx="3200400" cy="3063240"/>
          </a:xfrm>
          <a:prstGeom prst="roundRect">
            <a:avLst>
              <a:gd name="adj" fmla="val 2687"/>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6" name="!!c1"/>
          <p:cNvSpPr/>
          <p:nvPr/>
        </p:nvSpPr>
        <p:spPr>
          <a:xfrm>
            <a:off x="932688" y="2642616"/>
            <a:ext cx="658368" cy="658368"/>
          </a:xfrm>
          <a:prstGeom prst="ellipse">
            <a:avLst/>
          </a:prstGeom>
          <a:solidFill>
            <a:srgbClr val="E8EEF5"/>
          </a:solidFill>
          <a:ln/>
        </p:spPr>
      </p:sp>
      <p:pic>
        <p:nvPicPr>
          <p:cNvPr id="7" name="Image 0" descr="preencoded.png"/>
          <p:cNvPicPr>
            <a:picLocks noChangeAspect="1"/>
          </p:cNvPicPr>
          <p:nvPr/>
        </p:nvPicPr>
        <p:blipFill>
          <a:blip r:embed="rId3"/>
          <a:stretch>
            <a:fillRect/>
          </a:stretch>
        </p:blipFill>
        <p:spPr>
          <a:xfrm>
            <a:off x="1103864" y="2813792"/>
            <a:ext cx="316017" cy="316017"/>
          </a:xfrm>
          <a:prstGeom prst="rect">
            <a:avLst/>
          </a:prstGeom>
        </p:spPr>
      </p:pic>
      <p:sp>
        <p:nvSpPr>
          <p:cNvPr id="8" name="Text 5"/>
          <p:cNvSpPr/>
          <p:nvPr/>
        </p:nvSpPr>
        <p:spPr>
          <a:xfrm>
            <a:off x="932688" y="3557016"/>
            <a:ext cx="2807208"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ea typeface="Arial" pitchFamily="34" charset="-122"/>
                <a:cs typeface="Arial" pitchFamily="34" charset="-120"/>
              </a:rPr>
              <a:t>ZETTEL &amp; SAP</a:t>
            </a:r>
            <a:endParaRPr lang="en-US" sz="1200" dirty="0"/>
          </a:p>
        </p:txBody>
      </p:sp>
      <p:sp>
        <p:nvSpPr>
          <p:cNvPr id="9" name="Text 6"/>
          <p:cNvSpPr/>
          <p:nvPr/>
        </p:nvSpPr>
        <p:spPr>
          <a:xfrm>
            <a:off x="932688" y="3904488"/>
            <a:ext cx="2807208" cy="914400"/>
          </a:xfrm>
          <a:prstGeom prst="rect">
            <a:avLst/>
          </a:prstGeom>
          <a:noFill/>
          <a:ln/>
        </p:spPr>
        <p:txBody>
          <a:bodyPr wrap="square" lIns="0" tIns="0" rIns="0" bIns="0" rtlCol="0" anchor="t"/>
          <a:lstStyle/>
          <a:p>
            <a:pPr marL="0" indent="0">
              <a:lnSpc>
                <a:spcPct val="110000"/>
              </a:lnSpc>
              <a:buNone/>
            </a:pPr>
            <a:r>
              <a:rPr lang="en-US" sz="1800" b="1" dirty="0">
                <a:solidFill>
                  <a:srgbClr val="1D3A5F"/>
                </a:solidFill>
                <a:latin typeface="Arial" pitchFamily="34" charset="0"/>
                <a:ea typeface="Arial" pitchFamily="34" charset="-122"/>
                <a:cs typeface="Arial" pitchFamily="34" charset="-120"/>
              </a:rPr>
              <a:t>z. B. Zettel per Fax ans Lager</a:t>
            </a:r>
          </a:p>
        </p:txBody>
      </p:sp>
      <p:sp>
        <p:nvSpPr>
          <p:cNvPr id="10" name="!!k2"/>
          <p:cNvSpPr/>
          <p:nvPr/>
        </p:nvSpPr>
        <p:spPr>
          <a:xfrm>
            <a:off x="4495800" y="2331720"/>
            <a:ext cx="3200400" cy="3063240"/>
          </a:xfrm>
          <a:prstGeom prst="roundRect">
            <a:avLst>
              <a:gd name="adj" fmla="val 2687"/>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11" name="!!c2"/>
          <p:cNvSpPr/>
          <p:nvPr/>
        </p:nvSpPr>
        <p:spPr>
          <a:xfrm>
            <a:off x="4788408" y="2642616"/>
            <a:ext cx="658368" cy="658368"/>
          </a:xfrm>
          <a:prstGeom prst="ellipse">
            <a:avLst/>
          </a:prstGeom>
          <a:solidFill>
            <a:srgbClr val="E8EEF5"/>
          </a:solidFill>
          <a:ln/>
        </p:spPr>
      </p:sp>
      <p:pic>
        <p:nvPicPr>
          <p:cNvPr id="12" name="Image 1" descr="preencoded.png"/>
          <p:cNvPicPr>
            <a:picLocks noChangeAspect="1"/>
          </p:cNvPicPr>
          <p:nvPr/>
        </p:nvPicPr>
        <p:blipFill>
          <a:blip r:embed="rId4"/>
          <a:stretch>
            <a:fillRect/>
          </a:stretch>
        </p:blipFill>
        <p:spPr>
          <a:xfrm>
            <a:off x="4959584" y="2813792"/>
            <a:ext cx="316017" cy="316017"/>
          </a:xfrm>
          <a:prstGeom prst="rect">
            <a:avLst/>
          </a:prstGeom>
        </p:spPr>
      </p:pic>
      <p:sp>
        <p:nvSpPr>
          <p:cNvPr id="13" name="Text 9"/>
          <p:cNvSpPr/>
          <p:nvPr/>
        </p:nvSpPr>
        <p:spPr>
          <a:xfrm>
            <a:off x="4788408" y="3557016"/>
            <a:ext cx="2807208"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ea typeface="Arial" pitchFamily="34" charset="-122"/>
                <a:cs typeface="Arial" pitchFamily="34" charset="-120"/>
              </a:rPr>
              <a:t>AMONDIS</a:t>
            </a:r>
            <a:endParaRPr lang="en-US" sz="1200" dirty="0"/>
          </a:p>
        </p:txBody>
      </p:sp>
      <p:sp>
        <p:nvSpPr>
          <p:cNvPr id="14" name="Text 10"/>
          <p:cNvSpPr/>
          <p:nvPr/>
        </p:nvSpPr>
        <p:spPr>
          <a:xfrm>
            <a:off x="4788408" y="3904488"/>
            <a:ext cx="2807208" cy="914400"/>
          </a:xfrm>
          <a:prstGeom prst="rect">
            <a:avLst/>
          </a:prstGeom>
          <a:noFill/>
          <a:ln/>
        </p:spPr>
        <p:txBody>
          <a:bodyPr wrap="square" lIns="0" tIns="0" rIns="0" bIns="0" rtlCol="0" anchor="t"/>
          <a:lstStyle/>
          <a:p>
            <a:pPr marL="0" indent="0">
              <a:lnSpc>
                <a:spcPct val="110000"/>
              </a:lnSpc>
              <a:buNone/>
            </a:pPr>
            <a:r>
              <a:rPr lang="en-US" sz="1800" b="1" dirty="0">
                <a:solidFill>
                  <a:srgbClr val="1D3A5F"/>
                </a:solidFill>
                <a:latin typeface="Arial" pitchFamily="34" charset="0"/>
                <a:ea typeface="Arial" pitchFamily="34" charset="-122"/>
                <a:cs typeface="Arial" pitchFamily="34" charset="-120"/>
              </a:rPr>
              <a:t>Standort bestellt selbst</a:t>
            </a:r>
            <a:endParaRPr lang="en-US" sz="1800" dirty="0"/>
          </a:p>
        </p:txBody>
      </p:sp>
      <p:sp>
        <p:nvSpPr>
          <p:cNvPr id="15" name="!!k3"/>
          <p:cNvSpPr/>
          <p:nvPr/>
        </p:nvSpPr>
        <p:spPr>
          <a:xfrm>
            <a:off x="8351520" y="2331720"/>
            <a:ext cx="3200400" cy="3063240"/>
          </a:xfrm>
          <a:prstGeom prst="roundRect">
            <a:avLst>
              <a:gd name="adj" fmla="val 2687"/>
            </a:avLst>
          </a:prstGeom>
          <a:solidFill>
            <a:srgbClr val="E8EEF5"/>
          </a:solidFill>
          <a:ln w="19050">
            <a:solidFill>
              <a:srgbClr val="2E5A88"/>
            </a:solidFill>
            <a:prstDash val="solid"/>
          </a:ln>
          <a:effectLst>
            <a:outerShdw blurRad="114300" dist="38100" dir="5400000" algn="bl" rotWithShape="0">
              <a:srgbClr val="7A8AA0">
                <a:alpha val="22000"/>
              </a:srgbClr>
            </a:outerShdw>
          </a:effectLst>
        </p:spPr>
      </p:sp>
      <p:sp>
        <p:nvSpPr>
          <p:cNvPr id="16" name="!!c3"/>
          <p:cNvSpPr/>
          <p:nvPr/>
        </p:nvSpPr>
        <p:spPr>
          <a:xfrm>
            <a:off x="8644128" y="2642616"/>
            <a:ext cx="658368" cy="658368"/>
          </a:xfrm>
          <a:prstGeom prst="ellipse">
            <a:avLst/>
          </a:prstGeom>
          <a:solidFill>
            <a:srgbClr val="FFFFFF"/>
          </a:solidFill>
          <a:ln/>
        </p:spPr>
      </p:sp>
      <p:pic>
        <p:nvPicPr>
          <p:cNvPr id="17" name="Image 2" descr="preencoded.png"/>
          <p:cNvPicPr>
            <a:picLocks noChangeAspect="1"/>
          </p:cNvPicPr>
          <p:nvPr/>
        </p:nvPicPr>
        <p:blipFill>
          <a:blip r:embed="rId5"/>
          <a:stretch>
            <a:fillRect/>
          </a:stretch>
        </p:blipFill>
        <p:spPr>
          <a:xfrm>
            <a:off x="8815304" y="2813792"/>
            <a:ext cx="316017" cy="316017"/>
          </a:xfrm>
          <a:prstGeom prst="rect">
            <a:avLst/>
          </a:prstGeom>
        </p:spPr>
      </p:pic>
      <p:sp>
        <p:nvSpPr>
          <p:cNvPr id="18" name="Text 13"/>
          <p:cNvSpPr/>
          <p:nvPr/>
        </p:nvSpPr>
        <p:spPr>
          <a:xfrm>
            <a:off x="8644128" y="3557016"/>
            <a:ext cx="2807208"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ea typeface="Arial" pitchFamily="34" charset="-122"/>
                <a:cs typeface="Arial" pitchFamily="34" charset="-120"/>
              </a:rPr>
              <a:t>EIGENE SOFTWARE</a:t>
            </a:r>
            <a:endParaRPr lang="en-US" sz="1200" dirty="0"/>
          </a:p>
        </p:txBody>
      </p:sp>
      <p:sp>
        <p:nvSpPr>
          <p:cNvPr id="19" name="Text 14"/>
          <p:cNvSpPr/>
          <p:nvPr/>
        </p:nvSpPr>
        <p:spPr>
          <a:xfrm>
            <a:off x="8644128" y="3904488"/>
            <a:ext cx="2807208" cy="914400"/>
          </a:xfrm>
          <a:prstGeom prst="rect">
            <a:avLst/>
          </a:prstGeom>
          <a:noFill/>
          <a:ln/>
        </p:spPr>
        <p:txBody>
          <a:bodyPr wrap="square" lIns="0" tIns="0" rIns="0" bIns="0" rtlCol="0" anchor="t"/>
          <a:lstStyle/>
          <a:p>
            <a:pPr marL="0" indent="0">
              <a:lnSpc>
                <a:spcPct val="110000"/>
              </a:lnSpc>
              <a:buNone/>
            </a:pPr>
            <a:r>
              <a:rPr lang="en-US" sz="1800" b="1" dirty="0">
                <a:solidFill>
                  <a:srgbClr val="1D3A5F"/>
                </a:solidFill>
                <a:latin typeface="Arial" pitchFamily="34" charset="0"/>
                <a:ea typeface="Arial" pitchFamily="34" charset="-122"/>
                <a:cs typeface="Arial" pitchFamily="34" charset="-120"/>
              </a:rPr>
              <a:t>Bestellübersicht mit Status</a:t>
            </a:r>
            <a:endParaRPr lang="en-US" sz="1800" dirty="0"/>
          </a:p>
        </p:txBody>
      </p:sp>
      <p:sp>
        <p:nvSpPr>
          <p:cNvPr id="100" name="!!ar1"/>
          <p:cNvSpPr/>
          <p:nvPr/>
        </p:nvSpPr>
        <p:spPr>
          <a:xfrm>
            <a:off x="3840480" y="3589020"/>
            <a:ext cx="655320" cy="548640"/>
          </a:xfrm>
          <a:prstGeom prst="rect">
            <a:avLst/>
          </a:prstGeom>
          <a:noFill/>
        </p:spPr>
        <p:txBody>
          <a:bodyPr lIns="0" tIns="0" rIns="0" bIns="0" anchor="ctr"/>
          <a:lstStyle/>
          <a:p>
            <a:pPr algn="ctr"/>
            <a:r>
              <a:rPr lang="de-DE" sz="3600" b="1">
                <a:solidFill>
                  <a:srgbClr val="2E5A88"/>
                </a:solidFill>
                <a:latin typeface="Arial"/>
              </a:rPr>
              <a:t>→</a:t>
            </a:r>
          </a:p>
        </p:txBody>
      </p:sp>
      <p:sp>
        <p:nvSpPr>
          <p:cNvPr id="101" name="!!ar2"/>
          <p:cNvSpPr/>
          <p:nvPr/>
        </p:nvSpPr>
        <p:spPr>
          <a:xfrm>
            <a:off x="7696200" y="3589020"/>
            <a:ext cx="655320" cy="548640"/>
          </a:xfrm>
          <a:prstGeom prst="rect">
            <a:avLst/>
          </a:prstGeom>
          <a:noFill/>
        </p:spPr>
        <p:txBody>
          <a:bodyPr lIns="0" tIns="0" rIns="0" bIns="0" anchor="ctr"/>
          <a:lstStyle/>
          <a:p>
            <a:pPr algn="ctr"/>
            <a:r>
              <a:rPr lang="de-DE" sz="3600" b="1">
                <a:solidFill>
                  <a:srgbClr val="2E5A88"/>
                </a:solidFill>
                <a:latin typeface="Arial"/>
              </a:rPr>
              <a:t>→</a:t>
            </a:r>
          </a:p>
        </p:txBody>
      </p:sp>
      <p:sp>
        <p:nvSpPr>
          <p:cNvPr id="102" name="ExtraText 102"/>
          <p:cNvSpPr/>
          <p:nvPr/>
        </p:nvSpPr>
        <p:spPr>
          <a:xfrm>
            <a:off x="932688" y="4873752"/>
            <a:ext cx="2807208" cy="411480"/>
          </a:xfrm>
          <a:prstGeom prst="rect">
            <a:avLst/>
          </a:prstGeom>
          <a:noFill/>
        </p:spPr>
        <p:txBody>
          <a:bodyPr lIns="0" tIns="0" rIns="0" bIns="0" anchor="t"/>
          <a:lstStyle/>
          <a:p>
            <a:r>
              <a:rPr lang="de-DE" sz="1200" dirty="0">
                <a:solidFill>
                  <a:srgbClr val="5C6B7A"/>
                </a:solidFill>
                <a:latin typeface="Arial"/>
              </a:rPr>
              <a:t>Handschrift, ohne Status</a:t>
            </a:r>
          </a:p>
        </p:txBody>
      </p:sp>
      <p:sp>
        <p:nvSpPr>
          <p:cNvPr id="103" name="ExtraText 103"/>
          <p:cNvSpPr/>
          <p:nvPr/>
        </p:nvSpPr>
        <p:spPr>
          <a:xfrm>
            <a:off x="4788408" y="4873752"/>
            <a:ext cx="2807208" cy="411480"/>
          </a:xfrm>
          <a:prstGeom prst="rect">
            <a:avLst/>
          </a:prstGeom>
          <a:noFill/>
        </p:spPr>
        <p:txBody>
          <a:bodyPr lIns="0" tIns="0" rIns="0" bIns="0" anchor="t"/>
          <a:lstStyle/>
          <a:p>
            <a:r>
              <a:rPr lang="de-DE" sz="1200" dirty="0">
                <a:solidFill>
                  <a:srgbClr val="5C6B7A"/>
                </a:solidFill>
                <a:latin typeface="Arial"/>
              </a:rPr>
              <a:t>digital, aber ohne Status</a:t>
            </a:r>
          </a:p>
        </p:txBody>
      </p:sp>
      <p:sp>
        <p:nvSpPr>
          <p:cNvPr id="104" name="ExtraText 104"/>
          <p:cNvSpPr/>
          <p:nvPr/>
        </p:nvSpPr>
        <p:spPr>
          <a:xfrm>
            <a:off x="8644128" y="4873752"/>
            <a:ext cx="2807208" cy="411480"/>
          </a:xfrm>
          <a:prstGeom prst="rect">
            <a:avLst/>
          </a:prstGeom>
          <a:noFill/>
        </p:spPr>
        <p:txBody>
          <a:bodyPr lIns="0" tIns="0" rIns="0" bIns="0" anchor="t"/>
          <a:lstStyle/>
          <a:p>
            <a:r>
              <a:rPr lang="de-DE" sz="1200" dirty="0">
                <a:solidFill>
                  <a:srgbClr val="5C6B7A"/>
                </a:solidFill>
                <a:latin typeface="Arial"/>
              </a:rPr>
              <a:t>offen · geliefert · storniert</a:t>
            </a:r>
          </a:p>
        </p:txBody>
      </p:sp>
      <p:sp>
        <p:nvSpPr>
          <p:cNvPr id="131" name="!!pd1"/>
          <p:cNvSpPr/>
          <p:nvPr/>
        </p:nvSpPr>
        <p:spPr>
          <a:xfrm>
            <a:off x="10591800" y="548640"/>
            <a:ext cx="137160" cy="137160"/>
          </a:xfrm>
          <a:prstGeom prst="ellipse">
            <a:avLst/>
          </a:prstGeom>
          <a:solidFill>
            <a:srgbClr val="DDE3EA"/>
          </a:solidFill>
        </p:spPr>
        <p:txBody>
          <a:bodyPr/>
          <a:lstStyle/>
          <a:p>
            <a:endParaRPr lang="de-DE"/>
          </a:p>
        </p:txBody>
      </p:sp>
      <p:sp>
        <p:nvSpPr>
          <p:cNvPr id="132" name="!!pd2"/>
          <p:cNvSpPr/>
          <p:nvPr/>
        </p:nvSpPr>
        <p:spPr>
          <a:xfrm>
            <a:off x="10866120" y="548640"/>
            <a:ext cx="137160" cy="137160"/>
          </a:xfrm>
          <a:prstGeom prst="ellipse">
            <a:avLst/>
          </a:prstGeom>
          <a:solidFill>
            <a:srgbClr val="DDE3EA"/>
          </a:solidFill>
        </p:spPr>
        <p:txBody>
          <a:bodyPr/>
          <a:lstStyle/>
          <a:p>
            <a:endParaRPr lang="de-DE"/>
          </a:p>
        </p:txBody>
      </p:sp>
      <p:sp>
        <p:nvSpPr>
          <p:cNvPr id="133" name="!!pd3"/>
          <p:cNvSpPr/>
          <p:nvPr/>
        </p:nvSpPr>
        <p:spPr>
          <a:xfrm>
            <a:off x="11140440" y="548640"/>
            <a:ext cx="137160" cy="137160"/>
          </a:xfrm>
          <a:prstGeom prst="ellipse">
            <a:avLst/>
          </a:prstGeom>
          <a:solidFill>
            <a:srgbClr val="DDE3EA"/>
          </a:solidFill>
        </p:spPr>
        <p:txBody>
          <a:bodyPr/>
          <a:lstStyle/>
          <a:p>
            <a:endParaRPr lang="de-DE"/>
          </a:p>
        </p:txBody>
      </p:sp>
      <p:sp>
        <p:nvSpPr>
          <p:cNvPr id="134" name="!!pd4"/>
          <p:cNvSpPr/>
          <p:nvPr/>
        </p:nvSpPr>
        <p:spPr>
          <a:xfrm>
            <a:off x="11414760" y="548640"/>
            <a:ext cx="137160" cy="137160"/>
          </a:xfrm>
          <a:prstGeom prst="ellipse">
            <a:avLst/>
          </a:prstGeom>
          <a:solidFill>
            <a:srgbClr val="DDE3EA"/>
          </a:solidFill>
        </p:spPr>
        <p:txBody>
          <a:bodyPr/>
          <a:lstStyle/>
          <a:p>
            <a:endParaRPr lang="de-DE"/>
          </a:p>
        </p:txBody>
      </p:sp>
      <p:sp>
        <p:nvSpPr>
          <p:cNvPr id="140" name="!!pda"/>
          <p:cNvSpPr/>
          <p:nvPr/>
        </p:nvSpPr>
        <p:spPr>
          <a:xfrm>
            <a:off x="10568940" y="525780"/>
            <a:ext cx="182880" cy="182880"/>
          </a:xfrm>
          <a:prstGeom prst="ellipse">
            <a:avLst/>
          </a:prstGeom>
          <a:solidFill>
            <a:srgbClr val="1D3A5F"/>
          </a:solidFill>
        </p:spPr>
        <p:txBody>
          <a:bodyPr/>
          <a:lstStyle/>
          <a:p>
            <a:endParaRPr lang="de-DE"/>
          </a:p>
        </p:txBody>
      </p:sp>
      <p:sp>
        <p:nvSpPr>
          <p:cNvPr id="21" name="!!foot"/>
          <p:cNvSpPr/>
          <p:nvPr/>
        </p:nvSpPr>
        <p:spPr>
          <a:xfrm>
            <a:off x="640080" y="6437376"/>
            <a:ext cx="10908792" cy="274320"/>
          </a:xfrm>
          <a:prstGeom prst="rect">
            <a:avLst/>
          </a:prstGeom>
          <a:noFill/>
          <a:ln/>
        </p:spPr>
        <p:txBody>
          <a:bodyPr wrap="square" lIns="0" tIns="0" rIns="0" bIns="0" rtlCol="0" anchor="ctr"/>
          <a:lstStyle/>
          <a:p>
            <a:pPr marL="0" indent="0" algn="l">
              <a:buNone/>
            </a:pPr>
            <a:r>
              <a:rPr lang="en-US" sz="900" dirty="0">
                <a:solidFill>
                  <a:srgbClr val="5C6B7A"/>
                </a:solidFill>
                <a:latin typeface="Arial" pitchFamily="34" charset="0"/>
                <a:ea typeface="Arial" pitchFamily="34" charset="-122"/>
                <a:cs typeface="Arial" pitchFamily="34" charset="-120"/>
              </a:rPr>
              <a:t>Sascha Schulz     ·     Lagerverwaltung von medizinischem Verbrauchsmaterial im Krankenhaus</a:t>
            </a:r>
            <a:endParaRPr lang="en-US" sz="900" dirty="0"/>
          </a:p>
        </p:txBody>
      </p:sp>
      <p:sp>
        <p:nvSpPr>
          <p:cNvPr id="143" name="ExtraText 120"/>
          <p:cNvSpPr/>
          <p:nvPr/>
        </p:nvSpPr>
        <p:spPr>
          <a:xfrm>
            <a:off x="640080" y="5650000"/>
            <a:ext cx="10881360" cy="365760"/>
          </a:xfrm>
          <a:prstGeom prst="rect">
            <a:avLst/>
          </a:prstGeom>
          <a:noFill/>
        </p:spPr>
        <p:txBody>
          <a:bodyPr lIns="0" tIns="0" rIns="0" bIns="0" anchor="ctr"/>
          <a:lstStyle/>
          <a:p>
            <a:r>
              <a:rPr lang="de-DE" sz="1300" i="1" dirty="0">
                <a:solidFill>
                  <a:srgbClr val="5C6B7A"/>
                </a:solidFill>
                <a:latin typeface="Arial"/>
              </a:rPr>
              <a:t>Früher musste man nachfragen, was aus einer Bestellung wurde – heute steht es in der Zeile.</a:t>
            </a:r>
          </a:p>
        </p:txBody>
      </p:sp>
      <p:sp>
        <p:nvSpPr>
          <p:cNvPr id="141" name="!!scrolltrack"/>
          <p:cNvSpPr/>
          <p:nvPr/>
        </p:nvSpPr>
        <p:spPr>
          <a:xfrm>
            <a:off x="11979240" y="457200"/>
            <a:ext cx="27432" cy="5943600"/>
          </a:xfrm>
          <a:prstGeom prst="roundRect">
            <a:avLst>
              <a:gd name="adj" fmla="val 50000"/>
            </a:avLst>
          </a:prstGeom>
          <a:solidFill>
            <a:srgbClr val="E3E9F1"/>
          </a:solidFill>
          <a:ln/>
        </p:spPr>
      </p:sp>
      <p:sp>
        <p:nvSpPr>
          <p:cNvPr id="142" name="!!scrollthumb"/>
          <p:cNvSpPr/>
          <p:nvPr/>
        </p:nvSpPr>
        <p:spPr>
          <a:xfrm>
            <a:off x="11979240" y="2108200"/>
            <a:ext cx="27432" cy="330200"/>
          </a:xfrm>
          <a:prstGeom prst="roundRect">
            <a:avLst>
              <a:gd name="adj" fmla="val 50000"/>
            </a:avLst>
          </a:prstGeom>
          <a:solidFill>
            <a:srgbClr val="2E5A88"/>
          </a:solidFill>
          <a:ln/>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B"/>
        </a:solidFill>
        <a:effectLst/>
      </p:bgPr>
    </p:bg>
    <p:spTree>
      <p:nvGrpSpPr>
        <p:cNvPr id="1" name=""/>
        <p:cNvGrpSpPr/>
        <p:nvPr/>
      </p:nvGrpSpPr>
      <p:grpSpPr>
        <a:xfrm>
          <a:off x="0" y="0"/>
          <a:ext cx="0" cy="0"/>
          <a:chOff x="0" y="0"/>
          <a:chExt cx="0" cy="0"/>
        </a:xfrm>
      </p:grpSpPr>
      <p:sp>
        <p:nvSpPr>
          <p:cNvPr id="2" name="!!eyebrow"/>
          <p:cNvSpPr/>
          <p:nvPr/>
        </p:nvSpPr>
        <p:spPr>
          <a:xfrm>
            <a:off x="640080" y="457200"/>
            <a:ext cx="10881360" cy="320040"/>
          </a:xfrm>
          <a:prstGeom prst="rect">
            <a:avLst/>
          </a:prstGeom>
          <a:noFill/>
          <a:ln/>
        </p:spPr>
        <p:txBody>
          <a:bodyPr wrap="square" lIns="0" tIns="0" rIns="0" bIns="0" rtlCol="0" anchor="ctr"/>
          <a:lstStyle/>
          <a:p>
            <a:pPr marL="0" indent="0">
              <a:buNone/>
            </a:pPr>
            <a:r>
              <a:rPr lang="en-US" sz="1200" b="1" kern="0" spc="200" dirty="0">
                <a:solidFill>
                  <a:srgbClr val="2E5A88"/>
                </a:solidFill>
                <a:latin typeface="Arial" pitchFamily="34" charset="0"/>
                <a:ea typeface="Arial" pitchFamily="34" charset="-122"/>
                <a:cs typeface="Arial" pitchFamily="34" charset="-120"/>
              </a:rPr>
              <a:t>DIE REISE · SCHRITT 2 VON 4</a:t>
            </a:r>
          </a:p>
        </p:txBody>
      </p:sp>
      <p:sp>
        <p:nvSpPr>
          <p:cNvPr id="3" name="!!title"/>
          <p:cNvSpPr/>
          <p:nvPr/>
        </p:nvSpPr>
        <p:spPr>
          <a:xfrm>
            <a:off x="640080" y="786384"/>
            <a:ext cx="10972800" cy="640080"/>
          </a:xfrm>
          <a:prstGeom prst="rect">
            <a:avLst/>
          </a:prstGeom>
          <a:noFill/>
          <a:ln/>
        </p:spPr>
        <p:txBody>
          <a:bodyPr wrap="square" lIns="0" tIns="0" rIns="0" bIns="0" rtlCol="0" anchor="ctr"/>
          <a:lstStyle/>
          <a:p>
            <a:pPr marL="0" indent="0">
              <a:buNone/>
            </a:pPr>
            <a:r>
              <a:rPr lang="en-US" sz="3000" b="1" dirty="0">
                <a:solidFill>
                  <a:srgbClr val="1D3A5F"/>
                </a:solidFill>
                <a:latin typeface="Arial" pitchFamily="34" charset="0"/>
                <a:ea typeface="Arial" pitchFamily="34" charset="-122"/>
                <a:cs typeface="Arial" pitchFamily="34" charset="-120"/>
              </a:rPr>
              <a:t>Bestand &amp; Listen</a:t>
            </a:r>
            <a:endParaRPr lang="en-US" sz="3000" dirty="0"/>
          </a:p>
        </p:txBody>
      </p:sp>
      <p:sp>
        <p:nvSpPr>
          <p:cNvPr id="4" name="!!sub"/>
          <p:cNvSpPr/>
          <p:nvPr/>
        </p:nvSpPr>
        <p:spPr>
          <a:xfrm>
            <a:off x="640080" y="1481328"/>
            <a:ext cx="10881360" cy="457200"/>
          </a:xfrm>
          <a:prstGeom prst="rect">
            <a:avLst/>
          </a:prstGeom>
          <a:noFill/>
          <a:ln/>
        </p:spPr>
        <p:txBody>
          <a:bodyPr wrap="square" lIns="0" tIns="0" rIns="0" bIns="0" rtlCol="0" anchor="ctr"/>
          <a:lstStyle/>
          <a:p>
            <a:pPr marL="0" indent="0">
              <a:buNone/>
            </a:pPr>
            <a:r>
              <a:rPr lang="en-US" sz="1500" dirty="0">
                <a:solidFill>
                  <a:srgbClr val="5C6B7A"/>
                </a:solidFill>
                <a:latin typeface="Arial" pitchFamily="34" charset="0"/>
                <a:ea typeface="Arial" pitchFamily="34" charset="-122"/>
                <a:cs typeface="Arial" pitchFamily="34" charset="-120"/>
              </a:rPr>
              <a:t>Von der Listen-Pflege zum live berechneten Bestand</a:t>
            </a:r>
          </a:p>
        </p:txBody>
      </p:sp>
      <p:sp>
        <p:nvSpPr>
          <p:cNvPr id="5" name="!!k1"/>
          <p:cNvSpPr/>
          <p:nvPr/>
        </p:nvSpPr>
        <p:spPr>
          <a:xfrm>
            <a:off x="640080" y="2331720"/>
            <a:ext cx="3200400" cy="3063240"/>
          </a:xfrm>
          <a:prstGeom prst="roundRect">
            <a:avLst>
              <a:gd name="adj" fmla="val 2687"/>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6" name="!!c1"/>
          <p:cNvSpPr/>
          <p:nvPr/>
        </p:nvSpPr>
        <p:spPr>
          <a:xfrm>
            <a:off x="932688" y="2642616"/>
            <a:ext cx="658368" cy="658368"/>
          </a:xfrm>
          <a:prstGeom prst="ellipse">
            <a:avLst/>
          </a:prstGeom>
          <a:solidFill>
            <a:srgbClr val="E8EEF5"/>
          </a:solidFill>
          <a:ln/>
        </p:spPr>
      </p:sp>
      <p:pic>
        <p:nvPicPr>
          <p:cNvPr id="7" name="Image 0" descr="preencoded.png"/>
          <p:cNvPicPr>
            <a:picLocks noChangeAspect="1"/>
          </p:cNvPicPr>
          <p:nvPr/>
        </p:nvPicPr>
        <p:blipFill>
          <a:blip r:embed="rId3"/>
          <a:stretch>
            <a:fillRect/>
          </a:stretch>
        </p:blipFill>
        <p:spPr>
          <a:xfrm>
            <a:off x="1103864" y="2813792"/>
            <a:ext cx="316017" cy="316017"/>
          </a:xfrm>
          <a:prstGeom prst="rect">
            <a:avLst/>
          </a:prstGeom>
        </p:spPr>
      </p:pic>
      <p:sp>
        <p:nvSpPr>
          <p:cNvPr id="8" name="Text 5"/>
          <p:cNvSpPr/>
          <p:nvPr/>
        </p:nvSpPr>
        <p:spPr>
          <a:xfrm>
            <a:off x="932688" y="3520440"/>
            <a:ext cx="2807208"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ea typeface="Arial" pitchFamily="34" charset="-122"/>
                <a:cs typeface="Arial" pitchFamily="34" charset="-120"/>
              </a:rPr>
              <a:t>ZETTEL &amp; SAP</a:t>
            </a:r>
            <a:endParaRPr lang="en-US" sz="1200" dirty="0"/>
          </a:p>
        </p:txBody>
      </p:sp>
      <p:sp>
        <p:nvSpPr>
          <p:cNvPr id="9" name="Text 6"/>
          <p:cNvSpPr/>
          <p:nvPr/>
        </p:nvSpPr>
        <p:spPr>
          <a:xfrm>
            <a:off x="932688" y="3813048"/>
            <a:ext cx="2807208" cy="256032"/>
          </a:xfrm>
          <a:prstGeom prst="rect">
            <a:avLst/>
          </a:prstGeom>
          <a:noFill/>
          <a:ln/>
        </p:spPr>
        <p:txBody>
          <a:bodyPr wrap="square" lIns="0" tIns="0" rIns="0" bIns="0" rtlCol="0" anchor="ctr"/>
          <a:lstStyle/>
          <a:p>
            <a:pPr marL="0" indent="0">
              <a:buNone/>
            </a:pPr>
            <a:r>
              <a:rPr lang="en-US" sz="1100" dirty="0">
                <a:solidFill>
                  <a:srgbClr val="5C6B7A"/>
                </a:solidFill>
                <a:latin typeface="Arial" pitchFamily="34" charset="0"/>
                <a:ea typeface="Arial" pitchFamily="34" charset="-122"/>
                <a:cs typeface="Arial" pitchFamily="34" charset="-120"/>
              </a:rPr>
              <a:t>SAP · von Hand gepflegt</a:t>
            </a:r>
          </a:p>
        </p:txBody>
      </p:sp>
      <p:sp>
        <p:nvSpPr>
          <p:cNvPr id="10" name="Text 7"/>
          <p:cNvSpPr/>
          <p:nvPr/>
        </p:nvSpPr>
        <p:spPr>
          <a:xfrm>
            <a:off x="932688" y="4178808"/>
            <a:ext cx="2807208" cy="777240"/>
          </a:xfrm>
          <a:prstGeom prst="rect">
            <a:avLst/>
          </a:prstGeom>
          <a:noFill/>
          <a:ln/>
        </p:spPr>
        <p:txBody>
          <a:bodyPr wrap="square" lIns="0" tIns="0" rIns="0" bIns="0" rtlCol="0" anchor="t"/>
          <a:lstStyle/>
          <a:p>
            <a:pPr marL="0" indent="0">
              <a:lnSpc>
                <a:spcPct val="105000"/>
              </a:lnSpc>
              <a:buNone/>
            </a:pPr>
            <a:r>
              <a:rPr lang="en-US" sz="1800" b="1" dirty="0">
                <a:solidFill>
                  <a:srgbClr val="1D3A5F"/>
                </a:solidFill>
                <a:latin typeface="Arial" pitchFamily="34" charset="0"/>
                <a:ea typeface="Arial" pitchFamily="34" charset="-122"/>
                <a:cs typeface="Arial" pitchFamily="34" charset="-120"/>
              </a:rPr>
              <a:t>Pflege über Bestelllisten</a:t>
            </a:r>
          </a:p>
        </p:txBody>
      </p:sp>
      <p:sp>
        <p:nvSpPr>
          <p:cNvPr id="11" name="!!k2"/>
          <p:cNvSpPr/>
          <p:nvPr/>
        </p:nvSpPr>
        <p:spPr>
          <a:xfrm>
            <a:off x="4495800" y="2331720"/>
            <a:ext cx="3200400" cy="3063240"/>
          </a:xfrm>
          <a:prstGeom prst="roundRect">
            <a:avLst>
              <a:gd name="adj" fmla="val 2687"/>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12" name="!!c2"/>
          <p:cNvSpPr/>
          <p:nvPr/>
        </p:nvSpPr>
        <p:spPr>
          <a:xfrm>
            <a:off x="4788408" y="2642616"/>
            <a:ext cx="658368" cy="658368"/>
          </a:xfrm>
          <a:prstGeom prst="ellipse">
            <a:avLst/>
          </a:prstGeom>
          <a:solidFill>
            <a:srgbClr val="E8EEF5"/>
          </a:solidFill>
          <a:ln/>
        </p:spPr>
      </p:sp>
      <p:pic>
        <p:nvPicPr>
          <p:cNvPr id="13" name="Image 1" descr="preencoded.png"/>
          <p:cNvPicPr>
            <a:picLocks noChangeAspect="1"/>
          </p:cNvPicPr>
          <p:nvPr/>
        </p:nvPicPr>
        <p:blipFill>
          <a:blip r:embed="rId4"/>
          <a:stretch>
            <a:fillRect/>
          </a:stretch>
        </p:blipFill>
        <p:spPr>
          <a:xfrm>
            <a:off x="4959584" y="2813792"/>
            <a:ext cx="316017" cy="316017"/>
          </a:xfrm>
          <a:prstGeom prst="rect">
            <a:avLst/>
          </a:prstGeom>
        </p:spPr>
      </p:pic>
      <p:sp>
        <p:nvSpPr>
          <p:cNvPr id="14" name="Text 10"/>
          <p:cNvSpPr/>
          <p:nvPr/>
        </p:nvSpPr>
        <p:spPr>
          <a:xfrm>
            <a:off x="4788408" y="3520440"/>
            <a:ext cx="2807208"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ea typeface="Arial" pitchFamily="34" charset="-122"/>
                <a:cs typeface="Arial" pitchFamily="34" charset="-120"/>
              </a:rPr>
              <a:t>AMONDIS</a:t>
            </a:r>
            <a:endParaRPr lang="en-US" sz="1200" dirty="0"/>
          </a:p>
        </p:txBody>
      </p:sp>
      <p:sp>
        <p:nvSpPr>
          <p:cNvPr id="15" name="Text 11"/>
          <p:cNvSpPr/>
          <p:nvPr/>
        </p:nvSpPr>
        <p:spPr>
          <a:xfrm>
            <a:off x="4788408" y="3813048"/>
            <a:ext cx="2807208" cy="256032"/>
          </a:xfrm>
          <a:prstGeom prst="rect">
            <a:avLst/>
          </a:prstGeom>
          <a:noFill/>
          <a:ln/>
        </p:spPr>
        <p:txBody>
          <a:bodyPr wrap="square" lIns="0" tIns="0" rIns="0" bIns="0" rtlCol="0" anchor="ctr"/>
          <a:lstStyle/>
          <a:p>
            <a:pPr marL="0" indent="0">
              <a:buNone/>
            </a:pPr>
            <a:r>
              <a:rPr lang="en-US" sz="1100" dirty="0" err="1">
                <a:solidFill>
                  <a:srgbClr val="5C6B7A"/>
                </a:solidFill>
                <a:latin typeface="Arial" pitchFamily="34" charset="0"/>
                <a:ea typeface="Arial" pitchFamily="34" charset="-122"/>
                <a:cs typeface="Arial" pitchFamily="34" charset="-120"/>
              </a:rPr>
              <a:t>Eigener</a:t>
            </a:r>
            <a:r>
              <a:rPr lang="en-US" sz="1100" dirty="0">
                <a:solidFill>
                  <a:srgbClr val="5C6B7A"/>
                </a:solidFill>
                <a:latin typeface="Arial" pitchFamily="34" charset="0"/>
                <a:ea typeface="Arial" pitchFamily="34" charset="-122"/>
                <a:cs typeface="Arial" pitchFamily="34" charset="-120"/>
              </a:rPr>
              <a:t> Lagerbestand</a:t>
            </a:r>
          </a:p>
        </p:txBody>
      </p:sp>
      <p:sp>
        <p:nvSpPr>
          <p:cNvPr id="16" name="Text 12"/>
          <p:cNvSpPr/>
          <p:nvPr/>
        </p:nvSpPr>
        <p:spPr>
          <a:xfrm>
            <a:off x="4788408" y="4178808"/>
            <a:ext cx="2807208" cy="777240"/>
          </a:xfrm>
          <a:prstGeom prst="rect">
            <a:avLst/>
          </a:prstGeom>
          <a:noFill/>
          <a:ln/>
        </p:spPr>
        <p:txBody>
          <a:bodyPr wrap="square" lIns="0" tIns="0" rIns="0" bIns="0" rtlCol="0" anchor="t"/>
          <a:lstStyle/>
          <a:p>
            <a:pPr marL="0" indent="0">
              <a:lnSpc>
                <a:spcPct val="105000"/>
              </a:lnSpc>
              <a:buNone/>
            </a:pPr>
            <a:r>
              <a:rPr lang="en-US" sz="1800" b="1" dirty="0">
                <a:solidFill>
                  <a:srgbClr val="1D3A5F"/>
                </a:solidFill>
                <a:latin typeface="Arial" pitchFamily="34" charset="0"/>
                <a:ea typeface="Arial" pitchFamily="34" charset="-122"/>
                <a:cs typeface="Arial" pitchFamily="34" charset="-120"/>
              </a:rPr>
              <a:t>Automatisch gebucht</a:t>
            </a:r>
          </a:p>
        </p:txBody>
      </p:sp>
      <p:sp>
        <p:nvSpPr>
          <p:cNvPr id="17" name="!!k3"/>
          <p:cNvSpPr/>
          <p:nvPr/>
        </p:nvSpPr>
        <p:spPr>
          <a:xfrm>
            <a:off x="8351520" y="2331720"/>
            <a:ext cx="3200400" cy="3063240"/>
          </a:xfrm>
          <a:prstGeom prst="roundRect">
            <a:avLst>
              <a:gd name="adj" fmla="val 2687"/>
            </a:avLst>
          </a:prstGeom>
          <a:solidFill>
            <a:srgbClr val="E8EEF5"/>
          </a:solidFill>
          <a:ln w="19050">
            <a:solidFill>
              <a:srgbClr val="2E5A88"/>
            </a:solidFill>
            <a:prstDash val="solid"/>
          </a:ln>
          <a:effectLst>
            <a:outerShdw blurRad="114300" dist="38100" dir="5400000" algn="bl" rotWithShape="0">
              <a:srgbClr val="7A8AA0">
                <a:alpha val="22000"/>
              </a:srgbClr>
            </a:outerShdw>
          </a:effectLst>
        </p:spPr>
      </p:sp>
      <p:sp>
        <p:nvSpPr>
          <p:cNvPr id="18" name="!!c3"/>
          <p:cNvSpPr/>
          <p:nvPr/>
        </p:nvSpPr>
        <p:spPr>
          <a:xfrm>
            <a:off x="8644128" y="2642616"/>
            <a:ext cx="658368" cy="658368"/>
          </a:xfrm>
          <a:prstGeom prst="ellipse">
            <a:avLst/>
          </a:prstGeom>
          <a:solidFill>
            <a:srgbClr val="FFFFFF"/>
          </a:solidFill>
          <a:ln/>
        </p:spPr>
      </p:sp>
      <p:pic>
        <p:nvPicPr>
          <p:cNvPr id="19" name="Image 2" descr="preencoded.png"/>
          <p:cNvPicPr>
            <a:picLocks noChangeAspect="1"/>
          </p:cNvPicPr>
          <p:nvPr/>
        </p:nvPicPr>
        <p:blipFill>
          <a:blip r:embed="rId5"/>
          <a:stretch>
            <a:fillRect/>
          </a:stretch>
        </p:blipFill>
        <p:spPr>
          <a:xfrm>
            <a:off x="8815304" y="2813792"/>
            <a:ext cx="316017" cy="316017"/>
          </a:xfrm>
          <a:prstGeom prst="rect">
            <a:avLst/>
          </a:prstGeom>
        </p:spPr>
      </p:pic>
      <p:sp>
        <p:nvSpPr>
          <p:cNvPr id="20" name="Text 15"/>
          <p:cNvSpPr/>
          <p:nvPr/>
        </p:nvSpPr>
        <p:spPr>
          <a:xfrm>
            <a:off x="8644128" y="3520440"/>
            <a:ext cx="2807208"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ea typeface="Arial" pitchFamily="34" charset="-122"/>
                <a:cs typeface="Arial" pitchFamily="34" charset="-120"/>
              </a:rPr>
              <a:t>EIGENE SOFTWARE</a:t>
            </a:r>
            <a:endParaRPr lang="en-US" sz="1200" dirty="0"/>
          </a:p>
        </p:txBody>
      </p:sp>
      <p:sp>
        <p:nvSpPr>
          <p:cNvPr id="21" name="Text 16"/>
          <p:cNvSpPr/>
          <p:nvPr/>
        </p:nvSpPr>
        <p:spPr>
          <a:xfrm>
            <a:off x="8644128" y="3813048"/>
            <a:ext cx="2807208" cy="256032"/>
          </a:xfrm>
          <a:prstGeom prst="rect">
            <a:avLst/>
          </a:prstGeom>
          <a:noFill/>
          <a:ln/>
        </p:spPr>
        <p:txBody>
          <a:bodyPr wrap="square" lIns="0" tIns="0" rIns="0" bIns="0" rtlCol="0" anchor="ctr"/>
          <a:lstStyle/>
          <a:p>
            <a:pPr marL="0" indent="0">
              <a:buNone/>
            </a:pPr>
            <a:r>
              <a:rPr lang="en-US" sz="1100" dirty="0" err="1">
                <a:solidFill>
                  <a:srgbClr val="5C6B7A"/>
                </a:solidFill>
                <a:latin typeface="Arial" pitchFamily="34" charset="0"/>
                <a:ea typeface="Arial" pitchFamily="34" charset="-122"/>
                <a:cs typeface="Arial" pitchFamily="34" charset="-120"/>
              </a:rPr>
              <a:t>Eigener</a:t>
            </a:r>
            <a:r>
              <a:rPr lang="en-US" sz="1100" dirty="0">
                <a:solidFill>
                  <a:srgbClr val="5C6B7A"/>
                </a:solidFill>
                <a:latin typeface="Arial" pitchFamily="34" charset="0"/>
                <a:ea typeface="Arial" pitchFamily="34" charset="-122"/>
                <a:cs typeface="Arial" pitchFamily="34" charset="-120"/>
              </a:rPr>
              <a:t> </a:t>
            </a:r>
            <a:r>
              <a:rPr lang="en-US" sz="1100" dirty="0" err="1">
                <a:solidFill>
                  <a:srgbClr val="5C6B7A"/>
                </a:solidFill>
                <a:latin typeface="Arial" pitchFamily="34" charset="0"/>
                <a:ea typeface="Arial" pitchFamily="34" charset="-122"/>
                <a:cs typeface="Arial" pitchFamily="34" charset="-120"/>
              </a:rPr>
              <a:t>Lagerbestand</a:t>
            </a:r>
            <a:endParaRPr lang="en-US" sz="1100" dirty="0">
              <a:solidFill>
                <a:srgbClr val="5C6B7A"/>
              </a:solidFill>
              <a:latin typeface="Arial" pitchFamily="34" charset="0"/>
              <a:ea typeface="Arial" pitchFamily="34" charset="-122"/>
              <a:cs typeface="Arial" pitchFamily="34" charset="-120"/>
            </a:endParaRPr>
          </a:p>
        </p:txBody>
      </p:sp>
      <p:sp>
        <p:nvSpPr>
          <p:cNvPr id="22" name="Text 17"/>
          <p:cNvSpPr/>
          <p:nvPr/>
        </p:nvSpPr>
        <p:spPr>
          <a:xfrm>
            <a:off x="8644128" y="4178808"/>
            <a:ext cx="2807208" cy="777240"/>
          </a:xfrm>
          <a:prstGeom prst="rect">
            <a:avLst/>
          </a:prstGeom>
          <a:noFill/>
          <a:ln/>
        </p:spPr>
        <p:txBody>
          <a:bodyPr wrap="square" lIns="0" tIns="0" rIns="0" bIns="0" rtlCol="0" anchor="t"/>
          <a:lstStyle/>
          <a:p>
            <a:pPr marL="0" indent="0">
              <a:lnSpc>
                <a:spcPct val="105000"/>
              </a:lnSpc>
              <a:buNone/>
            </a:pPr>
            <a:r>
              <a:rPr lang="en-US" sz="1800" b="1" dirty="0">
                <a:solidFill>
                  <a:srgbClr val="1D3A5F"/>
                </a:solidFill>
                <a:latin typeface="Arial" pitchFamily="34" charset="0"/>
                <a:ea typeface="Arial" pitchFamily="34" charset="-122"/>
                <a:cs typeface="Arial" pitchFamily="34" charset="-120"/>
              </a:rPr>
              <a:t>Live berechnet</a:t>
            </a:r>
            <a:endParaRPr lang="en-US" sz="1800" dirty="0"/>
          </a:p>
        </p:txBody>
      </p:sp>
      <p:sp>
        <p:nvSpPr>
          <p:cNvPr id="23" name="Text 18"/>
          <p:cNvSpPr/>
          <p:nvPr/>
        </p:nvSpPr>
        <p:spPr>
          <a:xfrm>
            <a:off x="8644128" y="4873752"/>
            <a:ext cx="2807208" cy="411480"/>
          </a:xfrm>
          <a:prstGeom prst="rect">
            <a:avLst/>
          </a:prstGeom>
          <a:noFill/>
          <a:ln/>
        </p:spPr>
        <p:txBody>
          <a:bodyPr wrap="square" lIns="0" tIns="0" rIns="0" bIns="0" rtlCol="0" anchor="t"/>
          <a:lstStyle/>
          <a:p>
            <a:pPr marL="0" indent="0">
              <a:buNone/>
            </a:pPr>
            <a:r>
              <a:rPr lang="en-US" sz="1200" dirty="0">
                <a:solidFill>
                  <a:srgbClr val="5C6B7A"/>
                </a:solidFill>
                <a:latin typeface="Arial" pitchFamily="34" charset="0"/>
                <a:ea typeface="Arial" pitchFamily="34" charset="-122"/>
                <a:cs typeface="Arial" pitchFamily="34" charset="-120"/>
              </a:rPr>
              <a:t>Σ EINGANG − Σ AUSGANG</a:t>
            </a:r>
            <a:endParaRPr lang="en-US" sz="1200" dirty="0"/>
          </a:p>
        </p:txBody>
      </p:sp>
      <p:sp>
        <p:nvSpPr>
          <p:cNvPr id="100" name="!!ar1"/>
          <p:cNvSpPr/>
          <p:nvPr/>
        </p:nvSpPr>
        <p:spPr>
          <a:xfrm>
            <a:off x="3840480" y="3589020"/>
            <a:ext cx="655320" cy="548640"/>
          </a:xfrm>
          <a:prstGeom prst="rect">
            <a:avLst/>
          </a:prstGeom>
          <a:noFill/>
        </p:spPr>
        <p:txBody>
          <a:bodyPr lIns="0" tIns="0" rIns="0" bIns="0" anchor="ctr"/>
          <a:lstStyle/>
          <a:p>
            <a:pPr algn="ctr"/>
            <a:r>
              <a:rPr lang="de-DE" sz="3600" b="1">
                <a:solidFill>
                  <a:srgbClr val="2E5A88"/>
                </a:solidFill>
                <a:latin typeface="Arial"/>
              </a:rPr>
              <a:t>→</a:t>
            </a:r>
          </a:p>
        </p:txBody>
      </p:sp>
      <p:sp>
        <p:nvSpPr>
          <p:cNvPr id="101" name="!!ar2"/>
          <p:cNvSpPr/>
          <p:nvPr/>
        </p:nvSpPr>
        <p:spPr>
          <a:xfrm>
            <a:off x="7696200" y="3589020"/>
            <a:ext cx="655320" cy="548640"/>
          </a:xfrm>
          <a:prstGeom prst="rect">
            <a:avLst/>
          </a:prstGeom>
          <a:noFill/>
        </p:spPr>
        <p:txBody>
          <a:bodyPr lIns="0" tIns="0" rIns="0" bIns="0" anchor="ctr"/>
          <a:lstStyle/>
          <a:p>
            <a:pPr algn="ctr"/>
            <a:r>
              <a:rPr lang="de-DE" sz="3600" b="1">
                <a:solidFill>
                  <a:srgbClr val="2E5A88"/>
                </a:solidFill>
                <a:latin typeface="Arial"/>
              </a:rPr>
              <a:t>→</a:t>
            </a:r>
          </a:p>
        </p:txBody>
      </p:sp>
      <p:sp>
        <p:nvSpPr>
          <p:cNvPr id="102" name="ExtraText 102"/>
          <p:cNvSpPr/>
          <p:nvPr/>
        </p:nvSpPr>
        <p:spPr>
          <a:xfrm>
            <a:off x="932688" y="4873752"/>
            <a:ext cx="2807208" cy="411480"/>
          </a:xfrm>
          <a:prstGeom prst="rect">
            <a:avLst/>
          </a:prstGeom>
          <a:noFill/>
        </p:spPr>
        <p:txBody>
          <a:bodyPr lIns="0" tIns="0" rIns="0" bIns="0" anchor="t"/>
          <a:lstStyle/>
          <a:p>
            <a:r>
              <a:rPr lang="de-DE" sz="1200" dirty="0">
                <a:solidFill>
                  <a:srgbClr val="5C6B7A"/>
                </a:solidFill>
                <a:latin typeface="Arial"/>
              </a:rPr>
              <a:t>Ein-/Ausgänge manuell nachgetragen</a:t>
            </a:r>
          </a:p>
        </p:txBody>
      </p:sp>
      <p:sp>
        <p:nvSpPr>
          <p:cNvPr id="103" name="ExtraText 103"/>
          <p:cNvSpPr/>
          <p:nvPr/>
        </p:nvSpPr>
        <p:spPr>
          <a:xfrm>
            <a:off x="4788408" y="4873752"/>
            <a:ext cx="2807208" cy="411480"/>
          </a:xfrm>
          <a:prstGeom prst="rect">
            <a:avLst/>
          </a:prstGeom>
          <a:noFill/>
        </p:spPr>
        <p:txBody>
          <a:bodyPr lIns="0" tIns="0" rIns="0" bIns="0" anchor="t"/>
          <a:lstStyle/>
          <a:p>
            <a:r>
              <a:rPr lang="de-DE" sz="1200" dirty="0">
                <a:solidFill>
                  <a:srgbClr val="5C6B7A"/>
                </a:solidFill>
                <a:latin typeface="Arial"/>
              </a:rPr>
              <a:t>Kommissionierlisten buchen nach SAP</a:t>
            </a:r>
          </a:p>
        </p:txBody>
      </p:sp>
      <p:sp>
        <p:nvSpPr>
          <p:cNvPr id="120" name="ExtraText 120"/>
          <p:cNvSpPr/>
          <p:nvPr/>
        </p:nvSpPr>
        <p:spPr>
          <a:xfrm>
            <a:off x="640080" y="5650000"/>
            <a:ext cx="10881360" cy="365760"/>
          </a:xfrm>
          <a:prstGeom prst="rect">
            <a:avLst/>
          </a:prstGeom>
          <a:noFill/>
        </p:spPr>
        <p:txBody>
          <a:bodyPr lIns="0" tIns="0" rIns="0" bIns="0" anchor="ctr"/>
          <a:lstStyle/>
          <a:p>
            <a:r>
              <a:rPr lang="de-DE" sz="1300" i="1" dirty="0">
                <a:solidFill>
                  <a:srgbClr val="5C6B7A"/>
                </a:solidFill>
                <a:latin typeface="Arial"/>
              </a:rPr>
              <a:t>Wie der berechnete Bestand technisch funktioniert, zeige ich später im Detail.</a:t>
            </a:r>
          </a:p>
        </p:txBody>
      </p:sp>
      <p:sp>
        <p:nvSpPr>
          <p:cNvPr id="131" name="!!pd1"/>
          <p:cNvSpPr/>
          <p:nvPr/>
        </p:nvSpPr>
        <p:spPr>
          <a:xfrm>
            <a:off x="10591800" y="548640"/>
            <a:ext cx="137160" cy="137160"/>
          </a:xfrm>
          <a:prstGeom prst="ellipse">
            <a:avLst/>
          </a:prstGeom>
          <a:solidFill>
            <a:srgbClr val="DDE3EA"/>
          </a:solidFill>
        </p:spPr>
        <p:txBody>
          <a:bodyPr/>
          <a:lstStyle/>
          <a:p>
            <a:endParaRPr lang="de-DE"/>
          </a:p>
        </p:txBody>
      </p:sp>
      <p:sp>
        <p:nvSpPr>
          <p:cNvPr id="132" name="!!pd2"/>
          <p:cNvSpPr/>
          <p:nvPr/>
        </p:nvSpPr>
        <p:spPr>
          <a:xfrm>
            <a:off x="10866120" y="548640"/>
            <a:ext cx="137160" cy="137160"/>
          </a:xfrm>
          <a:prstGeom prst="ellipse">
            <a:avLst/>
          </a:prstGeom>
          <a:solidFill>
            <a:srgbClr val="DDE3EA"/>
          </a:solidFill>
        </p:spPr>
        <p:txBody>
          <a:bodyPr/>
          <a:lstStyle/>
          <a:p>
            <a:endParaRPr lang="de-DE"/>
          </a:p>
        </p:txBody>
      </p:sp>
      <p:sp>
        <p:nvSpPr>
          <p:cNvPr id="133" name="!!pd3"/>
          <p:cNvSpPr/>
          <p:nvPr/>
        </p:nvSpPr>
        <p:spPr>
          <a:xfrm>
            <a:off x="11140440" y="548640"/>
            <a:ext cx="137160" cy="137160"/>
          </a:xfrm>
          <a:prstGeom prst="ellipse">
            <a:avLst/>
          </a:prstGeom>
          <a:solidFill>
            <a:srgbClr val="DDE3EA"/>
          </a:solidFill>
        </p:spPr>
        <p:txBody>
          <a:bodyPr/>
          <a:lstStyle/>
          <a:p>
            <a:endParaRPr lang="de-DE"/>
          </a:p>
        </p:txBody>
      </p:sp>
      <p:sp>
        <p:nvSpPr>
          <p:cNvPr id="134" name="!!pd4"/>
          <p:cNvSpPr/>
          <p:nvPr/>
        </p:nvSpPr>
        <p:spPr>
          <a:xfrm>
            <a:off x="11414760" y="548640"/>
            <a:ext cx="137160" cy="137160"/>
          </a:xfrm>
          <a:prstGeom prst="ellipse">
            <a:avLst/>
          </a:prstGeom>
          <a:solidFill>
            <a:srgbClr val="DDE3EA"/>
          </a:solidFill>
        </p:spPr>
        <p:txBody>
          <a:bodyPr/>
          <a:lstStyle/>
          <a:p>
            <a:endParaRPr lang="de-DE"/>
          </a:p>
        </p:txBody>
      </p:sp>
      <p:sp>
        <p:nvSpPr>
          <p:cNvPr id="140" name="!!pda"/>
          <p:cNvSpPr/>
          <p:nvPr/>
        </p:nvSpPr>
        <p:spPr>
          <a:xfrm>
            <a:off x="10843260" y="525780"/>
            <a:ext cx="182880" cy="182880"/>
          </a:xfrm>
          <a:prstGeom prst="ellipse">
            <a:avLst/>
          </a:prstGeom>
          <a:solidFill>
            <a:srgbClr val="1D3A5F"/>
          </a:solidFill>
        </p:spPr>
        <p:txBody>
          <a:bodyPr/>
          <a:lstStyle/>
          <a:p>
            <a:endParaRPr lang="de-DE"/>
          </a:p>
        </p:txBody>
      </p:sp>
      <p:sp>
        <p:nvSpPr>
          <p:cNvPr id="24" name="!!foot"/>
          <p:cNvSpPr/>
          <p:nvPr/>
        </p:nvSpPr>
        <p:spPr>
          <a:xfrm>
            <a:off x="640080" y="6437376"/>
            <a:ext cx="10908792" cy="274320"/>
          </a:xfrm>
          <a:prstGeom prst="rect">
            <a:avLst/>
          </a:prstGeom>
          <a:noFill/>
          <a:ln/>
        </p:spPr>
        <p:txBody>
          <a:bodyPr wrap="square" lIns="0" tIns="0" rIns="0" bIns="0" rtlCol="0" anchor="ctr"/>
          <a:lstStyle/>
          <a:p>
            <a:pPr marL="0" indent="0" algn="l">
              <a:buNone/>
            </a:pPr>
            <a:r>
              <a:rPr lang="en-US" sz="900" dirty="0">
                <a:solidFill>
                  <a:srgbClr val="5C6B7A"/>
                </a:solidFill>
                <a:latin typeface="Arial" pitchFamily="34" charset="0"/>
                <a:ea typeface="Arial" pitchFamily="34" charset="-122"/>
                <a:cs typeface="Arial" pitchFamily="34" charset="-120"/>
              </a:rPr>
              <a:t>Sascha Schulz     ·     Lagerverwaltung von medizinischem Verbrauchsmaterial im Krankenhaus</a:t>
            </a:r>
            <a:endParaRPr lang="en-US" sz="900" dirty="0"/>
          </a:p>
        </p:txBody>
      </p:sp>
      <p:sp>
        <p:nvSpPr>
          <p:cNvPr id="141" name="!!scrolltrack"/>
          <p:cNvSpPr/>
          <p:nvPr/>
        </p:nvSpPr>
        <p:spPr>
          <a:xfrm>
            <a:off x="11979240" y="457200"/>
            <a:ext cx="27432" cy="5943600"/>
          </a:xfrm>
          <a:prstGeom prst="roundRect">
            <a:avLst>
              <a:gd name="adj" fmla="val 50000"/>
            </a:avLst>
          </a:prstGeom>
          <a:solidFill>
            <a:srgbClr val="E3E9F1"/>
          </a:solidFill>
          <a:ln/>
        </p:spPr>
      </p:sp>
      <p:sp>
        <p:nvSpPr>
          <p:cNvPr id="142" name="!!scrollthumb"/>
          <p:cNvSpPr/>
          <p:nvPr/>
        </p:nvSpPr>
        <p:spPr>
          <a:xfrm>
            <a:off x="11979240" y="2438400"/>
            <a:ext cx="27432" cy="330200"/>
          </a:xfrm>
          <a:prstGeom prst="roundRect">
            <a:avLst>
              <a:gd name="adj" fmla="val 50000"/>
            </a:avLst>
          </a:prstGeom>
          <a:solidFill>
            <a:srgbClr val="2E5A88"/>
          </a:solidFill>
          <a:ln/>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B"/>
        </a:solidFill>
        <a:effectLst/>
      </p:bgPr>
    </p:bg>
    <p:spTree>
      <p:nvGrpSpPr>
        <p:cNvPr id="1" name=""/>
        <p:cNvGrpSpPr/>
        <p:nvPr/>
      </p:nvGrpSpPr>
      <p:grpSpPr>
        <a:xfrm>
          <a:off x="0" y="0"/>
          <a:ext cx="0" cy="0"/>
          <a:chOff x="0" y="0"/>
          <a:chExt cx="0" cy="0"/>
        </a:xfrm>
      </p:grpSpPr>
      <p:sp>
        <p:nvSpPr>
          <p:cNvPr id="2" name="!!eyebrow"/>
          <p:cNvSpPr/>
          <p:nvPr/>
        </p:nvSpPr>
        <p:spPr>
          <a:xfrm>
            <a:off x="640080" y="457200"/>
            <a:ext cx="10881360" cy="320040"/>
          </a:xfrm>
          <a:prstGeom prst="rect">
            <a:avLst/>
          </a:prstGeom>
          <a:noFill/>
          <a:ln/>
        </p:spPr>
        <p:txBody>
          <a:bodyPr wrap="square" lIns="0" tIns="0" rIns="0" bIns="0" rtlCol="0" anchor="ctr"/>
          <a:lstStyle/>
          <a:p>
            <a:pPr marL="0" indent="0">
              <a:buNone/>
            </a:pPr>
            <a:r>
              <a:rPr lang="en-US" sz="1200" b="1" kern="0" spc="200" dirty="0">
                <a:solidFill>
                  <a:srgbClr val="2E5A88"/>
                </a:solidFill>
                <a:latin typeface="Arial" pitchFamily="34" charset="0"/>
                <a:ea typeface="Arial" pitchFamily="34" charset="-122"/>
                <a:cs typeface="Arial" pitchFamily="34" charset="-120"/>
              </a:rPr>
              <a:t>DIE REISE · SCHRITT 3 VON 4</a:t>
            </a:r>
          </a:p>
        </p:txBody>
      </p:sp>
      <p:sp>
        <p:nvSpPr>
          <p:cNvPr id="3" name="!!title"/>
          <p:cNvSpPr/>
          <p:nvPr/>
        </p:nvSpPr>
        <p:spPr>
          <a:xfrm>
            <a:off x="640080" y="786384"/>
            <a:ext cx="10972800" cy="640080"/>
          </a:xfrm>
          <a:prstGeom prst="rect">
            <a:avLst/>
          </a:prstGeom>
          <a:noFill/>
          <a:ln/>
        </p:spPr>
        <p:txBody>
          <a:bodyPr wrap="square" lIns="0" tIns="0" rIns="0" bIns="0" rtlCol="0" anchor="ctr"/>
          <a:lstStyle/>
          <a:p>
            <a:pPr marL="0" indent="0">
              <a:buNone/>
            </a:pPr>
            <a:r>
              <a:rPr lang="en-US" sz="3000" b="1" dirty="0">
                <a:solidFill>
                  <a:srgbClr val="1D3A5F"/>
                </a:solidFill>
                <a:latin typeface="Arial" pitchFamily="34" charset="0"/>
                <a:ea typeface="Arial" pitchFamily="34" charset="-122"/>
                <a:cs typeface="Arial" pitchFamily="34" charset="-120"/>
              </a:rPr>
              <a:t>Überblick &amp; Warnung</a:t>
            </a:r>
            <a:endParaRPr lang="en-US" sz="3000" dirty="0"/>
          </a:p>
        </p:txBody>
      </p:sp>
      <p:sp>
        <p:nvSpPr>
          <p:cNvPr id="4" name="!!sub"/>
          <p:cNvSpPr/>
          <p:nvPr/>
        </p:nvSpPr>
        <p:spPr>
          <a:xfrm>
            <a:off x="640080" y="1481328"/>
            <a:ext cx="10881360" cy="457200"/>
          </a:xfrm>
          <a:prstGeom prst="rect">
            <a:avLst/>
          </a:prstGeom>
          <a:noFill/>
          <a:ln/>
        </p:spPr>
        <p:txBody>
          <a:bodyPr wrap="square" lIns="0" tIns="0" rIns="0" bIns="0" rtlCol="0" anchor="ctr"/>
          <a:lstStyle/>
          <a:p>
            <a:pPr marL="0" indent="0">
              <a:buNone/>
            </a:pPr>
            <a:r>
              <a:rPr lang="en-US" sz="1500" dirty="0">
                <a:solidFill>
                  <a:srgbClr val="5C6B7A"/>
                </a:solidFill>
                <a:latin typeface="Arial" pitchFamily="34" charset="0"/>
                <a:ea typeface="Arial" pitchFamily="34" charset="-122"/>
                <a:cs typeface="Arial" pitchFamily="34" charset="-120"/>
              </a:rPr>
              <a:t>Vom blinden Fleck zur automatischen Warnung</a:t>
            </a:r>
            <a:endParaRPr lang="en-US" sz="1500" dirty="0"/>
          </a:p>
        </p:txBody>
      </p:sp>
      <p:sp>
        <p:nvSpPr>
          <p:cNvPr id="5" name="!!k1"/>
          <p:cNvSpPr/>
          <p:nvPr/>
        </p:nvSpPr>
        <p:spPr>
          <a:xfrm>
            <a:off x="640080" y="2331720"/>
            <a:ext cx="3200400" cy="3063240"/>
          </a:xfrm>
          <a:prstGeom prst="roundRect">
            <a:avLst>
              <a:gd name="adj" fmla="val 2687"/>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6" name="!!c1"/>
          <p:cNvSpPr/>
          <p:nvPr/>
        </p:nvSpPr>
        <p:spPr>
          <a:xfrm>
            <a:off x="932688" y="2642616"/>
            <a:ext cx="658368" cy="658368"/>
          </a:xfrm>
          <a:prstGeom prst="ellipse">
            <a:avLst/>
          </a:prstGeom>
          <a:solidFill>
            <a:srgbClr val="E8EEF5"/>
          </a:solidFill>
          <a:ln/>
        </p:spPr>
      </p:sp>
      <p:pic>
        <p:nvPicPr>
          <p:cNvPr id="7" name="Image 0" descr="preencoded.png"/>
          <p:cNvPicPr>
            <a:picLocks noChangeAspect="1"/>
          </p:cNvPicPr>
          <p:nvPr/>
        </p:nvPicPr>
        <p:blipFill>
          <a:blip r:embed="rId3"/>
          <a:stretch>
            <a:fillRect/>
          </a:stretch>
        </p:blipFill>
        <p:spPr>
          <a:xfrm>
            <a:off x="1103864" y="2813792"/>
            <a:ext cx="316017" cy="316017"/>
          </a:xfrm>
          <a:prstGeom prst="rect">
            <a:avLst/>
          </a:prstGeom>
        </p:spPr>
      </p:pic>
      <p:sp>
        <p:nvSpPr>
          <p:cNvPr id="8" name="Text 5"/>
          <p:cNvSpPr/>
          <p:nvPr/>
        </p:nvSpPr>
        <p:spPr>
          <a:xfrm>
            <a:off x="932688" y="3520440"/>
            <a:ext cx="2807208"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ea typeface="Arial" pitchFamily="34" charset="-122"/>
                <a:cs typeface="Arial" pitchFamily="34" charset="-120"/>
              </a:rPr>
              <a:t>ZETTEL &amp; SAP</a:t>
            </a:r>
            <a:endParaRPr lang="en-US" sz="1200" dirty="0"/>
          </a:p>
        </p:txBody>
      </p:sp>
      <p:sp>
        <p:nvSpPr>
          <p:cNvPr id="9" name="Text 6"/>
          <p:cNvSpPr/>
          <p:nvPr/>
        </p:nvSpPr>
        <p:spPr>
          <a:xfrm>
            <a:off x="932688" y="3813048"/>
            <a:ext cx="2807208" cy="256032"/>
          </a:xfrm>
          <a:prstGeom prst="rect">
            <a:avLst/>
          </a:prstGeom>
          <a:noFill/>
          <a:ln/>
        </p:spPr>
        <p:txBody>
          <a:bodyPr wrap="square" lIns="0" tIns="0" rIns="0" bIns="0" rtlCol="0" anchor="ctr"/>
          <a:lstStyle/>
          <a:p>
            <a:pPr marL="0" indent="0">
              <a:buNone/>
            </a:pPr>
            <a:r>
              <a:rPr lang="en-US" sz="1100" dirty="0">
                <a:solidFill>
                  <a:srgbClr val="5C6B7A"/>
                </a:solidFill>
                <a:latin typeface="Arial" pitchFamily="34" charset="0"/>
                <a:ea typeface="Arial" pitchFamily="34" charset="-122"/>
                <a:cs typeface="Arial" pitchFamily="34" charset="-120"/>
              </a:rPr>
              <a:t>Kein Warnsystem</a:t>
            </a:r>
            <a:endParaRPr lang="en-US" sz="1100" dirty="0"/>
          </a:p>
        </p:txBody>
      </p:sp>
      <p:sp>
        <p:nvSpPr>
          <p:cNvPr id="10" name="Text 7"/>
          <p:cNvSpPr/>
          <p:nvPr/>
        </p:nvSpPr>
        <p:spPr>
          <a:xfrm>
            <a:off x="932688" y="4178808"/>
            <a:ext cx="2807208" cy="777240"/>
          </a:xfrm>
          <a:prstGeom prst="rect">
            <a:avLst/>
          </a:prstGeom>
          <a:noFill/>
          <a:ln/>
        </p:spPr>
        <p:txBody>
          <a:bodyPr wrap="square" lIns="0" tIns="0" rIns="0" bIns="0" rtlCol="0" anchor="t"/>
          <a:lstStyle/>
          <a:p>
            <a:pPr marL="0" indent="0">
              <a:lnSpc>
                <a:spcPct val="105000"/>
              </a:lnSpc>
              <a:buNone/>
            </a:pPr>
            <a:r>
              <a:rPr lang="en-US" sz="1800" b="1" dirty="0">
                <a:solidFill>
                  <a:srgbClr val="1D3A5F"/>
                </a:solidFill>
                <a:latin typeface="Arial" pitchFamily="34" charset="0"/>
                <a:ea typeface="Arial" pitchFamily="34" charset="-122"/>
                <a:cs typeface="Arial" pitchFamily="34" charset="-120"/>
              </a:rPr>
              <a:t>Zu spät bemerkt</a:t>
            </a:r>
            <a:endParaRPr lang="en-US" sz="1800" dirty="0"/>
          </a:p>
        </p:txBody>
      </p:sp>
      <p:sp>
        <p:nvSpPr>
          <p:cNvPr id="11" name="!!k2"/>
          <p:cNvSpPr/>
          <p:nvPr/>
        </p:nvSpPr>
        <p:spPr>
          <a:xfrm>
            <a:off x="4495800" y="2331720"/>
            <a:ext cx="3200400" cy="3063240"/>
          </a:xfrm>
          <a:prstGeom prst="roundRect">
            <a:avLst>
              <a:gd name="adj" fmla="val 2687"/>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12" name="!!c2"/>
          <p:cNvSpPr/>
          <p:nvPr/>
        </p:nvSpPr>
        <p:spPr>
          <a:xfrm>
            <a:off x="4788408" y="2642616"/>
            <a:ext cx="658368" cy="658368"/>
          </a:xfrm>
          <a:prstGeom prst="ellipse">
            <a:avLst/>
          </a:prstGeom>
          <a:solidFill>
            <a:srgbClr val="E8EEF5"/>
          </a:solidFill>
          <a:ln/>
        </p:spPr>
      </p:sp>
      <p:pic>
        <p:nvPicPr>
          <p:cNvPr id="13" name="Image 1" descr="preencoded.png"/>
          <p:cNvPicPr>
            <a:picLocks noChangeAspect="1"/>
          </p:cNvPicPr>
          <p:nvPr/>
        </p:nvPicPr>
        <p:blipFill>
          <a:blip r:embed="rId4"/>
          <a:stretch>
            <a:fillRect/>
          </a:stretch>
        </p:blipFill>
        <p:spPr>
          <a:xfrm>
            <a:off x="4959584" y="2813792"/>
            <a:ext cx="316017" cy="316017"/>
          </a:xfrm>
          <a:prstGeom prst="rect">
            <a:avLst/>
          </a:prstGeom>
        </p:spPr>
      </p:pic>
      <p:sp>
        <p:nvSpPr>
          <p:cNvPr id="14" name="Text 10"/>
          <p:cNvSpPr/>
          <p:nvPr/>
        </p:nvSpPr>
        <p:spPr>
          <a:xfrm>
            <a:off x="4788408" y="3520440"/>
            <a:ext cx="2807208"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ea typeface="Arial" pitchFamily="34" charset="-122"/>
                <a:cs typeface="Arial" pitchFamily="34" charset="-120"/>
              </a:rPr>
              <a:t>AMONDIS</a:t>
            </a:r>
            <a:endParaRPr lang="en-US" sz="1200" dirty="0"/>
          </a:p>
        </p:txBody>
      </p:sp>
      <p:sp>
        <p:nvSpPr>
          <p:cNvPr id="15" name="Text 11"/>
          <p:cNvSpPr/>
          <p:nvPr/>
        </p:nvSpPr>
        <p:spPr>
          <a:xfrm>
            <a:off x="4788408" y="3813048"/>
            <a:ext cx="2807208" cy="256032"/>
          </a:xfrm>
          <a:prstGeom prst="rect">
            <a:avLst/>
          </a:prstGeom>
          <a:noFill/>
          <a:ln/>
        </p:spPr>
        <p:txBody>
          <a:bodyPr wrap="square" lIns="0" tIns="0" rIns="0" bIns="0" rtlCol="0" anchor="ctr"/>
          <a:lstStyle/>
          <a:p>
            <a:pPr marL="0" indent="0">
              <a:buNone/>
            </a:pPr>
            <a:r>
              <a:rPr lang="en-US" sz="1100" dirty="0">
                <a:solidFill>
                  <a:srgbClr val="5C6B7A"/>
                </a:solidFill>
                <a:latin typeface="Arial" pitchFamily="34" charset="0"/>
                <a:ea typeface="Arial" pitchFamily="34" charset="-122"/>
                <a:cs typeface="Arial" pitchFamily="34" charset="-120"/>
              </a:rPr>
              <a:t>Mindestbestände</a:t>
            </a:r>
            <a:endParaRPr lang="en-US" sz="1100" dirty="0"/>
          </a:p>
        </p:txBody>
      </p:sp>
      <p:sp>
        <p:nvSpPr>
          <p:cNvPr id="16" name="Text 12"/>
          <p:cNvSpPr/>
          <p:nvPr/>
        </p:nvSpPr>
        <p:spPr>
          <a:xfrm>
            <a:off x="4788408" y="4178808"/>
            <a:ext cx="2807208" cy="777240"/>
          </a:xfrm>
          <a:prstGeom prst="rect">
            <a:avLst/>
          </a:prstGeom>
          <a:noFill/>
          <a:ln/>
        </p:spPr>
        <p:txBody>
          <a:bodyPr wrap="square" lIns="0" tIns="0" rIns="0" bIns="0" rtlCol="0" anchor="t"/>
          <a:lstStyle/>
          <a:p>
            <a:pPr marL="0" indent="0">
              <a:lnSpc>
                <a:spcPct val="105000"/>
              </a:lnSpc>
              <a:buNone/>
            </a:pPr>
            <a:r>
              <a:rPr lang="en-US" sz="1800" b="1" dirty="0">
                <a:solidFill>
                  <a:srgbClr val="1D3A5F"/>
                </a:solidFill>
                <a:latin typeface="Arial" pitchFamily="34" charset="0"/>
                <a:ea typeface="Arial" pitchFamily="34" charset="-122"/>
                <a:cs typeface="Arial" pitchFamily="34" charset="-120"/>
              </a:rPr>
              <a:t>Eigene Bestands-Maske</a:t>
            </a:r>
          </a:p>
        </p:txBody>
      </p:sp>
      <p:sp>
        <p:nvSpPr>
          <p:cNvPr id="17" name="!!k3"/>
          <p:cNvSpPr/>
          <p:nvPr/>
        </p:nvSpPr>
        <p:spPr>
          <a:xfrm>
            <a:off x="8351520" y="2331720"/>
            <a:ext cx="3200400" cy="3063240"/>
          </a:xfrm>
          <a:prstGeom prst="roundRect">
            <a:avLst>
              <a:gd name="adj" fmla="val 2687"/>
            </a:avLst>
          </a:prstGeom>
          <a:solidFill>
            <a:srgbClr val="E8EEF5"/>
          </a:solidFill>
          <a:ln w="19050">
            <a:solidFill>
              <a:srgbClr val="2E5A88"/>
            </a:solidFill>
            <a:prstDash val="solid"/>
          </a:ln>
          <a:effectLst>
            <a:outerShdw blurRad="114300" dist="38100" dir="5400000" algn="bl" rotWithShape="0">
              <a:srgbClr val="7A8AA0">
                <a:alpha val="22000"/>
              </a:srgbClr>
            </a:outerShdw>
          </a:effectLst>
        </p:spPr>
      </p:sp>
      <p:sp>
        <p:nvSpPr>
          <p:cNvPr id="18" name="!!c3"/>
          <p:cNvSpPr/>
          <p:nvPr/>
        </p:nvSpPr>
        <p:spPr>
          <a:xfrm>
            <a:off x="8644128" y="2642616"/>
            <a:ext cx="658368" cy="658368"/>
          </a:xfrm>
          <a:prstGeom prst="ellipse">
            <a:avLst/>
          </a:prstGeom>
          <a:solidFill>
            <a:srgbClr val="FFFFFF"/>
          </a:solidFill>
          <a:ln/>
        </p:spPr>
      </p:sp>
      <p:pic>
        <p:nvPicPr>
          <p:cNvPr id="19" name="Image 2" descr="preencoded.png"/>
          <p:cNvPicPr>
            <a:picLocks noChangeAspect="1"/>
          </p:cNvPicPr>
          <p:nvPr/>
        </p:nvPicPr>
        <p:blipFill>
          <a:blip r:embed="rId5"/>
          <a:stretch>
            <a:fillRect/>
          </a:stretch>
        </p:blipFill>
        <p:spPr>
          <a:xfrm>
            <a:off x="8815304" y="2813792"/>
            <a:ext cx="316017" cy="316017"/>
          </a:xfrm>
          <a:prstGeom prst="rect">
            <a:avLst/>
          </a:prstGeom>
        </p:spPr>
      </p:pic>
      <p:sp>
        <p:nvSpPr>
          <p:cNvPr id="20" name="Text 15"/>
          <p:cNvSpPr/>
          <p:nvPr/>
        </p:nvSpPr>
        <p:spPr>
          <a:xfrm>
            <a:off x="8644128" y="3520440"/>
            <a:ext cx="2807208"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ea typeface="Arial" pitchFamily="34" charset="-122"/>
                <a:cs typeface="Arial" pitchFamily="34" charset="-120"/>
              </a:rPr>
              <a:t>EIGENE SOFTWARE</a:t>
            </a:r>
            <a:endParaRPr lang="en-US" sz="1200" dirty="0"/>
          </a:p>
        </p:txBody>
      </p:sp>
      <p:sp>
        <p:nvSpPr>
          <p:cNvPr id="21" name="Text 16"/>
          <p:cNvSpPr/>
          <p:nvPr/>
        </p:nvSpPr>
        <p:spPr>
          <a:xfrm>
            <a:off x="8644128" y="3813048"/>
            <a:ext cx="2807208" cy="256032"/>
          </a:xfrm>
          <a:prstGeom prst="rect">
            <a:avLst/>
          </a:prstGeom>
          <a:noFill/>
          <a:ln/>
        </p:spPr>
        <p:txBody>
          <a:bodyPr wrap="square" lIns="0" tIns="0" rIns="0" bIns="0" rtlCol="0" anchor="ctr"/>
          <a:lstStyle/>
          <a:p>
            <a:pPr marL="0" indent="0">
              <a:buNone/>
            </a:pPr>
            <a:r>
              <a:rPr lang="en-US" sz="1100" dirty="0" err="1">
                <a:solidFill>
                  <a:srgbClr val="5C6B7A"/>
                </a:solidFill>
                <a:latin typeface="Arial" pitchFamily="34" charset="0"/>
                <a:ea typeface="Arial" pitchFamily="34" charset="-122"/>
                <a:cs typeface="Arial" pitchFamily="34" charset="-120"/>
              </a:rPr>
              <a:t>Mindestbestände</a:t>
            </a:r>
            <a:endParaRPr lang="en-US" sz="1100" dirty="0"/>
          </a:p>
        </p:txBody>
      </p:sp>
      <p:sp>
        <p:nvSpPr>
          <p:cNvPr id="22" name="Text 17"/>
          <p:cNvSpPr/>
          <p:nvPr/>
        </p:nvSpPr>
        <p:spPr>
          <a:xfrm>
            <a:off x="8644128" y="4178808"/>
            <a:ext cx="2807208" cy="777240"/>
          </a:xfrm>
          <a:prstGeom prst="rect">
            <a:avLst/>
          </a:prstGeom>
          <a:noFill/>
          <a:ln/>
        </p:spPr>
        <p:txBody>
          <a:bodyPr wrap="square" lIns="0" tIns="0" rIns="0" bIns="0" rtlCol="0" anchor="t"/>
          <a:lstStyle/>
          <a:p>
            <a:pPr marL="0" indent="0">
              <a:lnSpc>
                <a:spcPct val="105000"/>
              </a:lnSpc>
              <a:buNone/>
            </a:pPr>
            <a:r>
              <a:rPr lang="en-US" sz="1800" b="1" dirty="0">
                <a:solidFill>
                  <a:srgbClr val="1D3A5F"/>
                </a:solidFill>
                <a:latin typeface="Arial" pitchFamily="34" charset="0"/>
                <a:ea typeface="Arial" pitchFamily="34" charset="-122"/>
                <a:cs typeface="Arial" pitchFamily="34" charset="-120"/>
              </a:rPr>
              <a:t>Auto-Warnung</a:t>
            </a:r>
            <a:endParaRPr lang="en-US" sz="1800" dirty="0"/>
          </a:p>
        </p:txBody>
      </p:sp>
      <p:sp>
        <p:nvSpPr>
          <p:cNvPr id="23" name="Text 18"/>
          <p:cNvSpPr/>
          <p:nvPr/>
        </p:nvSpPr>
        <p:spPr>
          <a:xfrm>
            <a:off x="8644128" y="4873752"/>
            <a:ext cx="2807208" cy="411480"/>
          </a:xfrm>
          <a:prstGeom prst="rect">
            <a:avLst/>
          </a:prstGeom>
          <a:noFill/>
          <a:ln/>
        </p:spPr>
        <p:txBody>
          <a:bodyPr wrap="square" lIns="0" tIns="0" rIns="0" bIns="0" rtlCol="0" anchor="t"/>
          <a:lstStyle/>
          <a:p>
            <a:pPr marL="0" indent="0">
              <a:buNone/>
            </a:pPr>
            <a:r>
              <a:rPr lang="en-US" sz="1200" dirty="0">
                <a:solidFill>
                  <a:srgbClr val="5C6B7A"/>
                </a:solidFill>
                <a:latin typeface="Arial" pitchFamily="34" charset="0"/>
                <a:ea typeface="Arial" pitchFamily="34" charset="-122"/>
                <a:cs typeface="Arial" pitchFamily="34" charset="-120"/>
              </a:rPr>
              <a:t>rot direkt in der Materialzeile</a:t>
            </a:r>
          </a:p>
        </p:txBody>
      </p:sp>
      <p:sp>
        <p:nvSpPr>
          <p:cNvPr id="100" name="!!ar1"/>
          <p:cNvSpPr/>
          <p:nvPr/>
        </p:nvSpPr>
        <p:spPr>
          <a:xfrm>
            <a:off x="3840480" y="3589020"/>
            <a:ext cx="655320" cy="548640"/>
          </a:xfrm>
          <a:prstGeom prst="rect">
            <a:avLst/>
          </a:prstGeom>
          <a:noFill/>
        </p:spPr>
        <p:txBody>
          <a:bodyPr lIns="0" tIns="0" rIns="0" bIns="0" anchor="ctr"/>
          <a:lstStyle/>
          <a:p>
            <a:pPr algn="ctr"/>
            <a:r>
              <a:rPr lang="de-DE" sz="3600" b="1">
                <a:solidFill>
                  <a:srgbClr val="2E5A88"/>
                </a:solidFill>
                <a:latin typeface="Arial"/>
              </a:rPr>
              <a:t>→</a:t>
            </a:r>
          </a:p>
        </p:txBody>
      </p:sp>
      <p:sp>
        <p:nvSpPr>
          <p:cNvPr id="101" name="!!ar2"/>
          <p:cNvSpPr/>
          <p:nvPr/>
        </p:nvSpPr>
        <p:spPr>
          <a:xfrm>
            <a:off x="7696200" y="3589020"/>
            <a:ext cx="655320" cy="548640"/>
          </a:xfrm>
          <a:prstGeom prst="rect">
            <a:avLst/>
          </a:prstGeom>
          <a:noFill/>
        </p:spPr>
        <p:txBody>
          <a:bodyPr lIns="0" tIns="0" rIns="0" bIns="0" anchor="ctr"/>
          <a:lstStyle/>
          <a:p>
            <a:pPr algn="ctr"/>
            <a:r>
              <a:rPr lang="de-DE" sz="3600" b="1">
                <a:solidFill>
                  <a:srgbClr val="2E5A88"/>
                </a:solidFill>
                <a:latin typeface="Arial"/>
              </a:rPr>
              <a:t>→</a:t>
            </a:r>
          </a:p>
        </p:txBody>
      </p:sp>
      <p:sp>
        <p:nvSpPr>
          <p:cNvPr id="102" name="ExtraText 102"/>
          <p:cNvSpPr/>
          <p:nvPr/>
        </p:nvSpPr>
        <p:spPr>
          <a:xfrm>
            <a:off x="932688" y="4873752"/>
            <a:ext cx="2807208" cy="411480"/>
          </a:xfrm>
          <a:prstGeom prst="rect">
            <a:avLst/>
          </a:prstGeom>
          <a:noFill/>
        </p:spPr>
        <p:txBody>
          <a:bodyPr lIns="0" tIns="0" rIns="0" bIns="0" anchor="t"/>
          <a:lstStyle/>
          <a:p>
            <a:r>
              <a:rPr lang="de-DE" sz="1200" dirty="0">
                <a:solidFill>
                  <a:srgbClr val="5C6B7A"/>
                </a:solidFill>
                <a:latin typeface="Arial"/>
              </a:rPr>
              <a:t>erst bemerkt, wenn Material fehlt</a:t>
            </a:r>
          </a:p>
        </p:txBody>
      </p:sp>
      <p:sp>
        <p:nvSpPr>
          <p:cNvPr id="103" name="ExtraText 103"/>
          <p:cNvSpPr/>
          <p:nvPr/>
        </p:nvSpPr>
        <p:spPr>
          <a:xfrm>
            <a:off x="4788408" y="4873752"/>
            <a:ext cx="2807208" cy="411480"/>
          </a:xfrm>
          <a:prstGeom prst="rect">
            <a:avLst/>
          </a:prstGeom>
          <a:noFill/>
        </p:spPr>
        <p:txBody>
          <a:bodyPr lIns="0" tIns="0" rIns="0" bIns="0" anchor="t"/>
          <a:lstStyle/>
          <a:p>
            <a:r>
              <a:rPr lang="de-DE" sz="1200" dirty="0">
                <a:solidFill>
                  <a:srgbClr val="5C6B7A"/>
                </a:solidFill>
                <a:latin typeface="Arial"/>
              </a:rPr>
              <a:t>sichtbar, aber ohne farbliche Markierung</a:t>
            </a:r>
          </a:p>
        </p:txBody>
      </p:sp>
      <p:sp>
        <p:nvSpPr>
          <p:cNvPr id="120" name="ExtraText 120"/>
          <p:cNvSpPr/>
          <p:nvPr/>
        </p:nvSpPr>
        <p:spPr>
          <a:xfrm>
            <a:off x="640080" y="5650000"/>
            <a:ext cx="10881360" cy="365760"/>
          </a:xfrm>
          <a:prstGeom prst="rect">
            <a:avLst/>
          </a:prstGeom>
          <a:noFill/>
        </p:spPr>
        <p:txBody>
          <a:bodyPr lIns="0" tIns="0" rIns="0" bIns="0" anchor="ctr"/>
          <a:lstStyle/>
          <a:p>
            <a:r>
              <a:rPr lang="de-DE" sz="1300" i="1" dirty="0">
                <a:solidFill>
                  <a:srgbClr val="5C6B7A"/>
                </a:solidFill>
                <a:latin typeface="Arial"/>
              </a:rPr>
              <a:t>Die farbliche Hervorhebung gab es in </a:t>
            </a:r>
            <a:r>
              <a:rPr lang="de-DE" sz="1300" i="1" dirty="0" err="1">
                <a:solidFill>
                  <a:srgbClr val="5C6B7A"/>
                </a:solidFill>
                <a:latin typeface="Arial"/>
              </a:rPr>
              <a:t>Amondis</a:t>
            </a:r>
            <a:r>
              <a:rPr lang="de-DE" sz="1300" i="1" dirty="0">
                <a:solidFill>
                  <a:srgbClr val="5C6B7A"/>
                </a:solidFill>
                <a:latin typeface="Arial"/>
              </a:rPr>
              <a:t> nicht – in meiner Software schon.</a:t>
            </a:r>
          </a:p>
        </p:txBody>
      </p:sp>
      <p:sp>
        <p:nvSpPr>
          <p:cNvPr id="131" name="!!pd1"/>
          <p:cNvSpPr/>
          <p:nvPr/>
        </p:nvSpPr>
        <p:spPr>
          <a:xfrm>
            <a:off x="10591800" y="548640"/>
            <a:ext cx="137160" cy="137160"/>
          </a:xfrm>
          <a:prstGeom prst="ellipse">
            <a:avLst/>
          </a:prstGeom>
          <a:solidFill>
            <a:srgbClr val="DDE3EA"/>
          </a:solidFill>
        </p:spPr>
        <p:txBody>
          <a:bodyPr/>
          <a:lstStyle/>
          <a:p>
            <a:endParaRPr lang="de-DE"/>
          </a:p>
        </p:txBody>
      </p:sp>
      <p:sp>
        <p:nvSpPr>
          <p:cNvPr id="132" name="!!pd2"/>
          <p:cNvSpPr/>
          <p:nvPr/>
        </p:nvSpPr>
        <p:spPr>
          <a:xfrm>
            <a:off x="10866120" y="548640"/>
            <a:ext cx="137160" cy="137160"/>
          </a:xfrm>
          <a:prstGeom prst="ellipse">
            <a:avLst/>
          </a:prstGeom>
          <a:solidFill>
            <a:srgbClr val="DDE3EA"/>
          </a:solidFill>
        </p:spPr>
        <p:txBody>
          <a:bodyPr/>
          <a:lstStyle/>
          <a:p>
            <a:endParaRPr lang="de-DE"/>
          </a:p>
        </p:txBody>
      </p:sp>
      <p:sp>
        <p:nvSpPr>
          <p:cNvPr id="133" name="!!pd3"/>
          <p:cNvSpPr/>
          <p:nvPr/>
        </p:nvSpPr>
        <p:spPr>
          <a:xfrm>
            <a:off x="11140440" y="548640"/>
            <a:ext cx="137160" cy="137160"/>
          </a:xfrm>
          <a:prstGeom prst="ellipse">
            <a:avLst/>
          </a:prstGeom>
          <a:solidFill>
            <a:srgbClr val="DDE3EA"/>
          </a:solidFill>
        </p:spPr>
        <p:txBody>
          <a:bodyPr/>
          <a:lstStyle/>
          <a:p>
            <a:endParaRPr lang="de-DE"/>
          </a:p>
        </p:txBody>
      </p:sp>
      <p:sp>
        <p:nvSpPr>
          <p:cNvPr id="134" name="!!pd4"/>
          <p:cNvSpPr/>
          <p:nvPr/>
        </p:nvSpPr>
        <p:spPr>
          <a:xfrm>
            <a:off x="11414760" y="548640"/>
            <a:ext cx="137160" cy="137160"/>
          </a:xfrm>
          <a:prstGeom prst="ellipse">
            <a:avLst/>
          </a:prstGeom>
          <a:solidFill>
            <a:srgbClr val="DDE3EA"/>
          </a:solidFill>
        </p:spPr>
        <p:txBody>
          <a:bodyPr/>
          <a:lstStyle/>
          <a:p>
            <a:endParaRPr lang="de-DE"/>
          </a:p>
        </p:txBody>
      </p:sp>
      <p:sp>
        <p:nvSpPr>
          <p:cNvPr id="140" name="!!pda"/>
          <p:cNvSpPr/>
          <p:nvPr/>
        </p:nvSpPr>
        <p:spPr>
          <a:xfrm>
            <a:off x="11117580" y="525780"/>
            <a:ext cx="182880" cy="182880"/>
          </a:xfrm>
          <a:prstGeom prst="ellipse">
            <a:avLst/>
          </a:prstGeom>
          <a:solidFill>
            <a:srgbClr val="1D3A5F"/>
          </a:solidFill>
        </p:spPr>
        <p:txBody>
          <a:bodyPr/>
          <a:lstStyle/>
          <a:p>
            <a:endParaRPr lang="de-DE"/>
          </a:p>
        </p:txBody>
      </p:sp>
      <p:sp>
        <p:nvSpPr>
          <p:cNvPr id="24" name="!!foot"/>
          <p:cNvSpPr/>
          <p:nvPr/>
        </p:nvSpPr>
        <p:spPr>
          <a:xfrm>
            <a:off x="640080" y="6437376"/>
            <a:ext cx="10908792" cy="274320"/>
          </a:xfrm>
          <a:prstGeom prst="rect">
            <a:avLst/>
          </a:prstGeom>
          <a:noFill/>
          <a:ln/>
        </p:spPr>
        <p:txBody>
          <a:bodyPr wrap="square" lIns="0" tIns="0" rIns="0" bIns="0" rtlCol="0" anchor="ctr"/>
          <a:lstStyle/>
          <a:p>
            <a:pPr marL="0" indent="0" algn="l">
              <a:buNone/>
            </a:pPr>
            <a:r>
              <a:rPr lang="en-US" sz="900" dirty="0">
                <a:solidFill>
                  <a:srgbClr val="5C6B7A"/>
                </a:solidFill>
                <a:latin typeface="Arial" pitchFamily="34" charset="0"/>
                <a:ea typeface="Arial" pitchFamily="34" charset="-122"/>
                <a:cs typeface="Arial" pitchFamily="34" charset="-120"/>
              </a:rPr>
              <a:t>Sascha Schulz     ·     Lagerverwaltung von medizinischem Verbrauchsmaterial im Krankenhaus</a:t>
            </a:r>
            <a:endParaRPr lang="en-US" sz="900" dirty="0"/>
          </a:p>
        </p:txBody>
      </p:sp>
      <p:sp>
        <p:nvSpPr>
          <p:cNvPr id="141" name="!!scrolltrack"/>
          <p:cNvSpPr/>
          <p:nvPr/>
        </p:nvSpPr>
        <p:spPr>
          <a:xfrm>
            <a:off x="11979240" y="457200"/>
            <a:ext cx="27432" cy="5943600"/>
          </a:xfrm>
          <a:prstGeom prst="roundRect">
            <a:avLst>
              <a:gd name="adj" fmla="val 50000"/>
            </a:avLst>
          </a:prstGeom>
          <a:solidFill>
            <a:srgbClr val="E3E9F1"/>
          </a:solidFill>
          <a:ln/>
        </p:spPr>
      </p:sp>
      <p:sp>
        <p:nvSpPr>
          <p:cNvPr id="142" name="!!scrollthumb"/>
          <p:cNvSpPr/>
          <p:nvPr/>
        </p:nvSpPr>
        <p:spPr>
          <a:xfrm>
            <a:off x="11979240" y="2768600"/>
            <a:ext cx="27432" cy="330200"/>
          </a:xfrm>
          <a:prstGeom prst="roundRect">
            <a:avLst>
              <a:gd name="adj" fmla="val 50000"/>
            </a:avLst>
          </a:prstGeom>
          <a:solidFill>
            <a:srgbClr val="2E5A88"/>
          </a:solidFill>
          <a:ln/>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B"/>
        </a:solidFill>
        <a:effectLst/>
      </p:bgPr>
    </p:bg>
    <p:spTree>
      <p:nvGrpSpPr>
        <p:cNvPr id="1" name=""/>
        <p:cNvGrpSpPr/>
        <p:nvPr/>
      </p:nvGrpSpPr>
      <p:grpSpPr>
        <a:xfrm>
          <a:off x="0" y="0"/>
          <a:ext cx="0" cy="0"/>
          <a:chOff x="0" y="0"/>
          <a:chExt cx="0" cy="0"/>
        </a:xfrm>
      </p:grpSpPr>
      <p:sp>
        <p:nvSpPr>
          <p:cNvPr id="2" name="!!eyebrow"/>
          <p:cNvSpPr/>
          <p:nvPr/>
        </p:nvSpPr>
        <p:spPr>
          <a:xfrm>
            <a:off x="640080" y="457200"/>
            <a:ext cx="10881360" cy="320040"/>
          </a:xfrm>
          <a:prstGeom prst="rect">
            <a:avLst/>
          </a:prstGeom>
          <a:noFill/>
          <a:ln/>
        </p:spPr>
        <p:txBody>
          <a:bodyPr wrap="square" lIns="0" tIns="0" rIns="0" bIns="0" rtlCol="0" anchor="ctr"/>
          <a:lstStyle/>
          <a:p>
            <a:pPr marL="0" indent="0">
              <a:buNone/>
            </a:pPr>
            <a:r>
              <a:rPr lang="en-US" sz="1200" b="1" kern="0" spc="200" dirty="0">
                <a:solidFill>
                  <a:srgbClr val="2E5A88"/>
                </a:solidFill>
                <a:latin typeface="Arial" pitchFamily="34" charset="0"/>
                <a:ea typeface="Arial" pitchFamily="34" charset="-122"/>
                <a:cs typeface="Arial" pitchFamily="34" charset="-120"/>
              </a:rPr>
              <a:t>DIE REISE · SCHRITT 4 VON 4</a:t>
            </a:r>
          </a:p>
        </p:txBody>
      </p:sp>
      <p:sp>
        <p:nvSpPr>
          <p:cNvPr id="3" name="!!title"/>
          <p:cNvSpPr/>
          <p:nvPr/>
        </p:nvSpPr>
        <p:spPr>
          <a:xfrm>
            <a:off x="640080" y="786384"/>
            <a:ext cx="10972800" cy="640080"/>
          </a:xfrm>
          <a:prstGeom prst="rect">
            <a:avLst/>
          </a:prstGeom>
          <a:noFill/>
          <a:ln/>
        </p:spPr>
        <p:txBody>
          <a:bodyPr wrap="square" lIns="0" tIns="0" rIns="0" bIns="0" rtlCol="0" anchor="ctr"/>
          <a:lstStyle/>
          <a:p>
            <a:pPr marL="0" indent="0">
              <a:buNone/>
            </a:pPr>
            <a:r>
              <a:rPr lang="en-US" sz="3000" b="1" dirty="0">
                <a:solidFill>
                  <a:srgbClr val="1D3A5F"/>
                </a:solidFill>
                <a:latin typeface="Arial" pitchFamily="34" charset="0"/>
                <a:ea typeface="Arial" pitchFamily="34" charset="-122"/>
                <a:cs typeface="Arial" pitchFamily="34" charset="-120"/>
              </a:rPr>
              <a:t>Nachvollziehbarkeit</a:t>
            </a:r>
            <a:endParaRPr lang="en-US" sz="3000" dirty="0"/>
          </a:p>
        </p:txBody>
      </p:sp>
      <p:sp>
        <p:nvSpPr>
          <p:cNvPr id="4" name="!!sub"/>
          <p:cNvSpPr/>
          <p:nvPr/>
        </p:nvSpPr>
        <p:spPr>
          <a:xfrm>
            <a:off x="640080" y="1481328"/>
            <a:ext cx="10881360" cy="457200"/>
          </a:xfrm>
          <a:prstGeom prst="rect">
            <a:avLst/>
          </a:prstGeom>
          <a:noFill/>
          <a:ln/>
        </p:spPr>
        <p:txBody>
          <a:bodyPr wrap="square" lIns="0" tIns="0" rIns="0" bIns="0" rtlCol="0" anchor="ctr"/>
          <a:lstStyle/>
          <a:p>
            <a:pPr marL="0" indent="0">
              <a:buNone/>
            </a:pPr>
            <a:r>
              <a:rPr lang="en-US" sz="1500" dirty="0">
                <a:solidFill>
                  <a:srgbClr val="5C6B7A"/>
                </a:solidFill>
                <a:latin typeface="Arial" pitchFamily="34" charset="0"/>
                <a:ea typeface="Arial" pitchFamily="34" charset="-122"/>
                <a:cs typeface="Arial" pitchFamily="34" charset="-120"/>
              </a:rPr>
              <a:t>Von der Hand-Buchung zur lückenlosen Historie</a:t>
            </a:r>
          </a:p>
        </p:txBody>
      </p:sp>
      <p:sp>
        <p:nvSpPr>
          <p:cNvPr id="5" name="!!k1"/>
          <p:cNvSpPr/>
          <p:nvPr/>
        </p:nvSpPr>
        <p:spPr>
          <a:xfrm>
            <a:off x="640080" y="2331720"/>
            <a:ext cx="3200400" cy="3063240"/>
          </a:xfrm>
          <a:prstGeom prst="roundRect">
            <a:avLst>
              <a:gd name="adj" fmla="val 2687"/>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6" name="!!c1"/>
          <p:cNvSpPr/>
          <p:nvPr/>
        </p:nvSpPr>
        <p:spPr>
          <a:xfrm>
            <a:off x="932688" y="2642616"/>
            <a:ext cx="658368" cy="658368"/>
          </a:xfrm>
          <a:prstGeom prst="ellipse">
            <a:avLst/>
          </a:prstGeom>
          <a:solidFill>
            <a:srgbClr val="E8EEF5"/>
          </a:solidFill>
          <a:ln/>
        </p:spPr>
      </p:sp>
      <p:pic>
        <p:nvPicPr>
          <p:cNvPr id="7" name="Image 0" descr="preencoded.png"/>
          <p:cNvPicPr>
            <a:picLocks noChangeAspect="1"/>
          </p:cNvPicPr>
          <p:nvPr/>
        </p:nvPicPr>
        <p:blipFill>
          <a:blip r:embed="rId3"/>
          <a:stretch>
            <a:fillRect/>
          </a:stretch>
        </p:blipFill>
        <p:spPr>
          <a:xfrm>
            <a:off x="1103864" y="2813792"/>
            <a:ext cx="316017" cy="316017"/>
          </a:xfrm>
          <a:prstGeom prst="rect">
            <a:avLst/>
          </a:prstGeom>
        </p:spPr>
      </p:pic>
      <p:sp>
        <p:nvSpPr>
          <p:cNvPr id="8" name="Text 5"/>
          <p:cNvSpPr/>
          <p:nvPr/>
        </p:nvSpPr>
        <p:spPr>
          <a:xfrm>
            <a:off x="932688" y="3520440"/>
            <a:ext cx="2807208"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ea typeface="Arial" pitchFamily="34" charset="-122"/>
                <a:cs typeface="Arial" pitchFamily="34" charset="-120"/>
              </a:rPr>
              <a:t>ZETTEL &amp; SAP</a:t>
            </a:r>
            <a:endParaRPr lang="en-US" sz="1200" dirty="0"/>
          </a:p>
        </p:txBody>
      </p:sp>
      <p:sp>
        <p:nvSpPr>
          <p:cNvPr id="9" name="Text 6"/>
          <p:cNvSpPr/>
          <p:nvPr/>
        </p:nvSpPr>
        <p:spPr>
          <a:xfrm>
            <a:off x="932688" y="3813048"/>
            <a:ext cx="2807208" cy="256032"/>
          </a:xfrm>
          <a:prstGeom prst="rect">
            <a:avLst/>
          </a:prstGeom>
          <a:noFill/>
          <a:ln/>
        </p:spPr>
        <p:txBody>
          <a:bodyPr wrap="square" lIns="0" tIns="0" rIns="0" bIns="0" rtlCol="0" anchor="ctr"/>
          <a:lstStyle/>
          <a:p>
            <a:pPr marL="0" indent="0">
              <a:buNone/>
            </a:pPr>
            <a:r>
              <a:rPr lang="en-US" sz="1100" dirty="0">
                <a:solidFill>
                  <a:srgbClr val="5C6B7A"/>
                </a:solidFill>
                <a:latin typeface="Arial" pitchFamily="34" charset="0"/>
                <a:ea typeface="Arial" pitchFamily="34" charset="-122"/>
                <a:cs typeface="Arial" pitchFamily="34" charset="-120"/>
              </a:rPr>
              <a:t>SAP · manuell gepflegt</a:t>
            </a:r>
          </a:p>
        </p:txBody>
      </p:sp>
      <p:sp>
        <p:nvSpPr>
          <p:cNvPr id="10" name="Text 7"/>
          <p:cNvSpPr/>
          <p:nvPr/>
        </p:nvSpPr>
        <p:spPr>
          <a:xfrm>
            <a:off x="932688" y="4178808"/>
            <a:ext cx="2807208" cy="777240"/>
          </a:xfrm>
          <a:prstGeom prst="rect">
            <a:avLst/>
          </a:prstGeom>
          <a:noFill/>
          <a:ln/>
        </p:spPr>
        <p:txBody>
          <a:bodyPr wrap="square" lIns="0" tIns="0" rIns="0" bIns="0" rtlCol="0" anchor="t"/>
          <a:lstStyle/>
          <a:p>
            <a:pPr marL="0" indent="0">
              <a:lnSpc>
                <a:spcPct val="105000"/>
              </a:lnSpc>
              <a:buNone/>
            </a:pPr>
            <a:r>
              <a:rPr lang="en-US" sz="1800" b="1" dirty="0">
                <a:solidFill>
                  <a:srgbClr val="1D3A5F"/>
                </a:solidFill>
                <a:latin typeface="Arial" pitchFamily="34" charset="0"/>
                <a:ea typeface="Arial" pitchFamily="34" charset="-122"/>
                <a:cs typeface="Arial" pitchFamily="34" charset="-120"/>
              </a:rPr>
              <a:t>Nur in SAP ablesbar</a:t>
            </a:r>
          </a:p>
        </p:txBody>
      </p:sp>
      <p:sp>
        <p:nvSpPr>
          <p:cNvPr id="11" name="!!k2"/>
          <p:cNvSpPr/>
          <p:nvPr/>
        </p:nvSpPr>
        <p:spPr>
          <a:xfrm>
            <a:off x="4495800" y="2331720"/>
            <a:ext cx="3200400" cy="3063240"/>
          </a:xfrm>
          <a:prstGeom prst="roundRect">
            <a:avLst>
              <a:gd name="adj" fmla="val 2687"/>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12" name="!!c2"/>
          <p:cNvSpPr/>
          <p:nvPr/>
        </p:nvSpPr>
        <p:spPr>
          <a:xfrm>
            <a:off x="4788408" y="2642616"/>
            <a:ext cx="658368" cy="658368"/>
          </a:xfrm>
          <a:prstGeom prst="ellipse">
            <a:avLst/>
          </a:prstGeom>
          <a:solidFill>
            <a:srgbClr val="E8EEF5"/>
          </a:solidFill>
          <a:ln/>
        </p:spPr>
      </p:sp>
      <p:pic>
        <p:nvPicPr>
          <p:cNvPr id="13" name="Image 1" descr="preencoded.png"/>
          <p:cNvPicPr>
            <a:picLocks noChangeAspect="1"/>
          </p:cNvPicPr>
          <p:nvPr/>
        </p:nvPicPr>
        <p:blipFill>
          <a:blip r:embed="rId4"/>
          <a:stretch>
            <a:fillRect/>
          </a:stretch>
        </p:blipFill>
        <p:spPr>
          <a:xfrm>
            <a:off x="4959584" y="2813792"/>
            <a:ext cx="316017" cy="316017"/>
          </a:xfrm>
          <a:prstGeom prst="rect">
            <a:avLst/>
          </a:prstGeom>
        </p:spPr>
      </p:pic>
      <p:sp>
        <p:nvSpPr>
          <p:cNvPr id="14" name="Text 10"/>
          <p:cNvSpPr/>
          <p:nvPr/>
        </p:nvSpPr>
        <p:spPr>
          <a:xfrm>
            <a:off x="4788408" y="3520440"/>
            <a:ext cx="2807208"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ea typeface="Arial" pitchFamily="34" charset="-122"/>
                <a:cs typeface="Arial" pitchFamily="34" charset="-120"/>
              </a:rPr>
              <a:t>AMONDIS</a:t>
            </a:r>
            <a:endParaRPr lang="en-US" sz="1200" dirty="0"/>
          </a:p>
        </p:txBody>
      </p:sp>
      <p:sp>
        <p:nvSpPr>
          <p:cNvPr id="15" name="Text 11"/>
          <p:cNvSpPr/>
          <p:nvPr/>
        </p:nvSpPr>
        <p:spPr>
          <a:xfrm>
            <a:off x="4788408" y="3813048"/>
            <a:ext cx="2807208" cy="256032"/>
          </a:xfrm>
          <a:prstGeom prst="rect">
            <a:avLst/>
          </a:prstGeom>
          <a:noFill/>
          <a:ln/>
        </p:spPr>
        <p:txBody>
          <a:bodyPr wrap="square" lIns="0" tIns="0" rIns="0" bIns="0" rtlCol="0" anchor="ctr"/>
          <a:lstStyle/>
          <a:p>
            <a:pPr marL="0" indent="0">
              <a:buNone/>
            </a:pPr>
            <a:r>
              <a:rPr lang="en-US" sz="1100" dirty="0">
                <a:solidFill>
                  <a:srgbClr val="5C6B7A"/>
                </a:solidFill>
                <a:latin typeface="Arial" pitchFamily="34" charset="0"/>
                <a:ea typeface="Arial" pitchFamily="34" charset="-122"/>
                <a:cs typeface="Arial" pitchFamily="34" charset="-120"/>
              </a:rPr>
              <a:t>Automatisch erfasst</a:t>
            </a:r>
          </a:p>
        </p:txBody>
      </p:sp>
      <p:sp>
        <p:nvSpPr>
          <p:cNvPr id="16" name="Text 12"/>
          <p:cNvSpPr/>
          <p:nvPr/>
        </p:nvSpPr>
        <p:spPr>
          <a:xfrm>
            <a:off x="4788408" y="4178808"/>
            <a:ext cx="2807208" cy="777240"/>
          </a:xfrm>
          <a:prstGeom prst="rect">
            <a:avLst/>
          </a:prstGeom>
          <a:noFill/>
          <a:ln/>
        </p:spPr>
        <p:txBody>
          <a:bodyPr wrap="square" lIns="0" tIns="0" rIns="0" bIns="0" rtlCol="0" anchor="t"/>
          <a:lstStyle/>
          <a:p>
            <a:pPr marL="0" indent="0">
              <a:lnSpc>
                <a:spcPct val="105000"/>
              </a:lnSpc>
              <a:buNone/>
            </a:pPr>
            <a:r>
              <a:rPr lang="en-US" sz="1800" b="1" dirty="0">
                <a:solidFill>
                  <a:srgbClr val="1D3A5F"/>
                </a:solidFill>
                <a:latin typeface="Arial" pitchFamily="34" charset="0"/>
                <a:ea typeface="Arial" pitchFamily="34" charset="-122"/>
                <a:cs typeface="Arial" pitchFamily="34" charset="-120"/>
              </a:rPr>
              <a:t>Jede Bewegung gebucht</a:t>
            </a:r>
          </a:p>
        </p:txBody>
      </p:sp>
      <p:sp>
        <p:nvSpPr>
          <p:cNvPr id="17" name="!!k3"/>
          <p:cNvSpPr/>
          <p:nvPr/>
        </p:nvSpPr>
        <p:spPr>
          <a:xfrm>
            <a:off x="8351520" y="2331720"/>
            <a:ext cx="3200400" cy="3063240"/>
          </a:xfrm>
          <a:prstGeom prst="roundRect">
            <a:avLst>
              <a:gd name="adj" fmla="val 2687"/>
            </a:avLst>
          </a:prstGeom>
          <a:solidFill>
            <a:srgbClr val="E8EEF5"/>
          </a:solidFill>
          <a:ln w="19050">
            <a:solidFill>
              <a:srgbClr val="2E5A88"/>
            </a:solidFill>
            <a:prstDash val="solid"/>
          </a:ln>
          <a:effectLst>
            <a:outerShdw blurRad="114300" dist="38100" dir="5400000" algn="bl" rotWithShape="0">
              <a:srgbClr val="7A8AA0">
                <a:alpha val="22000"/>
              </a:srgbClr>
            </a:outerShdw>
          </a:effectLst>
        </p:spPr>
      </p:sp>
      <p:sp>
        <p:nvSpPr>
          <p:cNvPr id="18" name="!!c3"/>
          <p:cNvSpPr/>
          <p:nvPr/>
        </p:nvSpPr>
        <p:spPr>
          <a:xfrm>
            <a:off x="8644128" y="2642616"/>
            <a:ext cx="658368" cy="658368"/>
          </a:xfrm>
          <a:prstGeom prst="ellipse">
            <a:avLst/>
          </a:prstGeom>
          <a:solidFill>
            <a:srgbClr val="FFFFFF"/>
          </a:solidFill>
          <a:ln/>
        </p:spPr>
      </p:sp>
      <p:pic>
        <p:nvPicPr>
          <p:cNvPr id="19" name="Image 2" descr="preencoded.png"/>
          <p:cNvPicPr>
            <a:picLocks noChangeAspect="1"/>
          </p:cNvPicPr>
          <p:nvPr/>
        </p:nvPicPr>
        <p:blipFill>
          <a:blip r:embed="rId5"/>
          <a:stretch>
            <a:fillRect/>
          </a:stretch>
        </p:blipFill>
        <p:spPr>
          <a:xfrm>
            <a:off x="8815304" y="2813792"/>
            <a:ext cx="316017" cy="316017"/>
          </a:xfrm>
          <a:prstGeom prst="rect">
            <a:avLst/>
          </a:prstGeom>
        </p:spPr>
      </p:pic>
      <p:sp>
        <p:nvSpPr>
          <p:cNvPr id="20" name="Text 15"/>
          <p:cNvSpPr/>
          <p:nvPr/>
        </p:nvSpPr>
        <p:spPr>
          <a:xfrm>
            <a:off x="8644128" y="3520440"/>
            <a:ext cx="2807208"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ea typeface="Arial" pitchFamily="34" charset="-122"/>
                <a:cs typeface="Arial" pitchFamily="34" charset="-120"/>
              </a:rPr>
              <a:t>EIGENE SOFTWARE</a:t>
            </a:r>
            <a:endParaRPr lang="en-US" sz="1200" dirty="0"/>
          </a:p>
        </p:txBody>
      </p:sp>
      <p:sp>
        <p:nvSpPr>
          <p:cNvPr id="21" name="Text 16"/>
          <p:cNvSpPr/>
          <p:nvPr/>
        </p:nvSpPr>
        <p:spPr>
          <a:xfrm>
            <a:off x="8644128" y="3813048"/>
            <a:ext cx="2807208" cy="256032"/>
          </a:xfrm>
          <a:prstGeom prst="rect">
            <a:avLst/>
          </a:prstGeom>
          <a:noFill/>
          <a:ln/>
        </p:spPr>
        <p:txBody>
          <a:bodyPr wrap="square" lIns="0" tIns="0" rIns="0" bIns="0" rtlCol="0" anchor="ctr"/>
          <a:lstStyle/>
          <a:p>
            <a:pPr marL="0" indent="0">
              <a:buNone/>
            </a:pPr>
            <a:r>
              <a:rPr lang="en-US" sz="1100" dirty="0" err="1">
                <a:solidFill>
                  <a:srgbClr val="5C6B7A"/>
                </a:solidFill>
                <a:latin typeface="Arial" pitchFamily="34" charset="0"/>
                <a:ea typeface="Arial" pitchFamily="34" charset="-122"/>
                <a:cs typeface="Arial" pitchFamily="34" charset="-120"/>
              </a:rPr>
              <a:t>Automatisch</a:t>
            </a:r>
            <a:r>
              <a:rPr lang="en-US" sz="1100" dirty="0">
                <a:solidFill>
                  <a:srgbClr val="5C6B7A"/>
                </a:solidFill>
                <a:latin typeface="Arial" pitchFamily="34" charset="0"/>
                <a:ea typeface="Arial" pitchFamily="34" charset="-122"/>
                <a:cs typeface="Arial" pitchFamily="34" charset="-120"/>
              </a:rPr>
              <a:t> </a:t>
            </a:r>
            <a:r>
              <a:rPr lang="en-US" sz="1100" dirty="0" err="1">
                <a:solidFill>
                  <a:srgbClr val="5C6B7A"/>
                </a:solidFill>
                <a:latin typeface="Arial" pitchFamily="34" charset="0"/>
                <a:ea typeface="Arial" pitchFamily="34" charset="-122"/>
                <a:cs typeface="Arial" pitchFamily="34" charset="-120"/>
              </a:rPr>
              <a:t>erfasst</a:t>
            </a:r>
            <a:endParaRPr lang="en-US" sz="1100" dirty="0">
              <a:solidFill>
                <a:srgbClr val="5C6B7A"/>
              </a:solidFill>
              <a:latin typeface="Arial" pitchFamily="34" charset="0"/>
              <a:ea typeface="Arial" pitchFamily="34" charset="-122"/>
              <a:cs typeface="Arial" pitchFamily="34" charset="-120"/>
            </a:endParaRPr>
          </a:p>
        </p:txBody>
      </p:sp>
      <p:sp>
        <p:nvSpPr>
          <p:cNvPr id="22" name="Text 17"/>
          <p:cNvSpPr/>
          <p:nvPr/>
        </p:nvSpPr>
        <p:spPr>
          <a:xfrm>
            <a:off x="8644128" y="4178808"/>
            <a:ext cx="2807208" cy="777240"/>
          </a:xfrm>
          <a:prstGeom prst="rect">
            <a:avLst/>
          </a:prstGeom>
          <a:noFill/>
          <a:ln/>
        </p:spPr>
        <p:txBody>
          <a:bodyPr wrap="square" lIns="0" tIns="0" rIns="0" bIns="0" rtlCol="0" anchor="t"/>
          <a:lstStyle/>
          <a:p>
            <a:pPr marL="0" indent="0">
              <a:lnSpc>
                <a:spcPct val="105000"/>
              </a:lnSpc>
              <a:buNone/>
            </a:pPr>
            <a:r>
              <a:rPr lang="en-US" sz="1800" b="1" dirty="0">
                <a:solidFill>
                  <a:srgbClr val="1D3A5F"/>
                </a:solidFill>
                <a:latin typeface="Arial" pitchFamily="34" charset="0"/>
                <a:ea typeface="Arial" pitchFamily="34" charset="-122"/>
                <a:cs typeface="Arial" pitchFamily="34" charset="-120"/>
              </a:rPr>
              <a:t>Lückenlos</a:t>
            </a:r>
            <a:endParaRPr lang="en-US" sz="1800" dirty="0"/>
          </a:p>
        </p:txBody>
      </p:sp>
      <p:sp>
        <p:nvSpPr>
          <p:cNvPr id="23" name="Text 18"/>
          <p:cNvSpPr/>
          <p:nvPr/>
        </p:nvSpPr>
        <p:spPr>
          <a:xfrm>
            <a:off x="8644128" y="4873752"/>
            <a:ext cx="2807208" cy="411480"/>
          </a:xfrm>
          <a:prstGeom prst="rect">
            <a:avLst/>
          </a:prstGeom>
          <a:noFill/>
          <a:ln/>
        </p:spPr>
        <p:txBody>
          <a:bodyPr wrap="square" lIns="0" tIns="0" rIns="0" bIns="0" rtlCol="0" anchor="t"/>
          <a:lstStyle/>
          <a:p>
            <a:pPr marL="0" indent="0">
              <a:buNone/>
            </a:pPr>
            <a:r>
              <a:rPr lang="en-US" sz="1200" dirty="0">
                <a:solidFill>
                  <a:srgbClr val="5C6B7A"/>
                </a:solidFill>
                <a:latin typeface="Arial" pitchFamily="34" charset="0"/>
                <a:ea typeface="Arial" pitchFamily="34" charset="-122"/>
                <a:cs typeface="Arial" pitchFamily="34" charset="-120"/>
              </a:rPr>
              <a:t>Tabelle bestandsbewegungen</a:t>
            </a:r>
            <a:endParaRPr lang="en-US" sz="1200" dirty="0"/>
          </a:p>
        </p:txBody>
      </p:sp>
      <p:sp>
        <p:nvSpPr>
          <p:cNvPr id="100" name="!!ar1"/>
          <p:cNvSpPr/>
          <p:nvPr/>
        </p:nvSpPr>
        <p:spPr>
          <a:xfrm>
            <a:off x="3840480" y="3589020"/>
            <a:ext cx="655320" cy="548640"/>
          </a:xfrm>
          <a:prstGeom prst="rect">
            <a:avLst/>
          </a:prstGeom>
          <a:noFill/>
        </p:spPr>
        <p:txBody>
          <a:bodyPr lIns="0" tIns="0" rIns="0" bIns="0" anchor="ctr"/>
          <a:lstStyle/>
          <a:p>
            <a:pPr algn="ctr"/>
            <a:r>
              <a:rPr lang="de-DE" sz="3600" b="1">
                <a:solidFill>
                  <a:srgbClr val="2E5A88"/>
                </a:solidFill>
                <a:latin typeface="Arial"/>
              </a:rPr>
              <a:t>→</a:t>
            </a:r>
          </a:p>
        </p:txBody>
      </p:sp>
      <p:sp>
        <p:nvSpPr>
          <p:cNvPr id="101" name="!!ar2"/>
          <p:cNvSpPr/>
          <p:nvPr/>
        </p:nvSpPr>
        <p:spPr>
          <a:xfrm>
            <a:off x="7696200" y="3589020"/>
            <a:ext cx="655320" cy="548640"/>
          </a:xfrm>
          <a:prstGeom prst="rect">
            <a:avLst/>
          </a:prstGeom>
          <a:noFill/>
        </p:spPr>
        <p:txBody>
          <a:bodyPr lIns="0" tIns="0" rIns="0" bIns="0" anchor="ctr"/>
          <a:lstStyle/>
          <a:p>
            <a:pPr algn="ctr"/>
            <a:r>
              <a:rPr lang="de-DE" sz="3600" b="1">
                <a:solidFill>
                  <a:srgbClr val="2E5A88"/>
                </a:solidFill>
                <a:latin typeface="Arial"/>
              </a:rPr>
              <a:t>→</a:t>
            </a:r>
          </a:p>
        </p:txBody>
      </p:sp>
      <p:sp>
        <p:nvSpPr>
          <p:cNvPr id="102" name="ExtraText 102"/>
          <p:cNvSpPr/>
          <p:nvPr/>
        </p:nvSpPr>
        <p:spPr>
          <a:xfrm>
            <a:off x="932688" y="4873752"/>
            <a:ext cx="2807208" cy="411480"/>
          </a:xfrm>
          <a:prstGeom prst="rect">
            <a:avLst/>
          </a:prstGeom>
          <a:noFill/>
        </p:spPr>
        <p:txBody>
          <a:bodyPr lIns="0" tIns="0" rIns="0" bIns="0" anchor="t"/>
          <a:lstStyle/>
          <a:p>
            <a:r>
              <a:rPr lang="de-DE" sz="1200" dirty="0">
                <a:solidFill>
                  <a:srgbClr val="5C6B7A"/>
                </a:solidFill>
                <a:latin typeface="Arial"/>
              </a:rPr>
              <a:t>von Hand nachgetragen, zeitversetzt</a:t>
            </a:r>
          </a:p>
        </p:txBody>
      </p:sp>
      <p:sp>
        <p:nvSpPr>
          <p:cNvPr id="103" name="ExtraText 103"/>
          <p:cNvSpPr/>
          <p:nvPr/>
        </p:nvSpPr>
        <p:spPr>
          <a:xfrm>
            <a:off x="4788408" y="4873752"/>
            <a:ext cx="2807208" cy="411480"/>
          </a:xfrm>
          <a:prstGeom prst="rect">
            <a:avLst/>
          </a:prstGeom>
          <a:noFill/>
        </p:spPr>
        <p:txBody>
          <a:bodyPr lIns="0" tIns="0" rIns="0" bIns="0" anchor="t"/>
          <a:lstStyle/>
          <a:p>
            <a:r>
              <a:rPr lang="de-DE" sz="1200" dirty="0">
                <a:solidFill>
                  <a:srgbClr val="5C6B7A"/>
                </a:solidFill>
                <a:latin typeface="Arial"/>
              </a:rPr>
              <a:t>automatische Übergabe an SAP</a:t>
            </a:r>
          </a:p>
        </p:txBody>
      </p:sp>
      <p:sp>
        <p:nvSpPr>
          <p:cNvPr id="131" name="!!pd1"/>
          <p:cNvSpPr/>
          <p:nvPr/>
        </p:nvSpPr>
        <p:spPr>
          <a:xfrm>
            <a:off x="10591800" y="548640"/>
            <a:ext cx="137160" cy="137160"/>
          </a:xfrm>
          <a:prstGeom prst="ellipse">
            <a:avLst/>
          </a:prstGeom>
          <a:solidFill>
            <a:srgbClr val="DDE3EA"/>
          </a:solidFill>
        </p:spPr>
        <p:txBody>
          <a:bodyPr/>
          <a:lstStyle/>
          <a:p>
            <a:endParaRPr lang="de-DE"/>
          </a:p>
        </p:txBody>
      </p:sp>
      <p:sp>
        <p:nvSpPr>
          <p:cNvPr id="132" name="!!pd2"/>
          <p:cNvSpPr/>
          <p:nvPr/>
        </p:nvSpPr>
        <p:spPr>
          <a:xfrm>
            <a:off x="10866120" y="548640"/>
            <a:ext cx="137160" cy="137160"/>
          </a:xfrm>
          <a:prstGeom prst="ellipse">
            <a:avLst/>
          </a:prstGeom>
          <a:solidFill>
            <a:srgbClr val="DDE3EA"/>
          </a:solidFill>
        </p:spPr>
        <p:txBody>
          <a:bodyPr/>
          <a:lstStyle/>
          <a:p>
            <a:endParaRPr lang="de-DE"/>
          </a:p>
        </p:txBody>
      </p:sp>
      <p:sp>
        <p:nvSpPr>
          <p:cNvPr id="133" name="!!pd3"/>
          <p:cNvSpPr/>
          <p:nvPr/>
        </p:nvSpPr>
        <p:spPr>
          <a:xfrm>
            <a:off x="11140440" y="548640"/>
            <a:ext cx="137160" cy="137160"/>
          </a:xfrm>
          <a:prstGeom prst="ellipse">
            <a:avLst/>
          </a:prstGeom>
          <a:solidFill>
            <a:srgbClr val="DDE3EA"/>
          </a:solidFill>
        </p:spPr>
        <p:txBody>
          <a:bodyPr/>
          <a:lstStyle/>
          <a:p>
            <a:endParaRPr lang="de-DE"/>
          </a:p>
        </p:txBody>
      </p:sp>
      <p:sp>
        <p:nvSpPr>
          <p:cNvPr id="134" name="!!pd4"/>
          <p:cNvSpPr/>
          <p:nvPr/>
        </p:nvSpPr>
        <p:spPr>
          <a:xfrm>
            <a:off x="11414760" y="548640"/>
            <a:ext cx="137160" cy="137160"/>
          </a:xfrm>
          <a:prstGeom prst="ellipse">
            <a:avLst/>
          </a:prstGeom>
          <a:solidFill>
            <a:srgbClr val="DDE3EA"/>
          </a:solidFill>
        </p:spPr>
        <p:txBody>
          <a:bodyPr/>
          <a:lstStyle/>
          <a:p>
            <a:endParaRPr lang="de-DE"/>
          </a:p>
        </p:txBody>
      </p:sp>
      <p:sp>
        <p:nvSpPr>
          <p:cNvPr id="140" name="!!pda"/>
          <p:cNvSpPr/>
          <p:nvPr/>
        </p:nvSpPr>
        <p:spPr>
          <a:xfrm>
            <a:off x="11391900" y="525780"/>
            <a:ext cx="182880" cy="182880"/>
          </a:xfrm>
          <a:prstGeom prst="ellipse">
            <a:avLst/>
          </a:prstGeom>
          <a:solidFill>
            <a:srgbClr val="1D3A5F"/>
          </a:solidFill>
        </p:spPr>
        <p:txBody>
          <a:bodyPr/>
          <a:lstStyle/>
          <a:p>
            <a:endParaRPr lang="de-DE"/>
          </a:p>
        </p:txBody>
      </p:sp>
      <p:sp>
        <p:nvSpPr>
          <p:cNvPr id="24" name="!!foot"/>
          <p:cNvSpPr/>
          <p:nvPr/>
        </p:nvSpPr>
        <p:spPr>
          <a:xfrm>
            <a:off x="640080" y="6437376"/>
            <a:ext cx="10908792" cy="274320"/>
          </a:xfrm>
          <a:prstGeom prst="rect">
            <a:avLst/>
          </a:prstGeom>
          <a:noFill/>
          <a:ln/>
        </p:spPr>
        <p:txBody>
          <a:bodyPr wrap="square" lIns="0" tIns="0" rIns="0" bIns="0" rtlCol="0" anchor="ctr"/>
          <a:lstStyle/>
          <a:p>
            <a:pPr marL="0" indent="0" algn="l">
              <a:buNone/>
            </a:pPr>
            <a:r>
              <a:rPr lang="en-US" sz="900" dirty="0">
                <a:solidFill>
                  <a:srgbClr val="5C6B7A"/>
                </a:solidFill>
                <a:latin typeface="Arial" pitchFamily="34" charset="0"/>
                <a:ea typeface="Arial" pitchFamily="34" charset="-122"/>
                <a:cs typeface="Arial" pitchFamily="34" charset="-120"/>
              </a:rPr>
              <a:t>Sascha Schulz     ·     Lagerverwaltung von medizinischem Verbrauchsmaterial im Krankenhaus</a:t>
            </a:r>
            <a:endParaRPr lang="en-US" sz="900" dirty="0"/>
          </a:p>
        </p:txBody>
      </p:sp>
      <p:sp>
        <p:nvSpPr>
          <p:cNvPr id="143" name="ExtraText 120"/>
          <p:cNvSpPr/>
          <p:nvPr/>
        </p:nvSpPr>
        <p:spPr>
          <a:xfrm>
            <a:off x="640080" y="5650000"/>
            <a:ext cx="10881360" cy="365760"/>
          </a:xfrm>
          <a:prstGeom prst="rect">
            <a:avLst/>
          </a:prstGeom>
          <a:noFill/>
        </p:spPr>
        <p:txBody>
          <a:bodyPr lIns="0" tIns="0" rIns="0" bIns="0" anchor="ctr"/>
          <a:lstStyle/>
          <a:p>
            <a:r>
              <a:rPr lang="de-DE" sz="1300" i="1" dirty="0">
                <a:solidFill>
                  <a:srgbClr val="5C6B7A"/>
                </a:solidFill>
                <a:latin typeface="Arial"/>
              </a:rPr>
              <a:t>Jede Buchung bleibt erhalten – diese Historie ist zugleich die Grundlage der Bestandsberechnung.</a:t>
            </a:r>
          </a:p>
        </p:txBody>
      </p:sp>
      <p:sp>
        <p:nvSpPr>
          <p:cNvPr id="141" name="!!scrolltrack"/>
          <p:cNvSpPr/>
          <p:nvPr/>
        </p:nvSpPr>
        <p:spPr>
          <a:xfrm>
            <a:off x="11979240" y="457200"/>
            <a:ext cx="27432" cy="5943600"/>
          </a:xfrm>
          <a:prstGeom prst="roundRect">
            <a:avLst>
              <a:gd name="adj" fmla="val 50000"/>
            </a:avLst>
          </a:prstGeom>
          <a:solidFill>
            <a:srgbClr val="E3E9F1"/>
          </a:solidFill>
          <a:ln/>
        </p:spPr>
      </p:sp>
      <p:sp>
        <p:nvSpPr>
          <p:cNvPr id="142" name="!!scrollthumb"/>
          <p:cNvSpPr/>
          <p:nvPr/>
        </p:nvSpPr>
        <p:spPr>
          <a:xfrm>
            <a:off x="11979240" y="3098800"/>
            <a:ext cx="27432" cy="330200"/>
          </a:xfrm>
          <a:prstGeom prst="roundRect">
            <a:avLst>
              <a:gd name="adj" fmla="val 50000"/>
            </a:avLst>
          </a:prstGeom>
          <a:solidFill>
            <a:srgbClr val="2E5A88"/>
          </a:solidFill>
          <a:ln/>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B"/>
        </a:solidFill>
        <a:effectLst/>
      </p:bgPr>
    </p:bg>
    <p:spTree>
      <p:nvGrpSpPr>
        <p:cNvPr id="1" name=""/>
        <p:cNvGrpSpPr/>
        <p:nvPr/>
      </p:nvGrpSpPr>
      <p:grpSpPr>
        <a:xfrm>
          <a:off x="0" y="0"/>
          <a:ext cx="0" cy="0"/>
          <a:chOff x="0" y="0"/>
          <a:chExt cx="0" cy="0"/>
        </a:xfrm>
      </p:grpSpPr>
      <p:sp>
        <p:nvSpPr>
          <p:cNvPr id="2" name="!!eyebrow"/>
          <p:cNvSpPr/>
          <p:nvPr/>
        </p:nvSpPr>
        <p:spPr>
          <a:xfrm>
            <a:off x="640080" y="457200"/>
            <a:ext cx="10881360" cy="320040"/>
          </a:xfrm>
          <a:prstGeom prst="rect">
            <a:avLst/>
          </a:prstGeom>
          <a:noFill/>
          <a:ln/>
        </p:spPr>
        <p:txBody>
          <a:bodyPr wrap="square" lIns="0" tIns="0" rIns="0" bIns="0" rtlCol="0" anchor="ctr"/>
          <a:lstStyle/>
          <a:p>
            <a:pPr marL="0" indent="0">
              <a:buNone/>
            </a:pPr>
            <a:r>
              <a:rPr lang="en-US" sz="1200" b="1" kern="0" spc="200" dirty="0">
                <a:solidFill>
                  <a:srgbClr val="2E5A88"/>
                </a:solidFill>
                <a:latin typeface="Arial" pitchFamily="34" charset="0"/>
                <a:ea typeface="Arial" pitchFamily="34" charset="-122"/>
                <a:cs typeface="Arial" pitchFamily="34" charset="-120"/>
              </a:rPr>
              <a:t>DIE REISE · DAS ERGEBNIS</a:t>
            </a:r>
          </a:p>
        </p:txBody>
      </p:sp>
      <p:sp>
        <p:nvSpPr>
          <p:cNvPr id="3" name="!!title"/>
          <p:cNvSpPr/>
          <p:nvPr/>
        </p:nvSpPr>
        <p:spPr>
          <a:xfrm>
            <a:off x="640080" y="786384"/>
            <a:ext cx="10972800" cy="640080"/>
          </a:xfrm>
          <a:prstGeom prst="rect">
            <a:avLst/>
          </a:prstGeom>
          <a:noFill/>
          <a:ln/>
        </p:spPr>
        <p:txBody>
          <a:bodyPr wrap="square" lIns="0" tIns="0" rIns="0" bIns="0" rtlCol="0" anchor="ctr"/>
          <a:lstStyle/>
          <a:p>
            <a:pPr marL="0" indent="0">
              <a:buNone/>
            </a:pPr>
            <a:r>
              <a:rPr lang="en-US" sz="3000" b="1" dirty="0">
                <a:solidFill>
                  <a:srgbClr val="1D3A5F"/>
                </a:solidFill>
                <a:latin typeface="Arial" pitchFamily="34" charset="0"/>
                <a:ea typeface="Arial" pitchFamily="34" charset="-122"/>
                <a:cs typeface="Arial" pitchFamily="34" charset="-120"/>
              </a:rPr>
              <a:t>Transparenz schafft Verfügbarkeit</a:t>
            </a:r>
            <a:endParaRPr lang="en-US" sz="3000" dirty="0"/>
          </a:p>
        </p:txBody>
      </p:sp>
      <p:sp>
        <p:nvSpPr>
          <p:cNvPr id="4" name="!!sub"/>
          <p:cNvSpPr/>
          <p:nvPr/>
        </p:nvSpPr>
        <p:spPr>
          <a:xfrm>
            <a:off x="640080" y="1481328"/>
            <a:ext cx="10881360" cy="457200"/>
          </a:xfrm>
          <a:prstGeom prst="rect">
            <a:avLst/>
          </a:prstGeom>
          <a:noFill/>
          <a:ln/>
        </p:spPr>
        <p:txBody>
          <a:bodyPr wrap="square" lIns="0" tIns="0" rIns="0" bIns="0" rtlCol="0" anchor="ctr"/>
          <a:lstStyle/>
          <a:p>
            <a:pPr marL="0" indent="0">
              <a:buNone/>
            </a:pPr>
            <a:r>
              <a:rPr lang="en-US" sz="1500" dirty="0">
                <a:solidFill>
                  <a:srgbClr val="5C6B7A"/>
                </a:solidFill>
                <a:latin typeface="Arial" pitchFamily="34" charset="0"/>
                <a:ea typeface="Arial" pitchFamily="34" charset="-122"/>
                <a:cs typeface="Arial" pitchFamily="34" charset="-120"/>
              </a:rPr>
              <a:t>Wie aus fehlendem Überblick planbare Versorgung wurde – und was meine Software daraus macht</a:t>
            </a:r>
          </a:p>
        </p:txBody>
      </p:sp>
      <p:sp>
        <p:nvSpPr>
          <p:cNvPr id="5" name="!!k1"/>
          <p:cNvSpPr/>
          <p:nvPr/>
        </p:nvSpPr>
        <p:spPr>
          <a:xfrm>
            <a:off x="640080" y="2331720"/>
            <a:ext cx="5100000" cy="2400000"/>
          </a:xfrm>
          <a:prstGeom prst="roundRect">
            <a:avLst>
              <a:gd name="adj" fmla="val 2687"/>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6" name="!!c1"/>
          <p:cNvSpPr/>
          <p:nvPr/>
        </p:nvSpPr>
        <p:spPr>
          <a:xfrm>
            <a:off x="932688" y="2642616"/>
            <a:ext cx="658368" cy="658368"/>
          </a:xfrm>
          <a:prstGeom prst="ellipse">
            <a:avLst/>
          </a:prstGeom>
          <a:solidFill>
            <a:srgbClr val="E8EEF5"/>
          </a:solidFill>
          <a:ln/>
        </p:spPr>
      </p:sp>
      <p:pic>
        <p:nvPicPr>
          <p:cNvPr id="7" name="Image 0" descr="preencoded.png"/>
          <p:cNvPicPr>
            <a:picLocks noChangeAspect="1"/>
          </p:cNvPicPr>
          <p:nvPr/>
        </p:nvPicPr>
        <p:blipFill>
          <a:blip r:embed="rId3"/>
          <a:stretch>
            <a:fillRect/>
          </a:stretch>
        </p:blipFill>
        <p:spPr>
          <a:xfrm>
            <a:off x="1103864" y="2813792"/>
            <a:ext cx="316017" cy="316017"/>
          </a:xfrm>
          <a:prstGeom prst="rect">
            <a:avLst/>
          </a:prstGeom>
        </p:spPr>
      </p:pic>
      <p:sp>
        <p:nvSpPr>
          <p:cNvPr id="8" name="Text 5"/>
          <p:cNvSpPr/>
          <p:nvPr/>
        </p:nvSpPr>
        <p:spPr>
          <a:xfrm>
            <a:off x="932688" y="3520440"/>
            <a:ext cx="4200000"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ea typeface="Arial" pitchFamily="34" charset="-122"/>
                <a:cs typeface="Arial" pitchFamily="34" charset="-120"/>
              </a:rPr>
              <a:t>VORHER</a:t>
            </a:r>
            <a:endParaRPr lang="en-US" sz="1200" dirty="0"/>
          </a:p>
        </p:txBody>
      </p:sp>
      <p:sp>
        <p:nvSpPr>
          <p:cNvPr id="9" name="Text 6"/>
          <p:cNvSpPr/>
          <p:nvPr/>
        </p:nvSpPr>
        <p:spPr>
          <a:xfrm>
            <a:off x="932688" y="3813048"/>
            <a:ext cx="4200000" cy="256032"/>
          </a:xfrm>
          <a:prstGeom prst="rect">
            <a:avLst/>
          </a:prstGeom>
          <a:noFill/>
          <a:ln/>
        </p:spPr>
        <p:txBody>
          <a:bodyPr wrap="square" lIns="0" tIns="0" rIns="0" bIns="0" rtlCol="0" anchor="ctr"/>
          <a:lstStyle/>
          <a:p>
            <a:pPr marL="0" indent="0">
              <a:buNone/>
            </a:pPr>
            <a:r>
              <a:rPr lang="en-US" sz="1100" dirty="0">
                <a:solidFill>
                  <a:srgbClr val="5C6B7A"/>
                </a:solidFill>
                <a:latin typeface="Arial" pitchFamily="34" charset="0"/>
                <a:ea typeface="Arial" pitchFamily="34" charset="-122"/>
                <a:cs typeface="Arial" pitchFamily="34" charset="-120"/>
              </a:rPr>
              <a:t>Bestand nur in SAP · Zugriff nur im Zentrallager</a:t>
            </a:r>
          </a:p>
        </p:txBody>
      </p:sp>
      <p:sp>
        <p:nvSpPr>
          <p:cNvPr id="10" name="Text 7"/>
          <p:cNvSpPr/>
          <p:nvPr/>
        </p:nvSpPr>
        <p:spPr>
          <a:xfrm>
            <a:off x="932688" y="4178808"/>
            <a:ext cx="4200000" cy="548640"/>
          </a:xfrm>
          <a:prstGeom prst="rect">
            <a:avLst/>
          </a:prstGeom>
          <a:noFill/>
          <a:ln/>
        </p:spPr>
        <p:txBody>
          <a:bodyPr wrap="square" lIns="0" tIns="0" rIns="0" bIns="0" rtlCol="0" anchor="t"/>
          <a:lstStyle/>
          <a:p>
            <a:pPr marL="0" indent="0">
              <a:lnSpc>
                <a:spcPct val="105000"/>
              </a:lnSpc>
              <a:buNone/>
            </a:pPr>
            <a:r>
              <a:rPr lang="en-US" sz="1800" b="1" dirty="0">
                <a:solidFill>
                  <a:srgbClr val="1D3A5F"/>
                </a:solidFill>
                <a:latin typeface="Arial" pitchFamily="34" charset="0"/>
                <a:ea typeface="Arial" pitchFamily="34" charset="-122"/>
                <a:cs typeface="Arial" pitchFamily="34" charset="-120"/>
              </a:rPr>
              <a:t>Stationen bestellten im Blindflug</a:t>
            </a:r>
          </a:p>
        </p:txBody>
      </p:sp>
      <p:sp>
        <p:nvSpPr>
          <p:cNvPr id="11" name="!!k2"/>
          <p:cNvSpPr/>
          <p:nvPr/>
        </p:nvSpPr>
        <p:spPr>
          <a:xfrm>
            <a:off x="6451920" y="2331720"/>
            <a:ext cx="5100000" cy="2400000"/>
          </a:xfrm>
          <a:prstGeom prst="roundRect">
            <a:avLst>
              <a:gd name="adj" fmla="val 2687"/>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12" name="!!c2"/>
          <p:cNvSpPr/>
          <p:nvPr/>
        </p:nvSpPr>
        <p:spPr>
          <a:xfrm>
            <a:off x="6744528" y="2642616"/>
            <a:ext cx="658368" cy="658368"/>
          </a:xfrm>
          <a:prstGeom prst="ellipse">
            <a:avLst/>
          </a:prstGeom>
          <a:solidFill>
            <a:srgbClr val="E8EEF5"/>
          </a:solidFill>
          <a:ln/>
        </p:spPr>
      </p:sp>
      <p:pic>
        <p:nvPicPr>
          <p:cNvPr id="13" name="Image 1" descr="preencoded.png"/>
          <p:cNvPicPr>
            <a:picLocks noChangeAspect="1"/>
          </p:cNvPicPr>
          <p:nvPr/>
        </p:nvPicPr>
        <p:blipFill>
          <a:blip r:embed="rId4"/>
          <a:stretch>
            <a:fillRect/>
          </a:stretch>
        </p:blipFill>
        <p:spPr>
          <a:xfrm>
            <a:off x="6915704" y="2813792"/>
            <a:ext cx="316017" cy="316017"/>
          </a:xfrm>
          <a:prstGeom prst="rect">
            <a:avLst/>
          </a:prstGeom>
        </p:spPr>
      </p:pic>
      <p:sp>
        <p:nvSpPr>
          <p:cNvPr id="14" name="Text 10"/>
          <p:cNvSpPr/>
          <p:nvPr/>
        </p:nvSpPr>
        <p:spPr>
          <a:xfrm>
            <a:off x="6744528" y="3520440"/>
            <a:ext cx="4200000"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ea typeface="Arial" pitchFamily="34" charset="-122"/>
                <a:cs typeface="Arial" pitchFamily="34" charset="-120"/>
              </a:rPr>
              <a:t>MIT AMONDIS</a:t>
            </a:r>
            <a:endParaRPr lang="en-US" sz="1200" dirty="0"/>
          </a:p>
        </p:txBody>
      </p:sp>
      <p:sp>
        <p:nvSpPr>
          <p:cNvPr id="15" name="Text 11"/>
          <p:cNvSpPr/>
          <p:nvPr/>
        </p:nvSpPr>
        <p:spPr>
          <a:xfrm>
            <a:off x="6744528" y="3813048"/>
            <a:ext cx="4200000" cy="256032"/>
          </a:xfrm>
          <a:prstGeom prst="rect">
            <a:avLst/>
          </a:prstGeom>
          <a:noFill/>
          <a:ln/>
        </p:spPr>
        <p:txBody>
          <a:bodyPr wrap="square" lIns="0" tIns="0" rIns="0" bIns="0" rtlCol="0" anchor="ctr"/>
          <a:lstStyle/>
          <a:p>
            <a:pPr marL="0" indent="0">
              <a:buNone/>
            </a:pPr>
            <a:r>
              <a:rPr lang="en-US" sz="1100" dirty="0">
                <a:solidFill>
                  <a:srgbClr val="5C6B7A"/>
                </a:solidFill>
                <a:latin typeface="Arial" pitchFamily="34" charset="0"/>
                <a:ea typeface="Arial" pitchFamily="34" charset="-122"/>
                <a:cs typeface="Arial" pitchFamily="34" charset="-120"/>
              </a:rPr>
              <a:t>Für alle sichtbar</a:t>
            </a:r>
            <a:endParaRPr lang="en-US" sz="1100" dirty="0"/>
          </a:p>
        </p:txBody>
      </p:sp>
      <p:sp>
        <p:nvSpPr>
          <p:cNvPr id="16" name="Text 12"/>
          <p:cNvSpPr/>
          <p:nvPr/>
        </p:nvSpPr>
        <p:spPr>
          <a:xfrm>
            <a:off x="6744528" y="4178808"/>
            <a:ext cx="4200000" cy="548640"/>
          </a:xfrm>
          <a:prstGeom prst="rect">
            <a:avLst/>
          </a:prstGeom>
          <a:noFill/>
          <a:ln/>
        </p:spPr>
        <p:txBody>
          <a:bodyPr wrap="square" lIns="0" tIns="0" rIns="0" bIns="0" rtlCol="0" anchor="t"/>
          <a:lstStyle/>
          <a:p>
            <a:pPr marL="0" indent="0">
              <a:lnSpc>
                <a:spcPct val="105000"/>
              </a:lnSpc>
              <a:buNone/>
            </a:pPr>
            <a:r>
              <a:rPr lang="en-US" sz="1800" b="1" dirty="0">
                <a:solidFill>
                  <a:srgbClr val="1D3A5F"/>
                </a:solidFill>
                <a:latin typeface="Arial" pitchFamily="34" charset="0"/>
                <a:ea typeface="Arial" pitchFamily="34" charset="-122"/>
                <a:cs typeface="Arial" pitchFamily="34" charset="-120"/>
              </a:rPr>
              <a:t>Jeder sieht selbst</a:t>
            </a:r>
            <a:endParaRPr lang="en-US" sz="1800" dirty="0"/>
          </a:p>
        </p:txBody>
      </p:sp>
      <p:sp>
        <p:nvSpPr>
          <p:cNvPr id="17" name="!!k3"/>
          <p:cNvSpPr/>
          <p:nvPr/>
        </p:nvSpPr>
        <p:spPr>
          <a:xfrm>
            <a:off x="640080" y="5006639"/>
            <a:ext cx="10911840" cy="1232563"/>
          </a:xfrm>
          <a:prstGeom prst="roundRect">
            <a:avLst>
              <a:gd name="adj" fmla="val 2687"/>
            </a:avLst>
          </a:prstGeom>
          <a:solidFill>
            <a:srgbClr val="1D3A5F"/>
          </a:solidFill>
          <a:effectLst>
            <a:outerShdw blurRad="114300" dist="38100" dir="5400000" algn="bl" rotWithShape="0">
              <a:srgbClr val="7A8AA0">
                <a:alpha val="22000"/>
              </a:srgbClr>
            </a:outerShdw>
          </a:effectLst>
        </p:spPr>
      </p:sp>
      <p:sp>
        <p:nvSpPr>
          <p:cNvPr id="18" name="!!c3"/>
          <p:cNvSpPr/>
          <p:nvPr/>
        </p:nvSpPr>
        <p:spPr>
          <a:xfrm>
            <a:off x="914400" y="5215176"/>
            <a:ext cx="658368" cy="658368"/>
          </a:xfrm>
          <a:prstGeom prst="ellipse">
            <a:avLst/>
          </a:prstGeom>
          <a:solidFill>
            <a:srgbClr val="FFFFFF"/>
          </a:solidFill>
          <a:ln/>
        </p:spPr>
      </p:sp>
      <p:pic>
        <p:nvPicPr>
          <p:cNvPr id="19" name="Image 2" descr="preencoded.png"/>
          <p:cNvPicPr>
            <a:picLocks noChangeAspect="1"/>
          </p:cNvPicPr>
          <p:nvPr/>
        </p:nvPicPr>
        <p:blipFill>
          <a:blip r:embed="rId5"/>
          <a:stretch>
            <a:fillRect/>
          </a:stretch>
        </p:blipFill>
        <p:spPr>
          <a:xfrm>
            <a:off x="1085576" y="5386352"/>
            <a:ext cx="316017" cy="316017"/>
          </a:xfrm>
          <a:prstGeom prst="rect">
            <a:avLst/>
          </a:prstGeom>
        </p:spPr>
      </p:pic>
      <p:sp>
        <p:nvSpPr>
          <p:cNvPr id="20" name="Text 15"/>
          <p:cNvSpPr/>
          <p:nvPr/>
        </p:nvSpPr>
        <p:spPr>
          <a:xfrm>
            <a:off x="1783080" y="5100000"/>
            <a:ext cx="9500000" cy="274320"/>
          </a:xfrm>
          <a:prstGeom prst="rect">
            <a:avLst/>
          </a:prstGeom>
          <a:noFill/>
          <a:ln/>
        </p:spPr>
        <p:txBody>
          <a:bodyPr wrap="square" lIns="0" tIns="0" rIns="0" bIns="0" rtlCol="0" anchor="ctr"/>
          <a:lstStyle/>
          <a:p>
            <a:pPr marL="0" indent="0">
              <a:buNone/>
            </a:pPr>
            <a:r>
              <a:rPr lang="en-US" sz="1200" b="1" kern="0" spc="100" dirty="0">
                <a:solidFill>
                  <a:srgbClr val="8FB4DD"/>
                </a:solidFill>
                <a:latin typeface="Arial" pitchFamily="34" charset="0"/>
                <a:ea typeface="Arial" pitchFamily="34" charset="-122"/>
                <a:cs typeface="Arial" pitchFamily="34" charset="-120"/>
              </a:rPr>
              <a:t>WIRKUNG</a:t>
            </a:r>
            <a:endParaRPr lang="en-US" sz="1200" dirty="0"/>
          </a:p>
        </p:txBody>
      </p:sp>
      <p:sp>
        <p:nvSpPr>
          <p:cNvPr id="21" name="Text 16"/>
          <p:cNvSpPr/>
          <p:nvPr/>
        </p:nvSpPr>
        <p:spPr>
          <a:xfrm>
            <a:off x="1783080" y="5400000"/>
            <a:ext cx="9500000" cy="411480"/>
          </a:xfrm>
          <a:prstGeom prst="rect">
            <a:avLst/>
          </a:prstGeom>
          <a:noFill/>
          <a:ln/>
        </p:spPr>
        <p:txBody>
          <a:bodyPr wrap="square" lIns="0" tIns="0" rIns="0" bIns="0" rtlCol="0" anchor="ctr"/>
          <a:lstStyle/>
          <a:p>
            <a:pPr marL="0" indent="0">
              <a:buNone/>
            </a:pPr>
            <a:r>
              <a:rPr lang="en-US" sz="1800" b="1" dirty="0" err="1">
                <a:solidFill>
                  <a:srgbClr val="FFFFFF"/>
                </a:solidFill>
                <a:latin typeface="Arial" pitchFamily="34" charset="0"/>
                <a:ea typeface="Arial" pitchFamily="34" charset="-122"/>
                <a:cs typeface="Arial" pitchFamily="34" charset="-120"/>
              </a:rPr>
              <a:t>Engpässe</a:t>
            </a:r>
            <a:r>
              <a:rPr lang="en-US" sz="1800" b="1" dirty="0">
                <a:solidFill>
                  <a:srgbClr val="FFFFFF"/>
                </a:solidFill>
                <a:latin typeface="Arial" pitchFamily="34" charset="0"/>
                <a:ea typeface="Arial" pitchFamily="34" charset="-122"/>
                <a:cs typeface="Arial" pitchFamily="34" charset="-120"/>
              </a:rPr>
              <a:t> </a:t>
            </a:r>
            <a:r>
              <a:rPr lang="en-US" sz="1800" b="1" dirty="0" err="1">
                <a:solidFill>
                  <a:srgbClr val="FFFFFF"/>
                </a:solidFill>
                <a:latin typeface="Arial" pitchFamily="34" charset="0"/>
                <a:ea typeface="Arial" pitchFamily="34" charset="-122"/>
                <a:cs typeface="Arial" pitchFamily="34" charset="-120"/>
              </a:rPr>
              <a:t>gingen</a:t>
            </a:r>
            <a:r>
              <a:rPr lang="en-US" sz="1800" b="1" dirty="0">
                <a:solidFill>
                  <a:srgbClr val="FFFFFF"/>
                </a:solidFill>
                <a:latin typeface="Arial" pitchFamily="34" charset="0"/>
                <a:ea typeface="Arial" pitchFamily="34" charset="-122"/>
                <a:cs typeface="Arial" pitchFamily="34" charset="-120"/>
              </a:rPr>
              <a:t> </a:t>
            </a:r>
            <a:r>
              <a:rPr lang="en-US" sz="1800" b="1" dirty="0" err="1">
                <a:solidFill>
                  <a:srgbClr val="FFFFFF"/>
                </a:solidFill>
                <a:latin typeface="Arial" pitchFamily="34" charset="0"/>
                <a:ea typeface="Arial" pitchFamily="34" charset="-122"/>
                <a:cs typeface="Arial" pitchFamily="34" charset="-120"/>
              </a:rPr>
              <a:t>spürbar</a:t>
            </a:r>
            <a:r>
              <a:rPr lang="en-US" sz="1800" b="1" dirty="0">
                <a:solidFill>
                  <a:srgbClr val="FFFFFF"/>
                </a:solidFill>
                <a:latin typeface="Arial" pitchFamily="34" charset="0"/>
                <a:ea typeface="Arial" pitchFamily="34" charset="-122"/>
                <a:cs typeface="Arial" pitchFamily="34" charset="-120"/>
              </a:rPr>
              <a:t> </a:t>
            </a:r>
            <a:r>
              <a:rPr lang="en-US" sz="1800" b="1" dirty="0" err="1">
                <a:solidFill>
                  <a:srgbClr val="FFFFFF"/>
                </a:solidFill>
                <a:latin typeface="Arial" pitchFamily="34" charset="0"/>
                <a:ea typeface="Arial" pitchFamily="34" charset="-122"/>
                <a:cs typeface="Arial" pitchFamily="34" charset="-120"/>
              </a:rPr>
              <a:t>zurück</a:t>
            </a:r>
            <a:r>
              <a:rPr lang="en-US" sz="1800" b="1" dirty="0">
                <a:solidFill>
                  <a:srgbClr val="FFFFFF"/>
                </a:solidFill>
                <a:latin typeface="Arial" pitchFamily="34" charset="0"/>
                <a:ea typeface="Arial" pitchFamily="34" charset="-122"/>
                <a:cs typeface="Arial" pitchFamily="34" charset="-120"/>
              </a:rPr>
              <a:t> – gezielt verteilt statt gehortet.</a:t>
            </a:r>
          </a:p>
        </p:txBody>
      </p:sp>
      <p:sp>
        <p:nvSpPr>
          <p:cNvPr id="22" name="Text 17"/>
          <p:cNvSpPr/>
          <p:nvPr/>
        </p:nvSpPr>
        <p:spPr>
          <a:xfrm>
            <a:off x="1783080" y="5810000"/>
            <a:ext cx="9500000" cy="274320"/>
          </a:xfrm>
          <a:prstGeom prst="rect">
            <a:avLst/>
          </a:prstGeom>
          <a:noFill/>
          <a:ln/>
        </p:spPr>
        <p:txBody>
          <a:bodyPr wrap="square" lIns="0" tIns="0" rIns="0" bIns="0" rtlCol="0" anchor="t"/>
          <a:lstStyle/>
          <a:p>
            <a:pPr marL="0" indent="0">
              <a:lnSpc>
                <a:spcPct val="105000"/>
              </a:lnSpc>
              <a:buNone/>
            </a:pPr>
            <a:r>
              <a:rPr lang="en-US" sz="1800" b="1" i="1" dirty="0">
                <a:solidFill>
                  <a:srgbClr val="8FB4DD"/>
                </a:solidFill>
                <a:latin typeface="Arial" pitchFamily="34" charset="0"/>
                <a:ea typeface="Arial" pitchFamily="34" charset="-122"/>
                <a:cs typeface="Arial" pitchFamily="34" charset="-120"/>
              </a:rPr>
              <a:t>Dieses Prinzip steckt heute in meiner eigenen Software.</a:t>
            </a:r>
          </a:p>
        </p:txBody>
      </p:sp>
      <p:sp>
        <p:nvSpPr>
          <p:cNvPr id="23" name="Text 18"/>
          <p:cNvSpPr/>
          <p:nvPr/>
        </p:nvSpPr>
        <p:spPr>
          <a:xfrm>
            <a:off x="8449056" y="4873752"/>
            <a:ext cx="2807208" cy="411480"/>
          </a:xfrm>
          <a:prstGeom prst="rect">
            <a:avLst/>
          </a:prstGeom>
          <a:noFill/>
          <a:ln/>
        </p:spPr>
        <p:txBody>
          <a:bodyPr wrap="square" lIns="0" tIns="0" rIns="0" bIns="0" rtlCol="0" anchor="t"/>
          <a:lstStyle/>
          <a:p>
            <a:pPr marL="0" indent="0">
              <a:buNone/>
            </a:pPr>
            <a:endParaRPr/>
          </a:p>
        </p:txBody>
      </p:sp>
      <p:sp>
        <p:nvSpPr>
          <p:cNvPr id="100" name="!!ar1"/>
          <p:cNvSpPr/>
          <p:nvPr/>
        </p:nvSpPr>
        <p:spPr>
          <a:xfrm>
            <a:off x="5740080" y="3257400"/>
            <a:ext cx="711840" cy="548640"/>
          </a:xfrm>
          <a:prstGeom prst="rect">
            <a:avLst/>
          </a:prstGeom>
          <a:noFill/>
        </p:spPr>
        <p:txBody>
          <a:bodyPr lIns="0" tIns="0" rIns="0" bIns="0" anchor="ctr"/>
          <a:lstStyle/>
          <a:p>
            <a:pPr algn="ctr"/>
            <a:r>
              <a:rPr lang="de-DE" sz="3600" b="1">
                <a:solidFill>
                  <a:srgbClr val="2E5A88"/>
                </a:solidFill>
                <a:latin typeface="Arial"/>
              </a:rPr>
              <a:t>→</a:t>
            </a:r>
          </a:p>
        </p:txBody>
      </p:sp>
      <p:sp>
        <p:nvSpPr>
          <p:cNvPr id="24" name="!!foot"/>
          <p:cNvSpPr/>
          <p:nvPr/>
        </p:nvSpPr>
        <p:spPr>
          <a:xfrm>
            <a:off x="640080" y="6437376"/>
            <a:ext cx="10908792" cy="274320"/>
          </a:xfrm>
          <a:prstGeom prst="rect">
            <a:avLst/>
          </a:prstGeom>
          <a:noFill/>
          <a:ln/>
        </p:spPr>
        <p:txBody>
          <a:bodyPr wrap="square" lIns="0" tIns="0" rIns="0" bIns="0" rtlCol="0" anchor="ctr"/>
          <a:lstStyle/>
          <a:p>
            <a:pPr marL="0" indent="0" algn="l">
              <a:buNone/>
            </a:pPr>
            <a:r>
              <a:rPr lang="en-US" sz="900" dirty="0">
                <a:solidFill>
                  <a:srgbClr val="5C6B7A"/>
                </a:solidFill>
                <a:latin typeface="Arial" pitchFamily="34" charset="0"/>
                <a:ea typeface="Arial" pitchFamily="34" charset="-122"/>
                <a:cs typeface="Arial" pitchFamily="34" charset="-120"/>
              </a:rPr>
              <a:t>Sascha Schulz     ·     Lagerverwaltung von medizinischem Verbrauchsmaterial im Krankenhaus</a:t>
            </a:r>
            <a:endParaRPr lang="en-US" sz="900" dirty="0"/>
          </a:p>
        </p:txBody>
      </p:sp>
      <p:sp>
        <p:nvSpPr>
          <p:cNvPr id="101" name="!!scrolltrack"/>
          <p:cNvSpPr/>
          <p:nvPr/>
        </p:nvSpPr>
        <p:spPr>
          <a:xfrm>
            <a:off x="11979240" y="457200"/>
            <a:ext cx="27432" cy="5943600"/>
          </a:xfrm>
          <a:prstGeom prst="roundRect">
            <a:avLst>
              <a:gd name="adj" fmla="val 50000"/>
            </a:avLst>
          </a:prstGeom>
          <a:solidFill>
            <a:srgbClr val="E3E9F1"/>
          </a:solidFill>
          <a:ln/>
        </p:spPr>
      </p:sp>
      <p:sp>
        <p:nvSpPr>
          <p:cNvPr id="102" name="!!scrollthumb"/>
          <p:cNvSpPr/>
          <p:nvPr/>
        </p:nvSpPr>
        <p:spPr>
          <a:xfrm>
            <a:off x="11979240" y="3429000"/>
            <a:ext cx="27432" cy="330200"/>
          </a:xfrm>
          <a:prstGeom prst="roundRect">
            <a:avLst>
              <a:gd name="adj" fmla="val 50000"/>
            </a:avLst>
          </a:prstGeom>
          <a:solidFill>
            <a:srgbClr val="2E5A88"/>
          </a:solidFill>
          <a:ln/>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a:effectLst/>
      </p:bgPr>
    </p:bg>
    <p:spTree>
      <p:nvGrpSpPr>
        <p:cNvPr id="1" name=""/>
        <p:cNvGrpSpPr/>
        <p:nvPr/>
      </p:nvGrpSpPr>
      <p:grpSpPr>
        <a:xfrm>
          <a:off x="0" y="0"/>
          <a:ext cx="0" cy="0"/>
          <a:chOff x="0" y="0"/>
          <a:chExt cx="0" cy="0"/>
        </a:xfrm>
      </p:grpSpPr>
      <p:sp>
        <p:nvSpPr>
          <p:cNvPr id="2" name="!!eyebrow"/>
          <p:cNvSpPr/>
          <p:nvPr/>
        </p:nvSpPr>
        <p:spPr>
          <a:xfrm>
            <a:off x="640080" y="457200"/>
            <a:ext cx="10881360" cy="320040"/>
          </a:xfrm>
          <a:prstGeom prst="rect">
            <a:avLst/>
          </a:prstGeom>
          <a:noFill/>
          <a:ln/>
        </p:spPr>
        <p:txBody>
          <a:bodyPr wrap="square" lIns="0" tIns="0" rIns="0" bIns="0" rtlCol="0" anchor="ctr"/>
          <a:lstStyle/>
          <a:p>
            <a:pPr marL="0" indent="0">
              <a:buNone/>
            </a:pPr>
            <a:r>
              <a:rPr lang="en-US" sz="1200" b="1" kern="0" spc="200" dirty="0">
                <a:solidFill>
                  <a:srgbClr val="2E5A88"/>
                </a:solidFill>
                <a:latin typeface="Arial" pitchFamily="34" charset="0"/>
                <a:ea typeface="Arial" pitchFamily="34" charset="-122"/>
                <a:cs typeface="Arial" pitchFamily="34" charset="-120"/>
              </a:rPr>
              <a:t>SRH-VORGABEN</a:t>
            </a:r>
          </a:p>
        </p:txBody>
      </p:sp>
      <p:sp>
        <p:nvSpPr>
          <p:cNvPr id="3" name="!!title"/>
          <p:cNvSpPr/>
          <p:nvPr/>
        </p:nvSpPr>
        <p:spPr>
          <a:xfrm>
            <a:off x="640080" y="786384"/>
            <a:ext cx="10972800" cy="640080"/>
          </a:xfrm>
          <a:prstGeom prst="rect">
            <a:avLst/>
          </a:prstGeom>
          <a:noFill/>
          <a:ln/>
        </p:spPr>
        <p:txBody>
          <a:bodyPr wrap="square" lIns="0" tIns="0" rIns="0" bIns="0" rtlCol="0" anchor="ctr"/>
          <a:lstStyle/>
          <a:p>
            <a:pPr marL="0" indent="0">
              <a:buNone/>
            </a:pPr>
            <a:r>
              <a:rPr lang="en-US" sz="3000" b="1" dirty="0">
                <a:solidFill>
                  <a:srgbClr val="1D3A5F"/>
                </a:solidFill>
                <a:latin typeface="Arial" pitchFamily="34" charset="0"/>
                <a:ea typeface="Arial" pitchFamily="34" charset="-122"/>
                <a:cs typeface="Arial" pitchFamily="34" charset="-120"/>
              </a:rPr>
              <a:t>Die vier Pflichtanforderungen</a:t>
            </a:r>
            <a:endParaRPr lang="en-US" sz="3000" dirty="0"/>
          </a:p>
        </p:txBody>
      </p:sp>
      <p:sp>
        <p:nvSpPr>
          <p:cNvPr id="4" name="!!sub"/>
          <p:cNvSpPr/>
          <p:nvPr/>
        </p:nvSpPr>
        <p:spPr>
          <a:xfrm>
            <a:off x="640080" y="1481328"/>
            <a:ext cx="10881360" cy="457200"/>
          </a:xfrm>
          <a:prstGeom prst="rect">
            <a:avLst/>
          </a:prstGeom>
          <a:noFill/>
          <a:ln/>
        </p:spPr>
        <p:txBody>
          <a:bodyPr wrap="square" lIns="0" tIns="0" rIns="0" bIns="0" rtlCol="0" anchor="ctr"/>
          <a:lstStyle/>
          <a:p>
            <a:pPr marL="0" indent="0">
              <a:buNone/>
            </a:pPr>
            <a:r>
              <a:rPr lang="en-US" sz="1500" dirty="0">
                <a:solidFill>
                  <a:srgbClr val="5C6B7A"/>
                </a:solidFill>
                <a:latin typeface="Arial" pitchFamily="34" charset="0"/>
                <a:ea typeface="Arial" pitchFamily="34" charset="-122"/>
                <a:cs typeface="Arial" pitchFamily="34" charset="-120"/>
              </a:rPr>
              <a:t>Drei vollständig erfüllt – beim CRUD habe ich mich für die modernere, erweiterbare Basis entschieden.</a:t>
            </a:r>
          </a:p>
        </p:txBody>
      </p:sp>
      <p:sp>
        <p:nvSpPr>
          <p:cNvPr id="5" name="!!k1"/>
          <p:cNvSpPr/>
          <p:nvPr/>
        </p:nvSpPr>
        <p:spPr>
          <a:xfrm>
            <a:off x="640080" y="2377440"/>
            <a:ext cx="2521458" cy="2240280"/>
          </a:xfrm>
          <a:prstGeom prst="roundRect">
            <a:avLst>
              <a:gd name="adj" fmla="val 367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6" name="!!c1"/>
          <p:cNvSpPr/>
          <p:nvPr/>
        </p:nvSpPr>
        <p:spPr>
          <a:xfrm>
            <a:off x="896112" y="2670048"/>
            <a:ext cx="640080" cy="640080"/>
          </a:xfrm>
          <a:prstGeom prst="ellipse">
            <a:avLst/>
          </a:prstGeom>
          <a:solidFill>
            <a:srgbClr val="E8EEF5"/>
          </a:solidFill>
          <a:ln/>
        </p:spPr>
      </p:sp>
      <p:pic>
        <p:nvPicPr>
          <p:cNvPr id="7" name="Image 0" descr="preencoded.png"/>
          <p:cNvPicPr>
            <a:picLocks noChangeAspect="1"/>
          </p:cNvPicPr>
          <p:nvPr/>
        </p:nvPicPr>
        <p:blipFill>
          <a:blip r:embed="rId3"/>
          <a:stretch>
            <a:fillRect/>
          </a:stretch>
        </p:blipFill>
        <p:spPr>
          <a:xfrm>
            <a:off x="1062533" y="2836469"/>
            <a:ext cx="307238" cy="307238"/>
          </a:xfrm>
          <a:prstGeom prst="rect">
            <a:avLst/>
          </a:prstGeom>
        </p:spPr>
      </p:pic>
      <p:sp>
        <p:nvSpPr>
          <p:cNvPr id="8" name="Text 5"/>
          <p:cNvSpPr/>
          <p:nvPr/>
        </p:nvSpPr>
        <p:spPr>
          <a:xfrm>
            <a:off x="896112" y="3474720"/>
            <a:ext cx="2009394" cy="640080"/>
          </a:xfrm>
          <a:prstGeom prst="rect">
            <a:avLst/>
          </a:prstGeom>
          <a:noFill/>
          <a:ln/>
        </p:spPr>
        <p:txBody>
          <a:bodyPr wrap="square" lIns="0" tIns="0" rIns="0" bIns="0" rtlCol="0" anchor="t"/>
          <a:lstStyle/>
          <a:p>
            <a:pPr marL="0" indent="0">
              <a:lnSpc>
                <a:spcPct val="105000"/>
              </a:lnSpc>
              <a:buNone/>
            </a:pPr>
            <a:r>
              <a:rPr lang="en-US" sz="1600" b="1" dirty="0">
                <a:solidFill>
                  <a:srgbClr val="1D3A5F"/>
                </a:solidFill>
                <a:latin typeface="Arial" pitchFamily="34" charset="0"/>
                <a:ea typeface="Arial" pitchFamily="34" charset="-122"/>
                <a:cs typeface="Arial" pitchFamily="34" charset="-120"/>
              </a:rPr>
              <a:t>Datenbank, 6 Tabellen</a:t>
            </a:r>
            <a:endParaRPr lang="en-US" sz="1600" dirty="0"/>
          </a:p>
        </p:txBody>
      </p:sp>
      <p:sp>
        <p:nvSpPr>
          <p:cNvPr id="9" name="Text 6"/>
          <p:cNvSpPr/>
          <p:nvPr/>
        </p:nvSpPr>
        <p:spPr>
          <a:xfrm>
            <a:off x="896112" y="4133088"/>
            <a:ext cx="2009394" cy="411480"/>
          </a:xfrm>
          <a:prstGeom prst="rect">
            <a:avLst/>
          </a:prstGeom>
          <a:noFill/>
          <a:ln/>
        </p:spPr>
        <p:txBody>
          <a:bodyPr wrap="square" lIns="0" tIns="0" rIns="0" bIns="0" rtlCol="0" anchor="t"/>
          <a:lstStyle/>
          <a:p>
            <a:pPr marL="0" indent="0">
              <a:buNone/>
            </a:pPr>
            <a:r>
              <a:rPr lang="en-US" sz="1250" dirty="0">
                <a:solidFill>
                  <a:srgbClr val="5C6B7A"/>
                </a:solidFill>
                <a:latin typeface="Arial" pitchFamily="34" charset="0"/>
                <a:ea typeface="Arial" pitchFamily="34" charset="-122"/>
                <a:cs typeface="Arial" pitchFamily="34" charset="-120"/>
              </a:rPr>
              <a:t>Vorgabe: mind. 5 Tabellen</a:t>
            </a:r>
            <a:endParaRPr lang="en-US" sz="1250" dirty="0"/>
          </a:p>
        </p:txBody>
      </p:sp>
      <p:sp>
        <p:nvSpPr>
          <p:cNvPr id="10" name="!!k2"/>
          <p:cNvSpPr/>
          <p:nvPr/>
        </p:nvSpPr>
        <p:spPr>
          <a:xfrm>
            <a:off x="3435858" y="2377440"/>
            <a:ext cx="2521458" cy="2240280"/>
          </a:xfrm>
          <a:prstGeom prst="roundRect">
            <a:avLst>
              <a:gd name="adj" fmla="val 367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11" name="!!c2"/>
          <p:cNvSpPr/>
          <p:nvPr/>
        </p:nvSpPr>
        <p:spPr>
          <a:xfrm>
            <a:off x="3691890" y="2670048"/>
            <a:ext cx="640080" cy="640080"/>
          </a:xfrm>
          <a:prstGeom prst="ellipse">
            <a:avLst/>
          </a:prstGeom>
          <a:solidFill>
            <a:srgbClr val="E8EEF5"/>
          </a:solidFill>
          <a:ln/>
        </p:spPr>
      </p:sp>
      <p:pic>
        <p:nvPicPr>
          <p:cNvPr id="12" name="Image 1" descr="preencoded.png"/>
          <p:cNvPicPr>
            <a:picLocks noChangeAspect="1"/>
          </p:cNvPicPr>
          <p:nvPr/>
        </p:nvPicPr>
        <p:blipFill>
          <a:blip r:embed="rId4"/>
          <a:stretch>
            <a:fillRect/>
          </a:stretch>
        </p:blipFill>
        <p:spPr>
          <a:xfrm>
            <a:off x="3858311" y="2836469"/>
            <a:ext cx="307238" cy="307238"/>
          </a:xfrm>
          <a:prstGeom prst="rect">
            <a:avLst/>
          </a:prstGeom>
        </p:spPr>
      </p:pic>
      <p:sp>
        <p:nvSpPr>
          <p:cNvPr id="13" name="Text 9"/>
          <p:cNvSpPr/>
          <p:nvPr/>
        </p:nvSpPr>
        <p:spPr>
          <a:xfrm>
            <a:off x="3691890" y="3474720"/>
            <a:ext cx="2009394" cy="640080"/>
          </a:xfrm>
          <a:prstGeom prst="rect">
            <a:avLst/>
          </a:prstGeom>
          <a:noFill/>
          <a:ln/>
        </p:spPr>
        <p:txBody>
          <a:bodyPr wrap="square" lIns="0" tIns="0" rIns="0" bIns="0" rtlCol="0" anchor="t"/>
          <a:lstStyle/>
          <a:p>
            <a:pPr marL="0" indent="0">
              <a:lnSpc>
                <a:spcPct val="105000"/>
              </a:lnSpc>
              <a:buNone/>
            </a:pPr>
            <a:r>
              <a:rPr lang="en-US" sz="1600" b="1" dirty="0">
                <a:solidFill>
                  <a:srgbClr val="1D3A5F"/>
                </a:solidFill>
                <a:latin typeface="Arial" pitchFamily="34" charset="0"/>
                <a:ea typeface="Arial" pitchFamily="34" charset="-122"/>
                <a:cs typeface="Arial" pitchFamily="34" charset="-120"/>
              </a:rPr>
              <a:t>Suchen &amp; Filtern</a:t>
            </a:r>
            <a:endParaRPr lang="en-US" sz="1600" dirty="0"/>
          </a:p>
        </p:txBody>
      </p:sp>
      <p:sp>
        <p:nvSpPr>
          <p:cNvPr id="14" name="Text 10"/>
          <p:cNvSpPr/>
          <p:nvPr/>
        </p:nvSpPr>
        <p:spPr>
          <a:xfrm>
            <a:off x="3691890" y="4133088"/>
            <a:ext cx="2009394" cy="411480"/>
          </a:xfrm>
          <a:prstGeom prst="rect">
            <a:avLst/>
          </a:prstGeom>
          <a:noFill/>
          <a:ln/>
        </p:spPr>
        <p:txBody>
          <a:bodyPr wrap="square" lIns="0" tIns="0" rIns="0" bIns="0" rtlCol="0" anchor="t"/>
          <a:lstStyle/>
          <a:p>
            <a:pPr marL="0" indent="0">
              <a:buNone/>
            </a:pPr>
            <a:r>
              <a:rPr lang="en-US" sz="1250" dirty="0">
                <a:solidFill>
                  <a:srgbClr val="5C6B7A"/>
                </a:solidFill>
                <a:latin typeface="Arial" pitchFamily="34" charset="0"/>
                <a:ea typeface="Arial" pitchFamily="34" charset="-122"/>
                <a:cs typeface="Arial" pitchFamily="34" charset="-120"/>
              </a:rPr>
              <a:t>Vorgabe: Suche &amp; Filter</a:t>
            </a:r>
            <a:endParaRPr lang="en-US" sz="1250" dirty="0"/>
          </a:p>
        </p:txBody>
      </p:sp>
      <p:sp>
        <p:nvSpPr>
          <p:cNvPr id="15" name="!!k3"/>
          <p:cNvSpPr/>
          <p:nvPr/>
        </p:nvSpPr>
        <p:spPr>
          <a:xfrm>
            <a:off x="6231636" y="2377440"/>
            <a:ext cx="2521458" cy="2240280"/>
          </a:xfrm>
          <a:prstGeom prst="roundRect">
            <a:avLst>
              <a:gd name="adj" fmla="val 367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16" name="!!c3"/>
          <p:cNvSpPr/>
          <p:nvPr/>
        </p:nvSpPr>
        <p:spPr>
          <a:xfrm>
            <a:off x="6487668" y="2670048"/>
            <a:ext cx="640080" cy="640080"/>
          </a:xfrm>
          <a:prstGeom prst="ellipse">
            <a:avLst/>
          </a:prstGeom>
          <a:solidFill>
            <a:srgbClr val="E8EEF5"/>
          </a:solidFill>
          <a:ln/>
        </p:spPr>
      </p:sp>
      <p:pic>
        <p:nvPicPr>
          <p:cNvPr id="17" name="Image 2" descr="preencoded.png"/>
          <p:cNvPicPr>
            <a:picLocks noChangeAspect="1"/>
          </p:cNvPicPr>
          <p:nvPr/>
        </p:nvPicPr>
        <p:blipFill>
          <a:blip r:embed="rId5"/>
          <a:stretch>
            <a:fillRect/>
          </a:stretch>
        </p:blipFill>
        <p:spPr>
          <a:xfrm>
            <a:off x="6654089" y="2836469"/>
            <a:ext cx="307238" cy="307238"/>
          </a:xfrm>
          <a:prstGeom prst="rect">
            <a:avLst/>
          </a:prstGeom>
        </p:spPr>
      </p:pic>
      <p:sp>
        <p:nvSpPr>
          <p:cNvPr id="18" name="Text 13"/>
          <p:cNvSpPr/>
          <p:nvPr/>
        </p:nvSpPr>
        <p:spPr>
          <a:xfrm>
            <a:off x="6487668" y="3474720"/>
            <a:ext cx="2009394" cy="640080"/>
          </a:xfrm>
          <a:prstGeom prst="rect">
            <a:avLst/>
          </a:prstGeom>
          <a:noFill/>
          <a:ln/>
        </p:spPr>
        <p:txBody>
          <a:bodyPr wrap="square" lIns="0" tIns="0" rIns="0" bIns="0" rtlCol="0" anchor="t"/>
          <a:lstStyle/>
          <a:p>
            <a:pPr marL="0" indent="0">
              <a:lnSpc>
                <a:spcPct val="105000"/>
              </a:lnSpc>
              <a:buNone/>
            </a:pPr>
            <a:r>
              <a:rPr lang="en-US" sz="1600" b="1" dirty="0">
                <a:solidFill>
                  <a:srgbClr val="1D3A5F"/>
                </a:solidFill>
                <a:latin typeface="Arial" pitchFamily="34" charset="0"/>
                <a:ea typeface="Arial" pitchFamily="34" charset="-122"/>
                <a:cs typeface="Arial" pitchFamily="34" charset="-120"/>
              </a:rPr>
              <a:t>Sauber getrennt (MVC)</a:t>
            </a:r>
            <a:endParaRPr lang="en-US" sz="1600" dirty="0"/>
          </a:p>
        </p:txBody>
      </p:sp>
      <p:sp>
        <p:nvSpPr>
          <p:cNvPr id="19" name="Text 14"/>
          <p:cNvSpPr/>
          <p:nvPr/>
        </p:nvSpPr>
        <p:spPr>
          <a:xfrm>
            <a:off x="6487668" y="4133088"/>
            <a:ext cx="2009394" cy="411480"/>
          </a:xfrm>
          <a:prstGeom prst="rect">
            <a:avLst/>
          </a:prstGeom>
          <a:noFill/>
          <a:ln/>
        </p:spPr>
        <p:txBody>
          <a:bodyPr wrap="square" lIns="0" tIns="0" rIns="0" bIns="0" rtlCol="0" anchor="t"/>
          <a:lstStyle/>
          <a:p>
            <a:pPr marL="0" indent="0">
              <a:buNone/>
            </a:pPr>
            <a:r>
              <a:rPr lang="en-US" sz="1250" dirty="0">
                <a:solidFill>
                  <a:srgbClr val="5C6B7A"/>
                </a:solidFill>
                <a:latin typeface="Arial" pitchFamily="34" charset="0"/>
                <a:ea typeface="Arial" pitchFamily="34" charset="-122"/>
                <a:cs typeface="Arial" pitchFamily="34" charset="-120"/>
              </a:rPr>
              <a:t>Vorgabe: MVC · umgesetzt mit DAO</a:t>
            </a:r>
            <a:endParaRPr lang="en-US" sz="1250" dirty="0"/>
          </a:p>
        </p:txBody>
      </p:sp>
      <p:sp>
        <p:nvSpPr>
          <p:cNvPr id="20" name="!!k4"/>
          <p:cNvSpPr/>
          <p:nvPr/>
        </p:nvSpPr>
        <p:spPr>
          <a:xfrm>
            <a:off x="9027414" y="2377440"/>
            <a:ext cx="2521458" cy="2240280"/>
          </a:xfrm>
          <a:prstGeom prst="roundRect">
            <a:avLst>
              <a:gd name="adj" fmla="val 367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21" name="!!c4"/>
          <p:cNvSpPr/>
          <p:nvPr/>
        </p:nvSpPr>
        <p:spPr>
          <a:xfrm>
            <a:off x="9283446" y="2670048"/>
            <a:ext cx="640080" cy="640080"/>
          </a:xfrm>
          <a:prstGeom prst="ellipse">
            <a:avLst/>
          </a:prstGeom>
          <a:solidFill>
            <a:srgbClr val="E8EEF5"/>
          </a:solidFill>
          <a:ln/>
        </p:spPr>
      </p:sp>
      <p:pic>
        <p:nvPicPr>
          <p:cNvPr id="22" name="Image 3" descr="preencoded.png"/>
          <p:cNvPicPr>
            <a:picLocks noChangeAspect="1"/>
          </p:cNvPicPr>
          <p:nvPr/>
        </p:nvPicPr>
        <p:blipFill>
          <a:blip r:embed="rId6"/>
          <a:stretch>
            <a:fillRect/>
          </a:stretch>
        </p:blipFill>
        <p:spPr>
          <a:xfrm>
            <a:off x="9449867" y="2836469"/>
            <a:ext cx="307238" cy="307238"/>
          </a:xfrm>
          <a:prstGeom prst="rect">
            <a:avLst/>
          </a:prstGeom>
        </p:spPr>
      </p:pic>
      <p:sp>
        <p:nvSpPr>
          <p:cNvPr id="23" name="Text 17"/>
          <p:cNvSpPr/>
          <p:nvPr/>
        </p:nvSpPr>
        <p:spPr>
          <a:xfrm>
            <a:off x="9283446" y="3474720"/>
            <a:ext cx="2055902" cy="640080"/>
          </a:xfrm>
          <a:prstGeom prst="rect">
            <a:avLst/>
          </a:prstGeom>
          <a:noFill/>
          <a:ln/>
        </p:spPr>
        <p:txBody>
          <a:bodyPr wrap="square" lIns="0" tIns="0" rIns="0" bIns="0" rtlCol="0" anchor="t"/>
          <a:lstStyle/>
          <a:p>
            <a:pPr marL="0" indent="0">
              <a:lnSpc>
                <a:spcPct val="105000"/>
              </a:lnSpc>
              <a:buNone/>
            </a:pPr>
            <a:r>
              <a:rPr lang="en-US" sz="1600" b="1" dirty="0">
                <a:solidFill>
                  <a:srgbClr val="1D3A5F"/>
                </a:solidFill>
                <a:latin typeface="Arial" pitchFamily="34" charset="0"/>
                <a:ea typeface="Arial" pitchFamily="34" charset="-122"/>
                <a:cs typeface="Arial" pitchFamily="34" charset="-120"/>
              </a:rPr>
              <a:t>Lesen &amp; Löschen</a:t>
            </a:r>
            <a:endParaRPr lang="en-US" sz="1600" b="1" dirty="0">
              <a:solidFill>
                <a:srgbClr val="1D3A5F"/>
              </a:solidFill>
              <a:latin typeface="Arial" pitchFamily="34" charset="0"/>
              <a:ea typeface="Arial" pitchFamily="34" charset="-122"/>
              <a:cs typeface="Arial" pitchFamily="34" charset="-120"/>
            </a:endParaRPr>
          </a:p>
        </p:txBody>
      </p:sp>
      <p:sp>
        <p:nvSpPr>
          <p:cNvPr id="24" name="Text 18"/>
          <p:cNvSpPr/>
          <p:nvPr/>
        </p:nvSpPr>
        <p:spPr>
          <a:xfrm>
            <a:off x="9283446" y="4133088"/>
            <a:ext cx="2009394" cy="411480"/>
          </a:xfrm>
          <a:prstGeom prst="rect">
            <a:avLst/>
          </a:prstGeom>
          <a:noFill/>
          <a:ln/>
        </p:spPr>
        <p:txBody>
          <a:bodyPr wrap="square" lIns="0" tIns="0" rIns="0" bIns="0" rtlCol="0" anchor="t"/>
          <a:lstStyle/>
          <a:p>
            <a:pPr marL="0" indent="0">
              <a:buNone/>
            </a:pPr>
            <a:r>
              <a:rPr lang="en-US" sz="1250" dirty="0">
                <a:solidFill>
                  <a:srgbClr val="5C6B7A"/>
                </a:solidFill>
                <a:latin typeface="Arial" pitchFamily="34" charset="0"/>
                <a:ea typeface="Arial" pitchFamily="34" charset="-122"/>
                <a:cs typeface="Arial" pitchFamily="34" charset="-120"/>
              </a:rPr>
              <a:t>Vorgabe: CRUD · teilweise umgesetzt</a:t>
            </a:r>
            <a:endParaRPr lang="en-US" sz="1250" dirty="0"/>
          </a:p>
        </p:txBody>
      </p:sp>
      <p:sp>
        <p:nvSpPr>
          <p:cNvPr id="25" name="Text 19"/>
          <p:cNvSpPr/>
          <p:nvPr/>
        </p:nvSpPr>
        <p:spPr>
          <a:xfrm>
            <a:off x="640080" y="5650000"/>
            <a:ext cx="10881360" cy="365760"/>
          </a:xfrm>
          <a:prstGeom prst="rect">
            <a:avLst/>
          </a:prstGeom>
          <a:noFill/>
          <a:ln/>
        </p:spPr>
        <p:txBody>
          <a:bodyPr wrap="square" lIns="0" tIns="0" rIns="0" bIns="0" rtlCol="0" anchor="ctr"/>
          <a:lstStyle/>
          <a:p>
            <a:pPr marL="0" indent="0">
              <a:buNone/>
            </a:pPr>
            <a:r>
              <a:rPr lang="en-US" sz="1300" i="1" dirty="0">
                <a:solidFill>
                  <a:srgbClr val="5C6B7A"/>
                </a:solidFill>
                <a:latin typeface="Arial" pitchFamily="34" charset="0"/>
                <a:ea typeface="Arial" pitchFamily="34" charset="-122"/>
                <a:cs typeface="Arial" pitchFamily="34" charset="-120"/>
              </a:rPr>
              <a:t>Lesen für alle sechs Tabellen, Löschen für Material und Kategorie – statt zweier Formulare entstand die Basis mit Generics.</a:t>
            </a:r>
            <a:endParaRPr lang="en-US" sz="1300" dirty="0"/>
          </a:p>
        </p:txBody>
      </p:sp>
      <p:sp>
        <p:nvSpPr>
          <p:cNvPr id="26" name="!!foot"/>
          <p:cNvSpPr/>
          <p:nvPr/>
        </p:nvSpPr>
        <p:spPr>
          <a:xfrm>
            <a:off x="640080" y="6437376"/>
            <a:ext cx="10908792" cy="274320"/>
          </a:xfrm>
          <a:prstGeom prst="rect">
            <a:avLst/>
          </a:prstGeom>
          <a:noFill/>
          <a:ln/>
        </p:spPr>
        <p:txBody>
          <a:bodyPr wrap="square" lIns="0" tIns="0" rIns="0" bIns="0" rtlCol="0" anchor="ctr"/>
          <a:lstStyle/>
          <a:p>
            <a:pPr marL="0" indent="0" algn="l">
              <a:buNone/>
            </a:pPr>
            <a:r>
              <a:rPr lang="en-US" sz="900" dirty="0">
                <a:solidFill>
                  <a:srgbClr val="5C6B7A"/>
                </a:solidFill>
                <a:latin typeface="Arial" pitchFamily="34" charset="0"/>
                <a:ea typeface="Arial" pitchFamily="34" charset="-122"/>
                <a:cs typeface="Arial" pitchFamily="34" charset="-120"/>
              </a:rPr>
              <a:t>Sascha Schulz     ·     Lagerverwaltung von medizinischem Verbrauchsmaterial im Krankenhaus</a:t>
            </a:r>
            <a:endParaRPr lang="en-US" sz="900" dirty="0"/>
          </a:p>
        </p:txBody>
      </p:sp>
      <p:sp>
        <p:nvSpPr>
          <p:cNvPr id="27" name="!!scrolltrack"/>
          <p:cNvSpPr/>
          <p:nvPr/>
        </p:nvSpPr>
        <p:spPr>
          <a:xfrm>
            <a:off x="11979240" y="457200"/>
            <a:ext cx="27432" cy="5943600"/>
          </a:xfrm>
          <a:prstGeom prst="roundRect">
            <a:avLst>
              <a:gd name="adj" fmla="val 50000"/>
            </a:avLst>
          </a:prstGeom>
          <a:solidFill>
            <a:srgbClr val="E3E9F1"/>
          </a:solidFill>
          <a:ln/>
        </p:spPr>
      </p:sp>
      <p:sp>
        <p:nvSpPr>
          <p:cNvPr id="28" name="!!scrollthumb"/>
          <p:cNvSpPr/>
          <p:nvPr/>
        </p:nvSpPr>
        <p:spPr>
          <a:xfrm>
            <a:off x="11979240" y="4089400"/>
            <a:ext cx="27432" cy="330200"/>
          </a:xfrm>
          <a:prstGeom prst="roundRect">
            <a:avLst>
              <a:gd name="adj" fmla="val 50000"/>
            </a:avLst>
          </a:prstGeom>
          <a:solidFill>
            <a:srgbClr val="2E5A88"/>
          </a:solidFill>
          <a:ln/>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B"/>
        </a:solidFill>
        <a:effectLst/>
      </p:bgPr>
    </p:bg>
    <p:spTree>
      <p:nvGrpSpPr>
        <p:cNvPr id="1" name=""/>
        <p:cNvGrpSpPr/>
        <p:nvPr/>
      </p:nvGrpSpPr>
      <p:grpSpPr>
        <a:xfrm>
          <a:off x="0" y="0"/>
          <a:ext cx="0" cy="0"/>
          <a:chOff x="0" y="0"/>
          <a:chExt cx="0" cy="0"/>
        </a:xfrm>
      </p:grpSpPr>
      <p:sp>
        <p:nvSpPr>
          <p:cNvPr id="2" name="!!eyebrow"/>
          <p:cNvSpPr/>
          <p:nvPr/>
        </p:nvSpPr>
        <p:spPr>
          <a:xfrm>
            <a:off x="640080" y="457200"/>
            <a:ext cx="10881360" cy="320040"/>
          </a:xfrm>
          <a:prstGeom prst="rect">
            <a:avLst/>
          </a:prstGeom>
          <a:noFill/>
          <a:ln/>
        </p:spPr>
        <p:txBody>
          <a:bodyPr wrap="square" lIns="0" tIns="0" rIns="0" bIns="0" rtlCol="0" anchor="ctr"/>
          <a:lstStyle/>
          <a:p>
            <a:pPr marL="0" indent="0">
              <a:buNone/>
            </a:pPr>
            <a:r>
              <a:rPr lang="en-US" sz="1200" b="1" kern="0" spc="200" dirty="0">
                <a:solidFill>
                  <a:srgbClr val="2E5A88"/>
                </a:solidFill>
                <a:latin typeface="Arial" pitchFamily="34" charset="0"/>
                <a:ea typeface="Arial" pitchFamily="34" charset="-122"/>
                <a:cs typeface="Arial" pitchFamily="34" charset="-120"/>
              </a:rPr>
              <a:t>UMSETZUNG IM DETAIL</a:t>
            </a:r>
          </a:p>
        </p:txBody>
      </p:sp>
      <p:sp>
        <p:nvSpPr>
          <p:cNvPr id="3" name="!!title"/>
          <p:cNvSpPr/>
          <p:nvPr/>
        </p:nvSpPr>
        <p:spPr>
          <a:xfrm>
            <a:off x="640080" y="786384"/>
            <a:ext cx="10972800" cy="640080"/>
          </a:xfrm>
          <a:prstGeom prst="rect">
            <a:avLst/>
          </a:prstGeom>
          <a:noFill/>
          <a:ln/>
        </p:spPr>
        <p:txBody>
          <a:bodyPr wrap="square" lIns="0" tIns="0" rIns="0" bIns="0" rtlCol="0" anchor="ctr"/>
          <a:lstStyle/>
          <a:p>
            <a:pPr marL="0" indent="0">
              <a:buNone/>
            </a:pPr>
            <a:r>
              <a:rPr lang="en-US" sz="3000" b="1" dirty="0">
                <a:solidFill>
                  <a:srgbClr val="1D3A5F"/>
                </a:solidFill>
                <a:latin typeface="Arial" pitchFamily="34" charset="0"/>
                <a:ea typeface="Arial" pitchFamily="34" charset="-122"/>
                <a:cs typeface="Arial" pitchFamily="34" charset="-120"/>
              </a:rPr>
              <a:t>Das Datenmodell</a:t>
            </a:r>
            <a:endParaRPr lang="en-US" sz="3000" dirty="0"/>
          </a:p>
        </p:txBody>
      </p:sp>
      <p:sp>
        <p:nvSpPr>
          <p:cNvPr id="4" name="!!sub"/>
          <p:cNvSpPr/>
          <p:nvPr/>
        </p:nvSpPr>
        <p:spPr>
          <a:xfrm>
            <a:off x="640080" y="1481328"/>
            <a:ext cx="10881360" cy="457200"/>
          </a:xfrm>
          <a:prstGeom prst="rect">
            <a:avLst/>
          </a:prstGeom>
          <a:noFill/>
          <a:ln/>
        </p:spPr>
        <p:txBody>
          <a:bodyPr wrap="square" lIns="0" tIns="0" rIns="0" bIns="0" rtlCol="0" anchor="ctr"/>
          <a:lstStyle/>
          <a:p>
            <a:pPr marL="0" indent="0">
              <a:buNone/>
            </a:pPr>
            <a:r>
              <a:rPr lang="en-US" sz="1500" dirty="0">
                <a:solidFill>
                  <a:srgbClr val="5C6B7A"/>
                </a:solidFill>
                <a:latin typeface="Arial" pitchFamily="34" charset="0"/>
                <a:ea typeface="Arial" pitchFamily="34" charset="-122"/>
                <a:cs typeface="Arial" pitchFamily="34" charset="-120"/>
              </a:rPr>
              <a:t>6 MySQL-Tabellen in 3. Normalform – das Herz der Anwendung</a:t>
            </a:r>
            <a:endParaRPr lang="en-US" sz="1500" dirty="0"/>
          </a:p>
        </p:txBody>
      </p:sp>
      <p:sp>
        <p:nvSpPr>
          <p:cNvPr id="5" name="!!k1"/>
          <p:cNvSpPr/>
          <p:nvPr/>
        </p:nvSpPr>
        <p:spPr>
          <a:xfrm>
            <a:off x="640080" y="2286000"/>
            <a:ext cx="3392424" cy="1234440"/>
          </a:xfrm>
          <a:prstGeom prst="roundRect">
            <a:avLst>
              <a:gd name="adj" fmla="val 5926"/>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6" name="!!c1"/>
          <p:cNvSpPr/>
          <p:nvPr/>
        </p:nvSpPr>
        <p:spPr>
          <a:xfrm>
            <a:off x="896112" y="2670048"/>
            <a:ext cx="502920" cy="502920"/>
          </a:xfrm>
          <a:prstGeom prst="ellipse">
            <a:avLst/>
          </a:prstGeom>
          <a:solidFill>
            <a:srgbClr val="E8EEF5"/>
          </a:solidFill>
          <a:ln/>
        </p:spPr>
      </p:sp>
      <p:pic>
        <p:nvPicPr>
          <p:cNvPr id="7" name="Image 0" descr="preencoded.png"/>
          <p:cNvPicPr>
            <a:picLocks noChangeAspect="1"/>
          </p:cNvPicPr>
          <p:nvPr/>
        </p:nvPicPr>
        <p:blipFill>
          <a:blip r:embed="rId3"/>
          <a:stretch>
            <a:fillRect/>
          </a:stretch>
        </p:blipFill>
        <p:spPr>
          <a:xfrm>
            <a:off x="1026871" y="2800807"/>
            <a:ext cx="241402" cy="241402"/>
          </a:xfrm>
          <a:prstGeom prst="rect">
            <a:avLst/>
          </a:prstGeom>
        </p:spPr>
      </p:pic>
      <p:sp>
        <p:nvSpPr>
          <p:cNvPr id="8" name="Text 5"/>
          <p:cNvSpPr/>
          <p:nvPr/>
        </p:nvSpPr>
        <p:spPr>
          <a:xfrm>
            <a:off x="1572768" y="2542032"/>
            <a:ext cx="2295144" cy="365760"/>
          </a:xfrm>
          <a:prstGeom prst="rect">
            <a:avLst/>
          </a:prstGeom>
          <a:noFill/>
          <a:ln/>
        </p:spPr>
        <p:txBody>
          <a:bodyPr wrap="square" lIns="0" tIns="0" rIns="0" bIns="0" rtlCol="0" anchor="ctr"/>
          <a:lstStyle/>
          <a:p>
            <a:pPr marL="0" indent="0">
              <a:buNone/>
            </a:pPr>
            <a:r>
              <a:rPr lang="en-US" sz="1500" b="1" dirty="0">
                <a:solidFill>
                  <a:srgbClr val="2E5A88"/>
                </a:solidFill>
                <a:latin typeface="Courier New" pitchFamily="34" charset="0"/>
                <a:ea typeface="Courier New" pitchFamily="34" charset="-122"/>
                <a:cs typeface="Courier New" pitchFamily="34" charset="-120"/>
              </a:rPr>
              <a:t>kategorien</a:t>
            </a:r>
            <a:endParaRPr lang="en-US" sz="1500" dirty="0"/>
          </a:p>
        </p:txBody>
      </p:sp>
      <p:sp>
        <p:nvSpPr>
          <p:cNvPr id="9" name="Text 6"/>
          <p:cNvSpPr/>
          <p:nvPr/>
        </p:nvSpPr>
        <p:spPr>
          <a:xfrm>
            <a:off x="1572768" y="2962656"/>
            <a:ext cx="2295144" cy="365760"/>
          </a:xfrm>
          <a:prstGeom prst="rect">
            <a:avLst/>
          </a:prstGeom>
          <a:noFill/>
          <a:ln/>
        </p:spPr>
        <p:txBody>
          <a:bodyPr wrap="square" lIns="0" tIns="0" rIns="0" bIns="0" rtlCol="0" anchor="ctr"/>
          <a:lstStyle/>
          <a:p>
            <a:pPr marL="0" indent="0">
              <a:buNone/>
            </a:pPr>
            <a:r>
              <a:rPr lang="en-US" sz="1250" dirty="0">
                <a:solidFill>
                  <a:srgbClr val="5C6B7A"/>
                </a:solidFill>
                <a:latin typeface="Arial" pitchFamily="34" charset="0"/>
                <a:ea typeface="Arial" pitchFamily="34" charset="-122"/>
                <a:cs typeface="Arial" pitchFamily="34" charset="-120"/>
              </a:rPr>
              <a:t>Materialgruppen</a:t>
            </a:r>
            <a:endParaRPr lang="en-US" sz="1250" dirty="0"/>
          </a:p>
        </p:txBody>
      </p:sp>
      <p:sp>
        <p:nvSpPr>
          <p:cNvPr id="10" name="!!k2"/>
          <p:cNvSpPr/>
          <p:nvPr/>
        </p:nvSpPr>
        <p:spPr>
          <a:xfrm>
            <a:off x="4398264" y="2286000"/>
            <a:ext cx="3392424" cy="1234440"/>
          </a:xfrm>
          <a:prstGeom prst="roundRect">
            <a:avLst>
              <a:gd name="adj" fmla="val 5926"/>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11" name="!!c2"/>
          <p:cNvSpPr/>
          <p:nvPr/>
        </p:nvSpPr>
        <p:spPr>
          <a:xfrm>
            <a:off x="4654296" y="2670048"/>
            <a:ext cx="502920" cy="502920"/>
          </a:xfrm>
          <a:prstGeom prst="ellipse">
            <a:avLst/>
          </a:prstGeom>
          <a:solidFill>
            <a:srgbClr val="E8EEF5"/>
          </a:solidFill>
          <a:ln/>
        </p:spPr>
      </p:sp>
      <p:pic>
        <p:nvPicPr>
          <p:cNvPr id="12" name="Image 1" descr="preencoded.png"/>
          <p:cNvPicPr>
            <a:picLocks noChangeAspect="1"/>
          </p:cNvPicPr>
          <p:nvPr/>
        </p:nvPicPr>
        <p:blipFill>
          <a:blip r:embed="rId4"/>
          <a:stretch>
            <a:fillRect/>
          </a:stretch>
        </p:blipFill>
        <p:spPr>
          <a:xfrm>
            <a:off x="4785055" y="2800807"/>
            <a:ext cx="241402" cy="241402"/>
          </a:xfrm>
          <a:prstGeom prst="rect">
            <a:avLst/>
          </a:prstGeom>
        </p:spPr>
      </p:pic>
      <p:sp>
        <p:nvSpPr>
          <p:cNvPr id="13" name="Text 9"/>
          <p:cNvSpPr/>
          <p:nvPr/>
        </p:nvSpPr>
        <p:spPr>
          <a:xfrm>
            <a:off x="5330952" y="2542032"/>
            <a:ext cx="2295144" cy="365760"/>
          </a:xfrm>
          <a:prstGeom prst="rect">
            <a:avLst/>
          </a:prstGeom>
          <a:noFill/>
          <a:ln/>
        </p:spPr>
        <p:txBody>
          <a:bodyPr wrap="square" lIns="0" tIns="0" rIns="0" bIns="0" rtlCol="0" anchor="ctr"/>
          <a:lstStyle/>
          <a:p>
            <a:pPr marL="0" indent="0">
              <a:buNone/>
            </a:pPr>
            <a:r>
              <a:rPr lang="en-US" sz="1500" b="1" dirty="0">
                <a:solidFill>
                  <a:srgbClr val="2E5A88"/>
                </a:solidFill>
                <a:latin typeface="Courier New" pitchFamily="34" charset="0"/>
                <a:ea typeface="Courier New" pitchFamily="34" charset="-122"/>
                <a:cs typeface="Courier New" pitchFamily="34" charset="-120"/>
              </a:rPr>
              <a:t>materialien</a:t>
            </a:r>
            <a:endParaRPr lang="en-US" sz="1500" dirty="0"/>
          </a:p>
        </p:txBody>
      </p:sp>
      <p:sp>
        <p:nvSpPr>
          <p:cNvPr id="14" name="Text 10"/>
          <p:cNvSpPr/>
          <p:nvPr/>
        </p:nvSpPr>
        <p:spPr>
          <a:xfrm>
            <a:off x="5330952" y="2962656"/>
            <a:ext cx="2295144" cy="365760"/>
          </a:xfrm>
          <a:prstGeom prst="rect">
            <a:avLst/>
          </a:prstGeom>
          <a:noFill/>
          <a:ln/>
        </p:spPr>
        <p:txBody>
          <a:bodyPr wrap="square" lIns="0" tIns="0" rIns="0" bIns="0" rtlCol="0" anchor="ctr"/>
          <a:lstStyle/>
          <a:p>
            <a:pPr marL="0" indent="0">
              <a:buNone/>
            </a:pPr>
            <a:r>
              <a:rPr lang="en-US" sz="1250" dirty="0">
                <a:solidFill>
                  <a:srgbClr val="5C6B7A"/>
                </a:solidFill>
                <a:latin typeface="Arial" pitchFamily="34" charset="0"/>
                <a:ea typeface="Arial" pitchFamily="34" charset="-122"/>
                <a:cs typeface="Arial" pitchFamily="34" charset="-120"/>
              </a:rPr>
              <a:t>Artikelstammdaten</a:t>
            </a:r>
            <a:endParaRPr lang="en-US" sz="1250" dirty="0"/>
          </a:p>
        </p:txBody>
      </p:sp>
      <p:sp>
        <p:nvSpPr>
          <p:cNvPr id="15" name="!!k3"/>
          <p:cNvSpPr/>
          <p:nvPr/>
        </p:nvSpPr>
        <p:spPr>
          <a:xfrm>
            <a:off x="8156448" y="2286000"/>
            <a:ext cx="3392424" cy="1234440"/>
          </a:xfrm>
          <a:prstGeom prst="roundRect">
            <a:avLst>
              <a:gd name="adj" fmla="val 5926"/>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16" name="!!c3"/>
          <p:cNvSpPr/>
          <p:nvPr/>
        </p:nvSpPr>
        <p:spPr>
          <a:xfrm>
            <a:off x="8412480" y="2670048"/>
            <a:ext cx="502920" cy="502920"/>
          </a:xfrm>
          <a:prstGeom prst="ellipse">
            <a:avLst/>
          </a:prstGeom>
          <a:solidFill>
            <a:srgbClr val="E8EEF5"/>
          </a:solidFill>
          <a:ln/>
        </p:spPr>
      </p:sp>
      <p:pic>
        <p:nvPicPr>
          <p:cNvPr id="17" name="Image 2" descr="preencoded.png"/>
          <p:cNvPicPr>
            <a:picLocks noChangeAspect="1"/>
          </p:cNvPicPr>
          <p:nvPr/>
        </p:nvPicPr>
        <p:blipFill>
          <a:blip r:embed="rId5"/>
          <a:stretch>
            <a:fillRect/>
          </a:stretch>
        </p:blipFill>
        <p:spPr>
          <a:xfrm>
            <a:off x="8543239" y="2800807"/>
            <a:ext cx="241402" cy="241402"/>
          </a:xfrm>
          <a:prstGeom prst="rect">
            <a:avLst/>
          </a:prstGeom>
        </p:spPr>
      </p:pic>
      <p:sp>
        <p:nvSpPr>
          <p:cNvPr id="18" name="Text 13"/>
          <p:cNvSpPr/>
          <p:nvPr/>
        </p:nvSpPr>
        <p:spPr>
          <a:xfrm>
            <a:off x="9089136" y="2542032"/>
            <a:ext cx="2295144" cy="365760"/>
          </a:xfrm>
          <a:prstGeom prst="rect">
            <a:avLst/>
          </a:prstGeom>
          <a:noFill/>
          <a:ln/>
        </p:spPr>
        <p:txBody>
          <a:bodyPr wrap="square" lIns="0" tIns="0" rIns="0" bIns="0" rtlCol="0" anchor="ctr"/>
          <a:lstStyle/>
          <a:p>
            <a:pPr marL="0" indent="0">
              <a:buNone/>
            </a:pPr>
            <a:r>
              <a:rPr lang="en-US" sz="1500" b="1" dirty="0">
                <a:solidFill>
                  <a:srgbClr val="2E5A88"/>
                </a:solidFill>
                <a:latin typeface="Courier New" pitchFamily="34" charset="0"/>
                <a:ea typeface="Courier New" pitchFamily="34" charset="-122"/>
                <a:cs typeface="Courier New" pitchFamily="34" charset="-120"/>
              </a:rPr>
              <a:t>stationslager</a:t>
            </a:r>
            <a:endParaRPr lang="en-US" sz="1500" dirty="0"/>
          </a:p>
        </p:txBody>
      </p:sp>
      <p:sp>
        <p:nvSpPr>
          <p:cNvPr id="19" name="Text 14"/>
          <p:cNvSpPr/>
          <p:nvPr/>
        </p:nvSpPr>
        <p:spPr>
          <a:xfrm>
            <a:off x="9089136" y="2962656"/>
            <a:ext cx="2295144" cy="365760"/>
          </a:xfrm>
          <a:prstGeom prst="rect">
            <a:avLst/>
          </a:prstGeom>
          <a:noFill/>
          <a:ln/>
        </p:spPr>
        <p:txBody>
          <a:bodyPr wrap="square" lIns="0" tIns="0" rIns="0" bIns="0" rtlCol="0" anchor="ctr"/>
          <a:lstStyle/>
          <a:p>
            <a:pPr marL="0" indent="0">
              <a:buNone/>
            </a:pPr>
            <a:r>
              <a:rPr lang="en-US" sz="1250" dirty="0">
                <a:solidFill>
                  <a:srgbClr val="5C6B7A"/>
                </a:solidFill>
                <a:latin typeface="Arial" pitchFamily="34" charset="0"/>
                <a:ea typeface="Arial" pitchFamily="34" charset="-122"/>
                <a:cs typeface="Arial" pitchFamily="34" charset="-120"/>
              </a:rPr>
              <a:t>Lagerorte / Stationen</a:t>
            </a:r>
            <a:endParaRPr lang="en-US" sz="1250" dirty="0"/>
          </a:p>
        </p:txBody>
      </p:sp>
      <p:sp>
        <p:nvSpPr>
          <p:cNvPr id="20" name="!!k4"/>
          <p:cNvSpPr/>
          <p:nvPr/>
        </p:nvSpPr>
        <p:spPr>
          <a:xfrm>
            <a:off x="640080" y="3840480"/>
            <a:ext cx="3392424" cy="1234440"/>
          </a:xfrm>
          <a:prstGeom prst="roundRect">
            <a:avLst>
              <a:gd name="adj" fmla="val 5926"/>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21" name="!!c4"/>
          <p:cNvSpPr/>
          <p:nvPr/>
        </p:nvSpPr>
        <p:spPr>
          <a:xfrm>
            <a:off x="896112" y="4224528"/>
            <a:ext cx="502920" cy="502920"/>
          </a:xfrm>
          <a:prstGeom prst="ellipse">
            <a:avLst/>
          </a:prstGeom>
          <a:solidFill>
            <a:srgbClr val="E8EEF5"/>
          </a:solidFill>
          <a:ln/>
        </p:spPr>
      </p:sp>
      <p:pic>
        <p:nvPicPr>
          <p:cNvPr id="22" name="Image 3" descr="preencoded.png"/>
          <p:cNvPicPr>
            <a:picLocks noChangeAspect="1"/>
          </p:cNvPicPr>
          <p:nvPr/>
        </p:nvPicPr>
        <p:blipFill>
          <a:blip r:embed="rId6"/>
          <a:stretch>
            <a:fillRect/>
          </a:stretch>
        </p:blipFill>
        <p:spPr>
          <a:xfrm>
            <a:off x="1026871" y="4355287"/>
            <a:ext cx="241402" cy="241402"/>
          </a:xfrm>
          <a:prstGeom prst="rect">
            <a:avLst/>
          </a:prstGeom>
        </p:spPr>
      </p:pic>
      <p:sp>
        <p:nvSpPr>
          <p:cNvPr id="23" name="Text 17"/>
          <p:cNvSpPr/>
          <p:nvPr/>
        </p:nvSpPr>
        <p:spPr>
          <a:xfrm>
            <a:off x="1572768" y="4096512"/>
            <a:ext cx="2295144" cy="365760"/>
          </a:xfrm>
          <a:prstGeom prst="rect">
            <a:avLst/>
          </a:prstGeom>
          <a:noFill/>
          <a:ln/>
        </p:spPr>
        <p:txBody>
          <a:bodyPr wrap="square" lIns="0" tIns="0" rIns="0" bIns="0" rtlCol="0" anchor="ctr"/>
          <a:lstStyle/>
          <a:p>
            <a:pPr marL="0" indent="0">
              <a:buNone/>
            </a:pPr>
            <a:r>
              <a:rPr lang="en-US" sz="1500" b="1" dirty="0">
                <a:solidFill>
                  <a:srgbClr val="2E5A88"/>
                </a:solidFill>
                <a:latin typeface="Courier New" pitchFamily="34" charset="0"/>
                <a:ea typeface="Courier New" pitchFamily="34" charset="-122"/>
                <a:cs typeface="Courier New" pitchFamily="34" charset="-120"/>
              </a:rPr>
              <a:t>lieferanten</a:t>
            </a:r>
            <a:endParaRPr lang="en-US" sz="1500" dirty="0"/>
          </a:p>
        </p:txBody>
      </p:sp>
      <p:sp>
        <p:nvSpPr>
          <p:cNvPr id="24" name="Text 18"/>
          <p:cNvSpPr/>
          <p:nvPr/>
        </p:nvSpPr>
        <p:spPr>
          <a:xfrm>
            <a:off x="1572768" y="4517136"/>
            <a:ext cx="2295144" cy="365760"/>
          </a:xfrm>
          <a:prstGeom prst="rect">
            <a:avLst/>
          </a:prstGeom>
          <a:noFill/>
          <a:ln/>
        </p:spPr>
        <p:txBody>
          <a:bodyPr wrap="square" lIns="0" tIns="0" rIns="0" bIns="0" rtlCol="0" anchor="ctr"/>
          <a:lstStyle/>
          <a:p>
            <a:pPr marL="0" indent="0">
              <a:buNone/>
            </a:pPr>
            <a:r>
              <a:rPr lang="en-US" sz="1250" dirty="0">
                <a:solidFill>
                  <a:srgbClr val="5C6B7A"/>
                </a:solidFill>
                <a:latin typeface="Arial" pitchFamily="34" charset="0"/>
                <a:ea typeface="Arial" pitchFamily="34" charset="-122"/>
                <a:cs typeface="Arial" pitchFamily="34" charset="-120"/>
              </a:rPr>
              <a:t>Bezugsquellen</a:t>
            </a:r>
            <a:endParaRPr lang="en-US" sz="1250" dirty="0"/>
          </a:p>
        </p:txBody>
      </p:sp>
      <p:sp>
        <p:nvSpPr>
          <p:cNvPr id="25" name="!!k5"/>
          <p:cNvSpPr/>
          <p:nvPr/>
        </p:nvSpPr>
        <p:spPr>
          <a:xfrm>
            <a:off x="4398264" y="3840480"/>
            <a:ext cx="3392424" cy="1234440"/>
          </a:xfrm>
          <a:prstGeom prst="roundRect">
            <a:avLst>
              <a:gd name="adj" fmla="val 5926"/>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26" name="!!c5"/>
          <p:cNvSpPr/>
          <p:nvPr/>
        </p:nvSpPr>
        <p:spPr>
          <a:xfrm>
            <a:off x="4654296" y="4224528"/>
            <a:ext cx="502920" cy="502920"/>
          </a:xfrm>
          <a:prstGeom prst="ellipse">
            <a:avLst/>
          </a:prstGeom>
          <a:solidFill>
            <a:srgbClr val="E8EEF5"/>
          </a:solidFill>
          <a:ln/>
        </p:spPr>
      </p:sp>
      <p:pic>
        <p:nvPicPr>
          <p:cNvPr id="27" name="Image 4" descr="preencoded.png"/>
          <p:cNvPicPr>
            <a:picLocks noChangeAspect="1"/>
          </p:cNvPicPr>
          <p:nvPr/>
        </p:nvPicPr>
        <p:blipFill>
          <a:blip r:embed="rId7"/>
          <a:stretch>
            <a:fillRect/>
          </a:stretch>
        </p:blipFill>
        <p:spPr>
          <a:xfrm>
            <a:off x="4785055" y="4355287"/>
            <a:ext cx="241402" cy="241402"/>
          </a:xfrm>
          <a:prstGeom prst="rect">
            <a:avLst/>
          </a:prstGeom>
        </p:spPr>
      </p:pic>
      <p:sp>
        <p:nvSpPr>
          <p:cNvPr id="28" name="Text 21"/>
          <p:cNvSpPr/>
          <p:nvPr/>
        </p:nvSpPr>
        <p:spPr>
          <a:xfrm>
            <a:off x="5330952" y="4096512"/>
            <a:ext cx="2295144" cy="365760"/>
          </a:xfrm>
          <a:prstGeom prst="rect">
            <a:avLst/>
          </a:prstGeom>
          <a:noFill/>
          <a:ln/>
        </p:spPr>
        <p:txBody>
          <a:bodyPr wrap="square" lIns="0" tIns="0" rIns="0" bIns="0" rtlCol="0" anchor="ctr"/>
          <a:lstStyle/>
          <a:p>
            <a:pPr marL="0" indent="0">
              <a:buNone/>
            </a:pPr>
            <a:r>
              <a:rPr lang="en-US" sz="1500" b="1" dirty="0">
                <a:solidFill>
                  <a:srgbClr val="2E5A88"/>
                </a:solidFill>
                <a:latin typeface="Courier New" pitchFamily="34" charset="0"/>
                <a:ea typeface="Courier New" pitchFamily="34" charset="-122"/>
                <a:cs typeface="Courier New" pitchFamily="34" charset="-120"/>
              </a:rPr>
              <a:t>bestellungen</a:t>
            </a:r>
            <a:endParaRPr lang="en-US" sz="1500" dirty="0"/>
          </a:p>
        </p:txBody>
      </p:sp>
      <p:sp>
        <p:nvSpPr>
          <p:cNvPr id="29" name="Text 22"/>
          <p:cNvSpPr/>
          <p:nvPr/>
        </p:nvSpPr>
        <p:spPr>
          <a:xfrm>
            <a:off x="5330952" y="4517136"/>
            <a:ext cx="2295144" cy="365760"/>
          </a:xfrm>
          <a:prstGeom prst="rect">
            <a:avLst/>
          </a:prstGeom>
          <a:noFill/>
          <a:ln/>
        </p:spPr>
        <p:txBody>
          <a:bodyPr wrap="square" lIns="0" tIns="0" rIns="0" bIns="0" rtlCol="0" anchor="ctr"/>
          <a:lstStyle/>
          <a:p>
            <a:pPr marL="0" indent="0">
              <a:buNone/>
            </a:pPr>
            <a:r>
              <a:rPr lang="en-US" sz="1250" dirty="0">
                <a:solidFill>
                  <a:srgbClr val="5C6B7A"/>
                </a:solidFill>
                <a:latin typeface="Arial" pitchFamily="34" charset="0"/>
                <a:ea typeface="Arial" pitchFamily="34" charset="-122"/>
                <a:cs typeface="Arial" pitchFamily="34" charset="-120"/>
              </a:rPr>
              <a:t>Bestellungen + Status</a:t>
            </a:r>
            <a:endParaRPr lang="en-US" sz="1250" dirty="0"/>
          </a:p>
        </p:txBody>
      </p:sp>
      <p:sp>
        <p:nvSpPr>
          <p:cNvPr id="30" name="!!k6"/>
          <p:cNvSpPr/>
          <p:nvPr/>
        </p:nvSpPr>
        <p:spPr>
          <a:xfrm>
            <a:off x="8156448" y="3840480"/>
            <a:ext cx="3392424" cy="1234440"/>
          </a:xfrm>
          <a:prstGeom prst="roundRect">
            <a:avLst>
              <a:gd name="adj" fmla="val 5926"/>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31" name="!!c6"/>
          <p:cNvSpPr/>
          <p:nvPr/>
        </p:nvSpPr>
        <p:spPr>
          <a:xfrm>
            <a:off x="8412480" y="4224528"/>
            <a:ext cx="502920" cy="502920"/>
          </a:xfrm>
          <a:prstGeom prst="ellipse">
            <a:avLst/>
          </a:prstGeom>
          <a:solidFill>
            <a:srgbClr val="E8EEF5"/>
          </a:solidFill>
          <a:ln/>
        </p:spPr>
      </p:sp>
      <p:pic>
        <p:nvPicPr>
          <p:cNvPr id="32" name="Image 5" descr="preencoded.png"/>
          <p:cNvPicPr>
            <a:picLocks noChangeAspect="1"/>
          </p:cNvPicPr>
          <p:nvPr/>
        </p:nvPicPr>
        <p:blipFill>
          <a:blip r:embed="rId8"/>
          <a:stretch>
            <a:fillRect/>
          </a:stretch>
        </p:blipFill>
        <p:spPr>
          <a:xfrm>
            <a:off x="8543239" y="4355287"/>
            <a:ext cx="241402" cy="241402"/>
          </a:xfrm>
          <a:prstGeom prst="rect">
            <a:avLst/>
          </a:prstGeom>
        </p:spPr>
      </p:pic>
      <p:sp>
        <p:nvSpPr>
          <p:cNvPr id="33" name="Text 25"/>
          <p:cNvSpPr/>
          <p:nvPr/>
        </p:nvSpPr>
        <p:spPr>
          <a:xfrm>
            <a:off x="9089136" y="4096512"/>
            <a:ext cx="2295144" cy="365760"/>
          </a:xfrm>
          <a:prstGeom prst="rect">
            <a:avLst/>
          </a:prstGeom>
          <a:noFill/>
          <a:ln/>
        </p:spPr>
        <p:txBody>
          <a:bodyPr wrap="square" lIns="0" tIns="0" rIns="0" bIns="0" rtlCol="0" anchor="ctr"/>
          <a:lstStyle/>
          <a:p>
            <a:pPr marL="0" indent="0">
              <a:buNone/>
            </a:pPr>
            <a:r>
              <a:rPr lang="en-US" sz="1500" b="1" dirty="0">
                <a:solidFill>
                  <a:srgbClr val="2E5A88"/>
                </a:solidFill>
                <a:latin typeface="Courier New" pitchFamily="34" charset="0"/>
                <a:ea typeface="Courier New" pitchFamily="34" charset="-122"/>
                <a:cs typeface="Courier New" pitchFamily="34" charset="-120"/>
              </a:rPr>
              <a:t>bestandsbewegungen</a:t>
            </a:r>
            <a:endParaRPr lang="en-US" sz="1500" dirty="0"/>
          </a:p>
        </p:txBody>
      </p:sp>
      <p:sp>
        <p:nvSpPr>
          <p:cNvPr id="34" name="Text 26"/>
          <p:cNvSpPr/>
          <p:nvPr/>
        </p:nvSpPr>
        <p:spPr>
          <a:xfrm>
            <a:off x="9089136" y="4517136"/>
            <a:ext cx="2295144" cy="365760"/>
          </a:xfrm>
          <a:prstGeom prst="rect">
            <a:avLst/>
          </a:prstGeom>
          <a:noFill/>
          <a:ln/>
        </p:spPr>
        <p:txBody>
          <a:bodyPr wrap="square" lIns="0" tIns="0" rIns="0" bIns="0" rtlCol="0" anchor="ctr"/>
          <a:lstStyle/>
          <a:p>
            <a:pPr marL="0" indent="0">
              <a:buNone/>
            </a:pPr>
            <a:r>
              <a:rPr lang="en-US" sz="1250" dirty="0">
                <a:solidFill>
                  <a:srgbClr val="5C6B7A"/>
                </a:solidFill>
                <a:latin typeface="Arial" pitchFamily="34" charset="0"/>
                <a:ea typeface="Arial" pitchFamily="34" charset="-122"/>
                <a:cs typeface="Arial" pitchFamily="34" charset="-120"/>
              </a:rPr>
              <a:t>Ein-/</a:t>
            </a:r>
            <a:r>
              <a:rPr lang="en-US" sz="1250" dirty="0" err="1">
                <a:solidFill>
                  <a:srgbClr val="5C6B7A"/>
                </a:solidFill>
                <a:latin typeface="Arial" pitchFamily="34" charset="0"/>
                <a:ea typeface="Arial" pitchFamily="34" charset="-122"/>
                <a:cs typeface="Arial" pitchFamily="34" charset="-120"/>
              </a:rPr>
              <a:t>Ausgänge</a:t>
            </a:r>
            <a:endParaRPr lang="en-US" sz="1250" dirty="0"/>
          </a:p>
        </p:txBody>
      </p:sp>
      <p:sp>
        <p:nvSpPr>
          <p:cNvPr id="35" name="Text 27"/>
          <p:cNvSpPr/>
          <p:nvPr/>
        </p:nvSpPr>
        <p:spPr>
          <a:xfrm>
            <a:off x="640080" y="5650000"/>
            <a:ext cx="10881360" cy="365760"/>
          </a:xfrm>
          <a:prstGeom prst="rect">
            <a:avLst/>
          </a:prstGeom>
          <a:noFill/>
          <a:ln/>
        </p:spPr>
        <p:txBody>
          <a:bodyPr wrap="square" lIns="0" tIns="0" rIns="0" bIns="0" rtlCol="0" anchor="ctr"/>
          <a:lstStyle/>
          <a:p>
            <a:pPr marL="0" indent="0">
              <a:buNone/>
            </a:pPr>
            <a:r>
              <a:rPr lang="en-US" sz="1300" i="1" dirty="0">
                <a:solidFill>
                  <a:srgbClr val="5C6B7A"/>
                </a:solidFill>
                <a:latin typeface="Arial" pitchFamily="34" charset="0"/>
                <a:ea typeface="Arial" pitchFamily="34" charset="-122"/>
                <a:cs typeface="Arial" pitchFamily="34" charset="-120"/>
              </a:rPr>
              <a:t>Verbunden über Fremdschlüssel. Die Struktur zum ersten Mal selbst modelliert und normalisiert.</a:t>
            </a:r>
            <a:endParaRPr lang="en-US" sz="1300" dirty="0"/>
          </a:p>
        </p:txBody>
      </p:sp>
      <p:sp>
        <p:nvSpPr>
          <p:cNvPr id="36" name="!!foot"/>
          <p:cNvSpPr/>
          <p:nvPr/>
        </p:nvSpPr>
        <p:spPr>
          <a:xfrm>
            <a:off x="640080" y="6437376"/>
            <a:ext cx="10908792" cy="274320"/>
          </a:xfrm>
          <a:prstGeom prst="rect">
            <a:avLst/>
          </a:prstGeom>
          <a:noFill/>
          <a:ln/>
        </p:spPr>
        <p:txBody>
          <a:bodyPr wrap="square" lIns="0" tIns="0" rIns="0" bIns="0" rtlCol="0" anchor="ctr"/>
          <a:lstStyle/>
          <a:p>
            <a:pPr marL="0" indent="0" algn="l">
              <a:buNone/>
            </a:pPr>
            <a:r>
              <a:rPr lang="en-US" sz="900" dirty="0">
                <a:solidFill>
                  <a:srgbClr val="5C6B7A"/>
                </a:solidFill>
                <a:latin typeface="Arial" pitchFamily="34" charset="0"/>
                <a:ea typeface="Arial" pitchFamily="34" charset="-122"/>
                <a:cs typeface="Arial" pitchFamily="34" charset="-120"/>
              </a:rPr>
              <a:t>Sascha Schulz     ·     Lagerverwaltung von medizinischem Verbrauchsmaterial im Krankenhaus</a:t>
            </a:r>
            <a:endParaRPr lang="en-US" sz="900" dirty="0"/>
          </a:p>
        </p:txBody>
      </p:sp>
      <p:sp>
        <p:nvSpPr>
          <p:cNvPr id="37" name="!!scrolltrack"/>
          <p:cNvSpPr/>
          <p:nvPr/>
        </p:nvSpPr>
        <p:spPr>
          <a:xfrm>
            <a:off x="11979240" y="457200"/>
            <a:ext cx="27432" cy="5943600"/>
          </a:xfrm>
          <a:prstGeom prst="roundRect">
            <a:avLst>
              <a:gd name="adj" fmla="val 50000"/>
            </a:avLst>
          </a:prstGeom>
          <a:solidFill>
            <a:srgbClr val="E3E9F1"/>
          </a:solidFill>
          <a:ln/>
        </p:spPr>
      </p:sp>
      <p:sp>
        <p:nvSpPr>
          <p:cNvPr id="38" name="!!scrollthumb"/>
          <p:cNvSpPr/>
          <p:nvPr/>
        </p:nvSpPr>
        <p:spPr>
          <a:xfrm>
            <a:off x="11979240" y="5080000"/>
            <a:ext cx="27432" cy="330200"/>
          </a:xfrm>
          <a:prstGeom prst="roundRect">
            <a:avLst>
              <a:gd name="adj" fmla="val 50000"/>
            </a:avLst>
          </a:prstGeom>
          <a:solidFill>
            <a:srgbClr val="2E5A88"/>
          </a:solidFill>
          <a:ln/>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B"/>
        </a:solidFill>
        <a:effectLst/>
      </p:bgPr>
    </p:bg>
    <p:spTree>
      <p:nvGrpSpPr>
        <p:cNvPr id="1" name=""/>
        <p:cNvGrpSpPr/>
        <p:nvPr/>
      </p:nvGrpSpPr>
      <p:grpSpPr>
        <a:xfrm>
          <a:off x="0" y="0"/>
          <a:ext cx="0" cy="0"/>
          <a:chOff x="0" y="0"/>
          <a:chExt cx="0" cy="0"/>
        </a:xfrm>
      </p:grpSpPr>
      <p:sp>
        <p:nvSpPr>
          <p:cNvPr id="2" name="!!eyebrow"/>
          <p:cNvSpPr/>
          <p:nvPr/>
        </p:nvSpPr>
        <p:spPr>
          <a:xfrm>
            <a:off x="640080" y="457200"/>
            <a:ext cx="10881360" cy="320040"/>
          </a:xfrm>
          <a:prstGeom prst="rect">
            <a:avLst/>
          </a:prstGeom>
          <a:noFill/>
          <a:ln/>
        </p:spPr>
        <p:txBody>
          <a:bodyPr wrap="square" lIns="0" tIns="0" rIns="0" bIns="0" rtlCol="0" anchor="ctr"/>
          <a:lstStyle/>
          <a:p>
            <a:pPr marL="0" indent="0">
              <a:buNone/>
            </a:pPr>
            <a:r>
              <a:rPr lang="en-US" sz="1200" b="1" kern="0" spc="200" dirty="0">
                <a:solidFill>
                  <a:srgbClr val="2E5A88"/>
                </a:solidFill>
                <a:latin typeface="Arial" pitchFamily="34" charset="0"/>
                <a:ea typeface="Arial" pitchFamily="34" charset="-122"/>
                <a:cs typeface="Arial" pitchFamily="34" charset="-120"/>
              </a:rPr>
              <a:t>DESIGNENTSCHEIDUNG IM DETAIL · ANGEKÜNDIGT IN SCHRITT 2</a:t>
            </a:r>
          </a:p>
        </p:txBody>
      </p:sp>
      <p:sp>
        <p:nvSpPr>
          <p:cNvPr id="3" name="!!title"/>
          <p:cNvSpPr/>
          <p:nvPr/>
        </p:nvSpPr>
        <p:spPr>
          <a:xfrm>
            <a:off x="640080" y="786384"/>
            <a:ext cx="10972800" cy="640080"/>
          </a:xfrm>
          <a:prstGeom prst="rect">
            <a:avLst/>
          </a:prstGeom>
          <a:noFill/>
          <a:ln/>
        </p:spPr>
        <p:txBody>
          <a:bodyPr wrap="square" lIns="0" tIns="0" rIns="0" bIns="0" rtlCol="0" anchor="ctr"/>
          <a:lstStyle/>
          <a:p>
            <a:pPr marL="0" indent="0">
              <a:buNone/>
            </a:pPr>
            <a:r>
              <a:rPr lang="en-US" sz="3000" b="1" dirty="0">
                <a:solidFill>
                  <a:srgbClr val="1D3A5F"/>
                </a:solidFill>
                <a:latin typeface="Arial" pitchFamily="34" charset="0"/>
                <a:ea typeface="Arial" pitchFamily="34" charset="-122"/>
                <a:cs typeface="Arial" pitchFamily="34" charset="-120"/>
              </a:rPr>
              <a:t>Der Bestand wird nicht gespeichert – er wird berechnet</a:t>
            </a:r>
            <a:endParaRPr lang="en-US" sz="3000" dirty="0"/>
          </a:p>
        </p:txBody>
      </p:sp>
      <p:sp>
        <p:nvSpPr>
          <p:cNvPr id="4" name="!!k1"/>
          <p:cNvSpPr/>
          <p:nvPr/>
        </p:nvSpPr>
        <p:spPr>
          <a:xfrm>
            <a:off x="640080" y="2148840"/>
            <a:ext cx="10908792" cy="1371600"/>
          </a:xfrm>
          <a:prstGeom prst="roundRect">
            <a:avLst>
              <a:gd name="adj" fmla="val 6667"/>
            </a:avLst>
          </a:prstGeom>
          <a:solidFill>
            <a:srgbClr val="1D3A5F"/>
          </a:solidFill>
          <a:ln/>
          <a:effectLst>
            <a:outerShdw blurRad="114300" dist="38100" dir="5400000" algn="bl" rotWithShape="0">
              <a:srgbClr val="7A8AA0">
                <a:alpha val="22000"/>
              </a:srgbClr>
            </a:outerShdw>
          </a:effectLst>
        </p:spPr>
      </p:sp>
      <p:sp>
        <p:nvSpPr>
          <p:cNvPr id="5" name="Text 3"/>
          <p:cNvSpPr/>
          <p:nvPr/>
        </p:nvSpPr>
        <p:spPr>
          <a:xfrm>
            <a:off x="640080" y="2148840"/>
            <a:ext cx="10908792" cy="1371600"/>
          </a:xfrm>
          <a:prstGeom prst="rect">
            <a:avLst/>
          </a:prstGeom>
          <a:noFill/>
          <a:ln/>
        </p:spPr>
        <p:txBody>
          <a:bodyPr wrap="square" lIns="0" tIns="0" rIns="0" bIns="0" rtlCol="0" anchor="ctr"/>
          <a:lstStyle/>
          <a:p>
            <a:pPr marL="0" indent="0" algn="ctr">
              <a:buNone/>
            </a:pPr>
            <a:r>
              <a:rPr lang="en-US" sz="3000" b="1" dirty="0">
                <a:solidFill>
                  <a:srgbClr val="FFFFFF"/>
                </a:solidFill>
                <a:latin typeface="Courier New" pitchFamily="34" charset="0"/>
                <a:ea typeface="Courier New" pitchFamily="34" charset="-122"/>
                <a:cs typeface="Courier New" pitchFamily="34" charset="-120"/>
              </a:rPr>
              <a:t>Bestand</a:t>
            </a:r>
            <a:r>
              <a:rPr lang="en-US" sz="3000" b="1" dirty="0">
                <a:solidFill>
                  <a:srgbClr val="8FB4DD"/>
                </a:solidFill>
                <a:latin typeface="Courier New" pitchFamily="34" charset="0"/>
                <a:ea typeface="Courier New" pitchFamily="34" charset="-122"/>
                <a:cs typeface="Courier New" pitchFamily="34" charset="-120"/>
              </a:rPr>
              <a:t>  =  </a:t>
            </a:r>
            <a:r>
              <a:rPr lang="en-US" sz="3000" b="1" dirty="0">
                <a:solidFill>
                  <a:srgbClr val="FFFFFF"/>
                </a:solidFill>
                <a:latin typeface="Courier New" pitchFamily="34" charset="0"/>
                <a:ea typeface="Courier New" pitchFamily="34" charset="-122"/>
                <a:cs typeface="Courier New" pitchFamily="34" charset="-120"/>
              </a:rPr>
              <a:t>Σ EINGANG</a:t>
            </a:r>
            <a:r>
              <a:rPr lang="en-US" sz="3000" b="1" dirty="0">
                <a:solidFill>
                  <a:srgbClr val="8FB4DD"/>
                </a:solidFill>
                <a:latin typeface="Courier New" pitchFamily="34" charset="0"/>
                <a:ea typeface="Courier New" pitchFamily="34" charset="-122"/>
                <a:cs typeface="Courier New" pitchFamily="34" charset="-120"/>
              </a:rPr>
              <a:t>  −  </a:t>
            </a:r>
            <a:r>
              <a:rPr lang="en-US" sz="3000" b="1" dirty="0">
                <a:solidFill>
                  <a:srgbClr val="FFFFFF"/>
                </a:solidFill>
                <a:latin typeface="Courier New" pitchFamily="34" charset="0"/>
                <a:ea typeface="Courier New" pitchFamily="34" charset="-122"/>
                <a:cs typeface="Courier New" pitchFamily="34" charset="-120"/>
              </a:rPr>
              <a:t>Σ AUSGANG</a:t>
            </a:r>
            <a:endParaRPr lang="en-US" sz="3000" dirty="0"/>
          </a:p>
        </p:txBody>
      </p:sp>
      <p:sp>
        <p:nvSpPr>
          <p:cNvPr id="6" name="Text 4"/>
          <p:cNvSpPr/>
          <p:nvPr/>
        </p:nvSpPr>
        <p:spPr>
          <a:xfrm>
            <a:off x="640080" y="3853881"/>
            <a:ext cx="10908792" cy="973521"/>
          </a:xfrm>
          <a:prstGeom prst="rect">
            <a:avLst/>
          </a:prstGeom>
          <a:noFill/>
          <a:ln/>
        </p:spPr>
        <p:txBody>
          <a:bodyPr wrap="square" lIns="0" tIns="0" rIns="0" bIns="0" rtlCol="0" anchor="t"/>
          <a:lstStyle/>
          <a:p>
            <a:pPr marL="0" indent="0">
              <a:lnSpc>
                <a:spcPct val="130000"/>
              </a:lnSpc>
              <a:buNone/>
            </a:pPr>
            <a:r>
              <a:rPr lang="de-DE" sz="1600" dirty="0">
                <a:latin typeface="Arial" panose="020B0604020202020204" pitchFamily="34" charset="0"/>
                <a:cs typeface="Arial" panose="020B0604020202020204" pitchFamily="34" charset="0"/>
              </a:rPr>
              <a:t>Jede Buchung landet in </a:t>
            </a:r>
            <a:r>
              <a:rPr lang="de-DE" sz="1600" dirty="0" err="1">
                <a:latin typeface="Arial" panose="020B0604020202020204" pitchFamily="34" charset="0"/>
                <a:cs typeface="Arial" panose="020B0604020202020204" pitchFamily="34" charset="0"/>
              </a:rPr>
              <a:t>bestandsbewegungen</a:t>
            </a:r>
            <a:r>
              <a:rPr lang="de-DE" sz="1600" dirty="0">
                <a:latin typeface="Arial" panose="020B0604020202020204" pitchFamily="34" charset="0"/>
                <a:cs typeface="Arial" panose="020B0604020202020204" pitchFamily="34" charset="0"/>
              </a:rPr>
              <a:t>. Der Bestand wird nicht extra gespeichert, sondern bei jeder Abfrage daraus berechnet (SUM). So kann er nie vom echten Stand abweichen. Kostet etwas Rechenzeit – bei dieser Datenmenge kein Problem.</a:t>
            </a:r>
            <a:endParaRPr lang="en-US" sz="1700" dirty="0">
              <a:latin typeface="Arial" panose="020B0604020202020204" pitchFamily="34" charset="0"/>
              <a:cs typeface="Arial" panose="020B0604020202020204" pitchFamily="34" charset="0"/>
            </a:endParaRPr>
          </a:p>
        </p:txBody>
      </p:sp>
      <p:sp>
        <p:nvSpPr>
          <p:cNvPr id="7" name="!!k2"/>
          <p:cNvSpPr/>
          <p:nvPr/>
        </p:nvSpPr>
        <p:spPr>
          <a:xfrm>
            <a:off x="640080" y="5143500"/>
            <a:ext cx="10908792" cy="822960"/>
          </a:xfrm>
          <a:prstGeom prst="roundRect">
            <a:avLst>
              <a:gd name="adj" fmla="val 10588"/>
            </a:avLst>
          </a:prstGeom>
          <a:solidFill>
            <a:srgbClr val="E8EEF5"/>
          </a:solidFill>
          <a:ln/>
        </p:spPr>
      </p:sp>
      <p:sp>
        <p:nvSpPr>
          <p:cNvPr id="8" name="Text 6"/>
          <p:cNvSpPr/>
          <p:nvPr/>
        </p:nvSpPr>
        <p:spPr>
          <a:xfrm>
            <a:off x="1339596" y="5143500"/>
            <a:ext cx="9509760" cy="822960"/>
          </a:xfrm>
          <a:prstGeom prst="rect">
            <a:avLst/>
          </a:prstGeom>
          <a:noFill/>
          <a:ln/>
        </p:spPr>
        <p:txBody>
          <a:bodyPr wrap="square" lIns="0" tIns="0" rIns="0" bIns="0" rtlCol="0" anchor="ctr"/>
          <a:lstStyle/>
          <a:p>
            <a:pPr marL="0" indent="0">
              <a:buNone/>
            </a:pPr>
            <a:r>
              <a:rPr lang="en-US" sz="1800" b="1" dirty="0">
                <a:solidFill>
                  <a:srgbClr val="2E5A88"/>
                </a:solidFill>
                <a:latin typeface="Arial" pitchFamily="34" charset="0"/>
                <a:ea typeface="Arial" pitchFamily="34" charset="-122"/>
                <a:cs typeface="Arial" pitchFamily="34" charset="-120"/>
              </a:rPr>
              <a:t>→  Eine Quelle der Wahrheit – die lückenlose Historie gibt es gratis dazu.</a:t>
            </a:r>
            <a:endParaRPr lang="en-US" sz="1800" dirty="0"/>
          </a:p>
        </p:txBody>
      </p:sp>
      <p:sp>
        <p:nvSpPr>
          <p:cNvPr id="9" name="!!foot"/>
          <p:cNvSpPr/>
          <p:nvPr/>
        </p:nvSpPr>
        <p:spPr>
          <a:xfrm>
            <a:off x="640080" y="6437376"/>
            <a:ext cx="10908792" cy="274320"/>
          </a:xfrm>
          <a:prstGeom prst="rect">
            <a:avLst/>
          </a:prstGeom>
          <a:noFill/>
          <a:ln/>
        </p:spPr>
        <p:txBody>
          <a:bodyPr wrap="square" lIns="0" tIns="0" rIns="0" bIns="0" rtlCol="0" anchor="ctr"/>
          <a:lstStyle/>
          <a:p>
            <a:pPr marL="0" indent="0" algn="l">
              <a:buNone/>
            </a:pPr>
            <a:r>
              <a:rPr lang="en-US" sz="900" dirty="0">
                <a:solidFill>
                  <a:srgbClr val="5C6B7A"/>
                </a:solidFill>
                <a:latin typeface="Arial" pitchFamily="34" charset="0"/>
                <a:ea typeface="Arial" pitchFamily="34" charset="-122"/>
                <a:cs typeface="Arial" pitchFamily="34" charset="-120"/>
              </a:rPr>
              <a:t>Sascha Schulz     ·     Lagerverwaltung von medizinischem Verbrauchsmaterial im Krankenhaus</a:t>
            </a:r>
            <a:endParaRPr lang="en-US" sz="900" dirty="0"/>
          </a:p>
        </p:txBody>
      </p:sp>
      <p:sp>
        <p:nvSpPr>
          <p:cNvPr id="10" name="!!scrolltrack"/>
          <p:cNvSpPr/>
          <p:nvPr/>
        </p:nvSpPr>
        <p:spPr>
          <a:xfrm>
            <a:off x="11979240" y="457200"/>
            <a:ext cx="27432" cy="5943600"/>
          </a:xfrm>
          <a:prstGeom prst="roundRect">
            <a:avLst>
              <a:gd name="adj" fmla="val 50000"/>
            </a:avLst>
          </a:prstGeom>
          <a:solidFill>
            <a:srgbClr val="E3E9F1"/>
          </a:solidFill>
          <a:ln/>
        </p:spPr>
      </p:sp>
      <p:sp>
        <p:nvSpPr>
          <p:cNvPr id="11" name="!!scrollthumb"/>
          <p:cNvSpPr/>
          <p:nvPr/>
        </p:nvSpPr>
        <p:spPr>
          <a:xfrm>
            <a:off x="11979240" y="5410200"/>
            <a:ext cx="27432" cy="330200"/>
          </a:xfrm>
          <a:prstGeom prst="roundRect">
            <a:avLst>
              <a:gd name="adj" fmla="val 50000"/>
            </a:avLst>
          </a:prstGeom>
          <a:solidFill>
            <a:srgbClr val="2E5A88"/>
          </a:solidFill>
          <a:ln/>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a:effectLst/>
      </p:bgPr>
    </p:bg>
    <p:spTree>
      <p:nvGrpSpPr>
        <p:cNvPr id="1" name=""/>
        <p:cNvGrpSpPr/>
        <p:nvPr/>
      </p:nvGrpSpPr>
      <p:grpSpPr>
        <a:xfrm>
          <a:off x="0" y="0"/>
          <a:ext cx="0" cy="0"/>
          <a:chOff x="0" y="0"/>
          <a:chExt cx="0" cy="0"/>
        </a:xfrm>
      </p:grpSpPr>
      <p:sp>
        <p:nvSpPr>
          <p:cNvPr id="2" name="!!eyebrow"/>
          <p:cNvSpPr/>
          <p:nvPr/>
        </p:nvSpPr>
        <p:spPr>
          <a:xfrm>
            <a:off x="640080" y="457200"/>
            <a:ext cx="10881360" cy="320040"/>
          </a:xfrm>
          <a:prstGeom prst="rect">
            <a:avLst/>
          </a:prstGeom>
          <a:noFill/>
          <a:ln/>
        </p:spPr>
        <p:txBody>
          <a:bodyPr wrap="square" lIns="0" tIns="0" rIns="0" bIns="0" rtlCol="0" anchor="ctr"/>
          <a:lstStyle/>
          <a:p>
            <a:pPr marL="0" indent="0">
              <a:buNone/>
            </a:pPr>
            <a:r>
              <a:rPr lang="en-US" sz="1200" b="1" kern="0" spc="200" dirty="0">
                <a:solidFill>
                  <a:srgbClr val="2E5A88"/>
                </a:solidFill>
                <a:latin typeface="Arial" pitchFamily="34" charset="0"/>
                <a:ea typeface="Arial" pitchFamily="34" charset="-122"/>
                <a:cs typeface="Arial" pitchFamily="34" charset="-120"/>
              </a:rPr>
              <a:t>QUALITÄTSSICHERUNG</a:t>
            </a:r>
          </a:p>
        </p:txBody>
      </p:sp>
      <p:sp>
        <p:nvSpPr>
          <p:cNvPr id="3" name="!!title"/>
          <p:cNvSpPr/>
          <p:nvPr/>
        </p:nvSpPr>
        <p:spPr>
          <a:xfrm>
            <a:off x="640080" y="786384"/>
            <a:ext cx="10972800" cy="640080"/>
          </a:xfrm>
          <a:prstGeom prst="rect">
            <a:avLst/>
          </a:prstGeom>
          <a:noFill/>
          <a:ln/>
        </p:spPr>
        <p:txBody>
          <a:bodyPr wrap="square" lIns="0" tIns="0" rIns="0" bIns="0" rtlCol="0" anchor="ctr"/>
          <a:lstStyle/>
          <a:p>
            <a:pPr marL="0" indent="0">
              <a:buNone/>
            </a:pPr>
            <a:r>
              <a:rPr lang="en-US" sz="3000" b="1" dirty="0">
                <a:solidFill>
                  <a:srgbClr val="1D3A5F"/>
                </a:solidFill>
                <a:latin typeface="Arial" pitchFamily="34" charset="0"/>
                <a:ea typeface="Arial" pitchFamily="34" charset="-122"/>
                <a:cs typeface="Arial" pitchFamily="34" charset="-120"/>
              </a:rPr>
              <a:t>Geprüft, nicht nur gebaut</a:t>
            </a:r>
            <a:endParaRPr lang="en-US" sz="3000" dirty="0"/>
          </a:p>
        </p:txBody>
      </p:sp>
      <p:sp>
        <p:nvSpPr>
          <p:cNvPr id="4" name="!!sub"/>
          <p:cNvSpPr/>
          <p:nvPr/>
        </p:nvSpPr>
        <p:spPr>
          <a:xfrm>
            <a:off x="640080" y="1481328"/>
            <a:ext cx="10881360" cy="457200"/>
          </a:xfrm>
          <a:prstGeom prst="rect">
            <a:avLst/>
          </a:prstGeom>
          <a:noFill/>
          <a:ln/>
        </p:spPr>
        <p:txBody>
          <a:bodyPr wrap="square" lIns="0" tIns="0" rIns="0" bIns="0" rtlCol="0" anchor="ctr"/>
          <a:lstStyle/>
          <a:p>
            <a:pPr marL="0" indent="0">
              <a:buNone/>
            </a:pPr>
            <a:r>
              <a:rPr lang="de-DE" sz="1500" dirty="0">
                <a:solidFill>
                  <a:srgbClr val="5C6B7A"/>
                </a:solidFill>
                <a:latin typeface="Arial" pitchFamily="34" charset="0"/>
                <a:cs typeface="Arial" pitchFamily="34" charset="-120"/>
              </a:rPr>
              <a:t>Geprüft nach Testplan, gemessen am Projektantrag, ehrlich bei den Grenzen.</a:t>
            </a:r>
            <a:endParaRPr lang="en-US" sz="1500" dirty="0">
              <a:solidFill>
                <a:srgbClr val="5C6B7A"/>
              </a:solidFill>
              <a:latin typeface="Arial" pitchFamily="34" charset="0"/>
              <a:ea typeface="Arial" pitchFamily="34" charset="-122"/>
              <a:cs typeface="Arial" pitchFamily="34" charset="-120"/>
            </a:endParaRPr>
          </a:p>
        </p:txBody>
      </p:sp>
      <p:sp>
        <p:nvSpPr>
          <p:cNvPr id="5" name="!!k1"/>
          <p:cNvSpPr/>
          <p:nvPr/>
        </p:nvSpPr>
        <p:spPr>
          <a:xfrm>
            <a:off x="640080" y="2377440"/>
            <a:ext cx="2521458" cy="2240280"/>
          </a:xfrm>
          <a:prstGeom prst="roundRect">
            <a:avLst>
              <a:gd name="adj" fmla="val 367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6" name="!!c1"/>
          <p:cNvSpPr/>
          <p:nvPr/>
        </p:nvSpPr>
        <p:spPr>
          <a:xfrm>
            <a:off x="896112" y="2670048"/>
            <a:ext cx="640080" cy="640080"/>
          </a:xfrm>
          <a:prstGeom prst="ellipse">
            <a:avLst/>
          </a:prstGeom>
          <a:solidFill>
            <a:srgbClr val="E8EEF5"/>
          </a:solidFill>
          <a:ln/>
        </p:spPr>
      </p:sp>
      <p:pic>
        <p:nvPicPr>
          <p:cNvPr id="7" name="Image 0" descr="preencoded.png"/>
          <p:cNvPicPr>
            <a:picLocks noChangeAspect="1"/>
          </p:cNvPicPr>
          <p:nvPr/>
        </p:nvPicPr>
        <p:blipFill>
          <a:blip r:embed="rId3"/>
          <a:stretch>
            <a:fillRect/>
          </a:stretch>
        </p:blipFill>
        <p:spPr>
          <a:xfrm>
            <a:off x="1062533" y="2836469"/>
            <a:ext cx="307238" cy="307238"/>
          </a:xfrm>
          <a:prstGeom prst="rect">
            <a:avLst/>
          </a:prstGeom>
        </p:spPr>
      </p:pic>
      <p:sp>
        <p:nvSpPr>
          <p:cNvPr id="8" name="Text 5"/>
          <p:cNvSpPr/>
          <p:nvPr/>
        </p:nvSpPr>
        <p:spPr>
          <a:xfrm>
            <a:off x="896112" y="3474720"/>
            <a:ext cx="2009394" cy="640080"/>
          </a:xfrm>
          <a:prstGeom prst="rect">
            <a:avLst/>
          </a:prstGeom>
          <a:noFill/>
          <a:ln/>
        </p:spPr>
        <p:txBody>
          <a:bodyPr wrap="square" lIns="0" tIns="0" rIns="0" bIns="0" rtlCol="0" anchor="t"/>
          <a:lstStyle/>
          <a:p>
            <a:pPr marL="0" indent="0">
              <a:lnSpc>
                <a:spcPct val="105000"/>
              </a:lnSpc>
              <a:buNone/>
            </a:pPr>
            <a:r>
              <a:rPr lang="en-US" sz="1600" b="1" dirty="0">
                <a:solidFill>
                  <a:srgbClr val="1D3A5F"/>
                </a:solidFill>
                <a:latin typeface="Arial" pitchFamily="34" charset="0"/>
                <a:ea typeface="Arial" pitchFamily="34" charset="-122"/>
                <a:cs typeface="Arial" pitchFamily="34" charset="-120"/>
              </a:rPr>
              <a:t>9 Testfälle</a:t>
            </a:r>
            <a:endParaRPr lang="en-US" sz="1600" dirty="0"/>
          </a:p>
        </p:txBody>
      </p:sp>
      <p:sp>
        <p:nvSpPr>
          <p:cNvPr id="9" name="Text 6"/>
          <p:cNvSpPr/>
          <p:nvPr/>
        </p:nvSpPr>
        <p:spPr>
          <a:xfrm>
            <a:off x="896112" y="4133088"/>
            <a:ext cx="2009394" cy="411480"/>
          </a:xfrm>
          <a:prstGeom prst="rect">
            <a:avLst/>
          </a:prstGeom>
          <a:noFill/>
          <a:ln/>
        </p:spPr>
        <p:txBody>
          <a:bodyPr wrap="square" lIns="0" tIns="0" rIns="0" bIns="0" rtlCol="0" anchor="t"/>
          <a:lstStyle/>
          <a:p>
            <a:pPr marL="0" indent="0">
              <a:buNone/>
            </a:pPr>
            <a:r>
              <a:rPr lang="en-US" sz="1250" dirty="0">
                <a:solidFill>
                  <a:srgbClr val="5C6B7A"/>
                </a:solidFill>
                <a:latin typeface="Arial" pitchFamily="34" charset="0"/>
                <a:ea typeface="Arial" pitchFamily="34" charset="-122"/>
                <a:cs typeface="Arial" pitchFamily="34" charset="-120"/>
              </a:rPr>
              <a:t>Kernfunktionen T1–T9 geprüft</a:t>
            </a:r>
            <a:endParaRPr lang="en-US" sz="1250" dirty="0"/>
          </a:p>
        </p:txBody>
      </p:sp>
      <p:sp>
        <p:nvSpPr>
          <p:cNvPr id="10" name="!!k2"/>
          <p:cNvSpPr/>
          <p:nvPr/>
        </p:nvSpPr>
        <p:spPr>
          <a:xfrm>
            <a:off x="3435858" y="2377440"/>
            <a:ext cx="2521458" cy="2240280"/>
          </a:xfrm>
          <a:prstGeom prst="roundRect">
            <a:avLst>
              <a:gd name="adj" fmla="val 367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11" name="!!c2"/>
          <p:cNvSpPr/>
          <p:nvPr/>
        </p:nvSpPr>
        <p:spPr>
          <a:xfrm>
            <a:off x="3691890" y="2670048"/>
            <a:ext cx="640080" cy="640080"/>
          </a:xfrm>
          <a:prstGeom prst="ellipse">
            <a:avLst/>
          </a:prstGeom>
          <a:solidFill>
            <a:srgbClr val="E8EEF5"/>
          </a:solidFill>
          <a:ln/>
        </p:spPr>
      </p:sp>
      <p:pic>
        <p:nvPicPr>
          <p:cNvPr id="12" name="Image 1" descr="preencoded.png"/>
          <p:cNvPicPr>
            <a:picLocks noChangeAspect="1"/>
          </p:cNvPicPr>
          <p:nvPr/>
        </p:nvPicPr>
        <p:blipFill>
          <a:blip r:embed="rId4"/>
          <a:stretch>
            <a:fillRect/>
          </a:stretch>
        </p:blipFill>
        <p:spPr>
          <a:xfrm>
            <a:off x="3858311" y="2836469"/>
            <a:ext cx="307238" cy="307238"/>
          </a:xfrm>
          <a:prstGeom prst="rect">
            <a:avLst/>
          </a:prstGeom>
        </p:spPr>
      </p:pic>
      <p:sp>
        <p:nvSpPr>
          <p:cNvPr id="13" name="Text 9"/>
          <p:cNvSpPr/>
          <p:nvPr/>
        </p:nvSpPr>
        <p:spPr>
          <a:xfrm>
            <a:off x="3691890" y="3474720"/>
            <a:ext cx="2009394" cy="640080"/>
          </a:xfrm>
          <a:prstGeom prst="rect">
            <a:avLst/>
          </a:prstGeom>
          <a:noFill/>
          <a:ln/>
        </p:spPr>
        <p:txBody>
          <a:bodyPr wrap="square" lIns="0" tIns="0" rIns="0" bIns="0" rtlCol="0" anchor="t"/>
          <a:lstStyle/>
          <a:p>
            <a:pPr marL="0" indent="0">
              <a:lnSpc>
                <a:spcPct val="105000"/>
              </a:lnSpc>
              <a:buNone/>
            </a:pPr>
            <a:r>
              <a:rPr lang="en-US" sz="1600" b="1" dirty="0">
                <a:solidFill>
                  <a:srgbClr val="1D3A5F"/>
                </a:solidFill>
                <a:latin typeface="Arial" pitchFamily="34" charset="0"/>
                <a:ea typeface="Arial" pitchFamily="34" charset="-122"/>
                <a:cs typeface="Arial" pitchFamily="34" charset="-120"/>
              </a:rPr>
              <a:t>Soll-Ist: 180 h</a:t>
            </a:r>
            <a:endParaRPr lang="en-US" sz="1600" dirty="0"/>
          </a:p>
        </p:txBody>
      </p:sp>
      <p:sp>
        <p:nvSpPr>
          <p:cNvPr id="14" name="Text 10"/>
          <p:cNvSpPr/>
          <p:nvPr/>
        </p:nvSpPr>
        <p:spPr>
          <a:xfrm>
            <a:off x="3691890" y="4133088"/>
            <a:ext cx="2009394" cy="411480"/>
          </a:xfrm>
          <a:prstGeom prst="rect">
            <a:avLst/>
          </a:prstGeom>
          <a:noFill/>
          <a:ln/>
        </p:spPr>
        <p:txBody>
          <a:bodyPr wrap="square" lIns="0" tIns="0" rIns="0" bIns="0" rtlCol="0" anchor="t"/>
          <a:lstStyle/>
          <a:p>
            <a:pPr marL="0" indent="0">
              <a:buNone/>
            </a:pPr>
            <a:r>
              <a:rPr lang="en-US" sz="1250" dirty="0">
                <a:solidFill>
                  <a:srgbClr val="5C6B7A"/>
                </a:solidFill>
                <a:latin typeface="Arial" pitchFamily="34" charset="0"/>
                <a:ea typeface="Arial" pitchFamily="34" charset="-122"/>
                <a:cs typeface="Arial" pitchFamily="34" charset="-120"/>
              </a:rPr>
              <a:t>Aufwand wie im Antrag geplant</a:t>
            </a:r>
            <a:endParaRPr lang="en-US" sz="1250" dirty="0"/>
          </a:p>
        </p:txBody>
      </p:sp>
      <p:sp>
        <p:nvSpPr>
          <p:cNvPr id="15" name="!!k3"/>
          <p:cNvSpPr/>
          <p:nvPr/>
        </p:nvSpPr>
        <p:spPr>
          <a:xfrm>
            <a:off x="6231636" y="2377440"/>
            <a:ext cx="2521458" cy="2240280"/>
          </a:xfrm>
          <a:prstGeom prst="roundRect">
            <a:avLst>
              <a:gd name="adj" fmla="val 367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16" name="!!c3"/>
          <p:cNvSpPr/>
          <p:nvPr/>
        </p:nvSpPr>
        <p:spPr>
          <a:xfrm>
            <a:off x="6487668" y="2670048"/>
            <a:ext cx="640080" cy="640080"/>
          </a:xfrm>
          <a:prstGeom prst="ellipse">
            <a:avLst/>
          </a:prstGeom>
          <a:solidFill>
            <a:srgbClr val="E8EEF5"/>
          </a:solidFill>
          <a:ln/>
        </p:spPr>
      </p:sp>
      <p:pic>
        <p:nvPicPr>
          <p:cNvPr id="17" name="Image 2" descr="preencoded.png"/>
          <p:cNvPicPr>
            <a:picLocks noChangeAspect="1"/>
          </p:cNvPicPr>
          <p:nvPr/>
        </p:nvPicPr>
        <p:blipFill>
          <a:blip r:embed="rId5"/>
          <a:stretch>
            <a:fillRect/>
          </a:stretch>
        </p:blipFill>
        <p:spPr>
          <a:xfrm>
            <a:off x="6654089" y="2836469"/>
            <a:ext cx="307238" cy="307238"/>
          </a:xfrm>
          <a:prstGeom prst="rect">
            <a:avLst/>
          </a:prstGeom>
        </p:spPr>
      </p:pic>
      <p:sp>
        <p:nvSpPr>
          <p:cNvPr id="18" name="Text 13"/>
          <p:cNvSpPr/>
          <p:nvPr/>
        </p:nvSpPr>
        <p:spPr>
          <a:xfrm>
            <a:off x="6487668" y="3474720"/>
            <a:ext cx="2009394" cy="640080"/>
          </a:xfrm>
          <a:prstGeom prst="rect">
            <a:avLst/>
          </a:prstGeom>
          <a:noFill/>
          <a:ln/>
        </p:spPr>
        <p:txBody>
          <a:bodyPr wrap="square" lIns="0" tIns="0" rIns="0" bIns="0" rtlCol="0" anchor="t"/>
          <a:lstStyle/>
          <a:p>
            <a:pPr marL="0" indent="0">
              <a:lnSpc>
                <a:spcPct val="105000"/>
              </a:lnSpc>
              <a:buNone/>
            </a:pPr>
            <a:r>
              <a:rPr lang="en-US" sz="1600" b="1" dirty="0" err="1">
                <a:solidFill>
                  <a:srgbClr val="1D3A5F"/>
                </a:solidFill>
                <a:latin typeface="Arial" pitchFamily="34" charset="0"/>
                <a:ea typeface="Arial" pitchFamily="34" charset="-122"/>
                <a:cs typeface="Arial" pitchFamily="34" charset="-120"/>
              </a:rPr>
              <a:t>Abweichungen</a:t>
            </a:r>
            <a:endParaRPr lang="en-US" sz="1600" dirty="0"/>
          </a:p>
        </p:txBody>
      </p:sp>
      <p:sp>
        <p:nvSpPr>
          <p:cNvPr id="19" name="Text 14"/>
          <p:cNvSpPr/>
          <p:nvPr/>
        </p:nvSpPr>
        <p:spPr>
          <a:xfrm>
            <a:off x="6487668" y="4133088"/>
            <a:ext cx="2009394" cy="411480"/>
          </a:xfrm>
          <a:prstGeom prst="rect">
            <a:avLst/>
          </a:prstGeom>
          <a:noFill/>
          <a:ln/>
        </p:spPr>
        <p:txBody>
          <a:bodyPr wrap="square" lIns="0" tIns="0" rIns="0" bIns="0" rtlCol="0" anchor="t"/>
          <a:lstStyle/>
          <a:p>
            <a:pPr marL="0" indent="0">
              <a:buNone/>
            </a:pPr>
            <a:r>
              <a:rPr lang="en-US" sz="1250" dirty="0">
                <a:solidFill>
                  <a:srgbClr val="5C6B7A"/>
                </a:solidFill>
                <a:latin typeface="Arial" pitchFamily="34" charset="0"/>
                <a:ea typeface="Arial" pitchFamily="34" charset="-122"/>
                <a:cs typeface="Arial" pitchFamily="34" charset="-120"/>
              </a:rPr>
              <a:t>In </a:t>
            </a:r>
            <a:r>
              <a:rPr lang="en-US" sz="1250" dirty="0" err="1">
                <a:solidFill>
                  <a:srgbClr val="5C6B7A"/>
                </a:solidFill>
                <a:latin typeface="Arial" pitchFamily="34" charset="0"/>
                <a:ea typeface="Arial" pitchFamily="34" charset="-122"/>
                <a:cs typeface="Arial" pitchFamily="34" charset="-120"/>
              </a:rPr>
              <a:t>Kapitel</a:t>
            </a:r>
            <a:r>
              <a:rPr lang="en-US" sz="1250" dirty="0">
                <a:solidFill>
                  <a:srgbClr val="5C6B7A"/>
                </a:solidFill>
                <a:latin typeface="Arial" pitchFamily="34" charset="0"/>
                <a:ea typeface="Arial" pitchFamily="34" charset="-122"/>
                <a:cs typeface="Arial" pitchFamily="34" charset="-120"/>
              </a:rPr>
              <a:t> 8 </a:t>
            </a:r>
            <a:r>
              <a:rPr lang="en-US" sz="1250" dirty="0" err="1">
                <a:solidFill>
                  <a:srgbClr val="5C6B7A"/>
                </a:solidFill>
                <a:latin typeface="Arial" pitchFamily="34" charset="0"/>
                <a:ea typeface="Arial" pitchFamily="34" charset="-122"/>
                <a:cs typeface="Arial" pitchFamily="34" charset="-120"/>
              </a:rPr>
              <a:t>begründet</a:t>
            </a:r>
            <a:endParaRPr lang="en-US" sz="1250" dirty="0"/>
          </a:p>
        </p:txBody>
      </p:sp>
      <p:sp>
        <p:nvSpPr>
          <p:cNvPr id="20" name="!!k4"/>
          <p:cNvSpPr/>
          <p:nvPr/>
        </p:nvSpPr>
        <p:spPr>
          <a:xfrm>
            <a:off x="9027414" y="2377440"/>
            <a:ext cx="2521458" cy="2240280"/>
          </a:xfrm>
          <a:prstGeom prst="roundRect">
            <a:avLst>
              <a:gd name="adj" fmla="val 367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21" name="!!c4"/>
          <p:cNvSpPr/>
          <p:nvPr/>
        </p:nvSpPr>
        <p:spPr>
          <a:xfrm>
            <a:off x="9283446" y="2670048"/>
            <a:ext cx="640080" cy="640080"/>
          </a:xfrm>
          <a:prstGeom prst="ellipse">
            <a:avLst/>
          </a:prstGeom>
          <a:solidFill>
            <a:srgbClr val="E8EEF5"/>
          </a:solidFill>
          <a:ln/>
        </p:spPr>
      </p:sp>
      <p:pic>
        <p:nvPicPr>
          <p:cNvPr id="22" name="Image 3" descr="preencoded.png"/>
          <p:cNvPicPr>
            <a:picLocks noChangeAspect="1"/>
          </p:cNvPicPr>
          <p:nvPr/>
        </p:nvPicPr>
        <p:blipFill>
          <a:blip r:embed="rId6"/>
          <a:stretch>
            <a:fillRect/>
          </a:stretch>
        </p:blipFill>
        <p:spPr>
          <a:xfrm>
            <a:off x="9449867" y="2836469"/>
            <a:ext cx="307238" cy="307238"/>
          </a:xfrm>
          <a:prstGeom prst="rect">
            <a:avLst/>
          </a:prstGeom>
        </p:spPr>
      </p:pic>
      <p:sp>
        <p:nvSpPr>
          <p:cNvPr id="23" name="Text 17"/>
          <p:cNvSpPr/>
          <p:nvPr/>
        </p:nvSpPr>
        <p:spPr>
          <a:xfrm>
            <a:off x="9283446" y="3474720"/>
            <a:ext cx="2009394" cy="640080"/>
          </a:xfrm>
          <a:prstGeom prst="rect">
            <a:avLst/>
          </a:prstGeom>
          <a:noFill/>
          <a:ln/>
        </p:spPr>
        <p:txBody>
          <a:bodyPr wrap="square" lIns="0" tIns="0" rIns="0" bIns="0" rtlCol="0" anchor="t"/>
          <a:lstStyle/>
          <a:p>
            <a:pPr marL="0" indent="0">
              <a:lnSpc>
                <a:spcPct val="105000"/>
              </a:lnSpc>
              <a:buNone/>
            </a:pPr>
            <a:r>
              <a:rPr lang="en-US" sz="1600" b="1" dirty="0">
                <a:solidFill>
                  <a:srgbClr val="1D3A5F"/>
                </a:solidFill>
                <a:latin typeface="Arial" pitchFamily="34" charset="0"/>
                <a:ea typeface="Arial" pitchFamily="34" charset="-122"/>
                <a:cs typeface="Arial" pitchFamily="34" charset="-120"/>
              </a:rPr>
              <a:t>Grenzen &amp; Ausblick</a:t>
            </a:r>
            <a:endParaRPr lang="en-US" sz="1600" dirty="0"/>
          </a:p>
        </p:txBody>
      </p:sp>
      <p:sp>
        <p:nvSpPr>
          <p:cNvPr id="24" name="Text 18"/>
          <p:cNvSpPr/>
          <p:nvPr/>
        </p:nvSpPr>
        <p:spPr>
          <a:xfrm>
            <a:off x="9283446" y="4133088"/>
            <a:ext cx="2009394" cy="411480"/>
          </a:xfrm>
          <a:prstGeom prst="rect">
            <a:avLst/>
          </a:prstGeom>
          <a:noFill/>
          <a:ln/>
        </p:spPr>
        <p:txBody>
          <a:bodyPr wrap="square" lIns="0" tIns="0" rIns="0" bIns="0" rtlCol="0" anchor="t"/>
          <a:lstStyle/>
          <a:p>
            <a:pPr marL="0" indent="0">
              <a:buNone/>
            </a:pPr>
            <a:r>
              <a:rPr lang="en-US" sz="1250" dirty="0">
                <a:solidFill>
                  <a:srgbClr val="5C6B7A"/>
                </a:solidFill>
                <a:latin typeface="Arial" pitchFamily="34" charset="0"/>
                <a:ea typeface="Arial" pitchFamily="34" charset="-122"/>
                <a:cs typeface="Arial" pitchFamily="34" charset="-120"/>
              </a:rPr>
              <a:t>Einzelplatz · per Generics erweiterbar</a:t>
            </a:r>
            <a:endParaRPr lang="en-US" sz="1250" dirty="0"/>
          </a:p>
        </p:txBody>
      </p:sp>
      <p:sp>
        <p:nvSpPr>
          <p:cNvPr id="25" name="Text 19"/>
          <p:cNvSpPr/>
          <p:nvPr/>
        </p:nvSpPr>
        <p:spPr>
          <a:xfrm>
            <a:off x="640080" y="5650000"/>
            <a:ext cx="10881360" cy="365760"/>
          </a:xfrm>
          <a:prstGeom prst="rect">
            <a:avLst/>
          </a:prstGeom>
          <a:noFill/>
          <a:ln/>
        </p:spPr>
        <p:txBody>
          <a:bodyPr wrap="square" lIns="0" tIns="0" rIns="0" bIns="0" rtlCol="0" anchor="ctr"/>
          <a:lstStyle/>
          <a:p>
            <a:pPr marL="0" indent="0">
              <a:buNone/>
            </a:pPr>
            <a:r>
              <a:rPr lang="de-DE" sz="1300" i="1" dirty="0">
                <a:solidFill>
                  <a:srgbClr val="5C6B7A"/>
                </a:solidFill>
                <a:latin typeface="Arial" pitchFamily="34" charset="0"/>
                <a:cs typeface="Arial" pitchFamily="34" charset="-120"/>
              </a:rPr>
              <a:t>Qualität heißt für mich: nachweisen, nicht behaupten.</a:t>
            </a:r>
            <a:endParaRPr lang="en-US" sz="1300" i="1" dirty="0">
              <a:solidFill>
                <a:srgbClr val="5C6B7A"/>
              </a:solidFill>
              <a:latin typeface="Arial" pitchFamily="34" charset="0"/>
              <a:cs typeface="Arial" pitchFamily="34" charset="-120"/>
            </a:endParaRPr>
          </a:p>
        </p:txBody>
      </p:sp>
      <p:sp>
        <p:nvSpPr>
          <p:cNvPr id="26" name="!!foot"/>
          <p:cNvSpPr/>
          <p:nvPr/>
        </p:nvSpPr>
        <p:spPr>
          <a:xfrm>
            <a:off x="640080" y="6437376"/>
            <a:ext cx="10908792" cy="274320"/>
          </a:xfrm>
          <a:prstGeom prst="rect">
            <a:avLst/>
          </a:prstGeom>
          <a:noFill/>
          <a:ln/>
        </p:spPr>
        <p:txBody>
          <a:bodyPr wrap="square" lIns="0" tIns="0" rIns="0" bIns="0" rtlCol="0" anchor="ctr"/>
          <a:lstStyle/>
          <a:p>
            <a:pPr marL="0" indent="0" algn="l">
              <a:buNone/>
            </a:pPr>
            <a:r>
              <a:rPr lang="en-US" sz="900" dirty="0">
                <a:solidFill>
                  <a:srgbClr val="5C6B7A"/>
                </a:solidFill>
                <a:latin typeface="Arial" pitchFamily="34" charset="0"/>
                <a:ea typeface="Arial" pitchFamily="34" charset="-122"/>
                <a:cs typeface="Arial" pitchFamily="34" charset="-120"/>
              </a:rPr>
              <a:t>Sascha Schulz     ·     Lagerverwaltung von medizinischem Verbrauchsmaterial im Krankenhaus</a:t>
            </a:r>
            <a:endParaRPr lang="en-US" sz="900" dirty="0"/>
          </a:p>
        </p:txBody>
      </p:sp>
      <p:sp>
        <p:nvSpPr>
          <p:cNvPr id="27" name="!!scrolltrack"/>
          <p:cNvSpPr/>
          <p:nvPr/>
        </p:nvSpPr>
        <p:spPr>
          <a:xfrm>
            <a:off x="11979240" y="457200"/>
            <a:ext cx="27432" cy="5943600"/>
          </a:xfrm>
          <a:prstGeom prst="roundRect">
            <a:avLst>
              <a:gd name="adj" fmla="val 50000"/>
            </a:avLst>
          </a:prstGeom>
          <a:solidFill>
            <a:srgbClr val="E3E9F1"/>
          </a:solidFill>
          <a:ln/>
        </p:spPr>
      </p:sp>
      <p:sp>
        <p:nvSpPr>
          <p:cNvPr id="28" name="!!scrollthumb"/>
          <p:cNvSpPr/>
          <p:nvPr/>
        </p:nvSpPr>
        <p:spPr>
          <a:xfrm>
            <a:off x="11979240" y="5740400"/>
            <a:ext cx="27432" cy="330200"/>
          </a:xfrm>
          <a:prstGeom prst="roundRect">
            <a:avLst>
              <a:gd name="adj" fmla="val 50000"/>
            </a:avLst>
          </a:prstGeom>
          <a:solidFill>
            <a:srgbClr val="2E5A88"/>
          </a:solidFill>
          <a:ln/>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16273D"/>
        </a:solidFill>
        <a:effectLst/>
      </p:bgPr>
    </p:bg>
    <p:spTree>
      <p:nvGrpSpPr>
        <p:cNvPr id="1" name=""/>
        <p:cNvGrpSpPr/>
        <p:nvPr/>
      </p:nvGrpSpPr>
      <p:grpSpPr>
        <a:xfrm>
          <a:off x="0" y="0"/>
          <a:ext cx="0" cy="0"/>
          <a:chOff x="0" y="0"/>
          <a:chExt cx="0" cy="0"/>
        </a:xfrm>
      </p:grpSpPr>
      <p:sp>
        <p:nvSpPr>
          <p:cNvPr id="2" name="Text 0"/>
          <p:cNvSpPr/>
          <p:nvPr/>
        </p:nvSpPr>
        <p:spPr>
          <a:xfrm>
            <a:off x="640080" y="1051560"/>
            <a:ext cx="5486400" cy="365760"/>
          </a:xfrm>
          <a:prstGeom prst="rect">
            <a:avLst/>
          </a:prstGeom>
          <a:noFill/>
          <a:ln/>
        </p:spPr>
        <p:txBody>
          <a:bodyPr wrap="square" lIns="0" tIns="0" rIns="0" bIns="0" rtlCol="0" anchor="ctr"/>
          <a:lstStyle/>
          <a:p>
            <a:pPr marL="0" indent="0">
              <a:buNone/>
            </a:pPr>
            <a:r>
              <a:rPr lang="en-US" sz="1400" b="1" kern="0" spc="300" dirty="0">
                <a:solidFill>
                  <a:srgbClr val="8FB4DD"/>
                </a:solidFill>
                <a:latin typeface="Arial" pitchFamily="34" charset="0"/>
                <a:ea typeface="Arial" pitchFamily="34" charset="-122"/>
                <a:cs typeface="Arial" pitchFamily="34" charset="-120"/>
              </a:rPr>
              <a:t>FAZIT</a:t>
            </a:r>
            <a:endParaRPr lang="en-US" sz="1400" dirty="0"/>
          </a:p>
        </p:txBody>
      </p:sp>
      <p:sp>
        <p:nvSpPr>
          <p:cNvPr id="3" name="Text 1"/>
          <p:cNvSpPr/>
          <p:nvPr/>
        </p:nvSpPr>
        <p:spPr>
          <a:xfrm>
            <a:off x="640080" y="1463040"/>
            <a:ext cx="5486400" cy="1371600"/>
          </a:xfrm>
          <a:prstGeom prst="rect">
            <a:avLst/>
          </a:prstGeom>
          <a:noFill/>
          <a:ln/>
        </p:spPr>
        <p:txBody>
          <a:bodyPr wrap="square" lIns="0" tIns="0" rIns="0" bIns="0" rtlCol="0" anchor="t"/>
          <a:lstStyle/>
          <a:p>
            <a:pPr marL="0" indent="0">
              <a:lnSpc>
                <a:spcPct val="105000"/>
              </a:lnSpc>
              <a:buNone/>
            </a:pPr>
            <a:r>
              <a:rPr lang="en-US" sz="3600" b="1" dirty="0">
                <a:solidFill>
                  <a:srgbClr val="FFFFFF"/>
                </a:solidFill>
                <a:latin typeface="Arial" pitchFamily="34" charset="0"/>
                <a:ea typeface="Arial" pitchFamily="34" charset="-122"/>
                <a:cs typeface="Arial" pitchFamily="34" charset="-120"/>
              </a:rPr>
              <a:t>Vom Zettel in die Moderne</a:t>
            </a:r>
            <a:endParaRPr lang="en-US" sz="3600" dirty="0"/>
          </a:p>
        </p:txBody>
      </p:sp>
      <p:sp>
        <p:nvSpPr>
          <p:cNvPr id="20" name="!!k1"/>
          <p:cNvSpPr/>
          <p:nvPr/>
        </p:nvSpPr>
        <p:spPr>
          <a:xfrm>
            <a:off x="640080" y="2880360"/>
            <a:ext cx="5394960" cy="1280160"/>
          </a:xfrm>
          <a:prstGeom prst="roundRect">
            <a:avLst>
              <a:gd name="adj" fmla="val 2857"/>
            </a:avLst>
          </a:prstGeom>
          <a:solidFill>
            <a:srgbClr val="1D3A5F"/>
          </a:solidFill>
          <a:ln w="19050">
            <a:solidFill>
              <a:srgbClr val="2E5A88"/>
            </a:solidFill>
            <a:prstDash val="solid"/>
          </a:ln>
          <a:effectLst/>
        </p:spPr>
      </p:sp>
      <p:sp>
        <p:nvSpPr>
          <p:cNvPr id="21" name="!!c1"/>
          <p:cNvSpPr/>
          <p:nvPr/>
        </p:nvSpPr>
        <p:spPr>
          <a:xfrm>
            <a:off x="914400" y="3200400"/>
            <a:ext cx="640080" cy="640080"/>
          </a:xfrm>
          <a:prstGeom prst="ellipse">
            <a:avLst/>
          </a:prstGeom>
          <a:solidFill>
            <a:srgbClr val="FFFFFF"/>
          </a:solidFill>
          <a:ln/>
        </p:spPr>
      </p:sp>
      <p:pic>
        <p:nvPicPr>
          <p:cNvPr id="22" name="Image 9" descr="preencoded.png"/>
          <p:cNvPicPr>
            <a:picLocks noChangeAspect="1"/>
          </p:cNvPicPr>
          <p:nvPr/>
        </p:nvPicPr>
        <p:blipFill>
          <a:blip r:embed="rId6"/>
          <a:stretch>
            <a:fillRect/>
          </a:stretch>
        </p:blipFill>
        <p:spPr>
          <a:xfrm>
            <a:off x="1080821" y="3366821"/>
            <a:ext cx="307238" cy="307238"/>
          </a:xfrm>
          <a:prstGeom prst="rect">
            <a:avLst/>
          </a:prstGeom>
        </p:spPr>
      </p:pic>
      <p:sp>
        <p:nvSpPr>
          <p:cNvPr id="23" name="Text 20"/>
          <p:cNvSpPr/>
          <p:nvPr/>
        </p:nvSpPr>
        <p:spPr>
          <a:xfrm>
            <a:off x="1737360" y="3035808"/>
            <a:ext cx="4023360" cy="274320"/>
          </a:xfrm>
          <a:prstGeom prst="rect">
            <a:avLst/>
          </a:prstGeom>
          <a:noFill/>
          <a:ln/>
        </p:spPr>
        <p:txBody>
          <a:bodyPr wrap="square" lIns="0" tIns="0" rIns="0" bIns="0" rtlCol="0" anchor="ctr"/>
          <a:lstStyle/>
          <a:p>
            <a:pPr marL="0" indent="0">
              <a:buNone/>
            </a:pPr>
            <a:r>
              <a:rPr lang="de-DE" sz="1200" b="1" kern="0" spc="100" dirty="0">
                <a:solidFill>
                  <a:srgbClr val="8FB4DD"/>
                </a:solidFill>
                <a:latin typeface="Arial" pitchFamily="34" charset="0"/>
                <a:ea typeface="Arial" pitchFamily="34" charset="-122"/>
                <a:cs typeface="Arial" pitchFamily="34" charset="-120"/>
              </a:rPr>
              <a:t>SAMSTAG, 22 UHR</a:t>
            </a:r>
            <a:endParaRPr lang="de-DE" sz="1200" dirty="0"/>
          </a:p>
        </p:txBody>
      </p:sp>
      <p:sp>
        <p:nvSpPr>
          <p:cNvPr id="24" name="Text 21"/>
          <p:cNvSpPr/>
          <p:nvPr/>
        </p:nvSpPr>
        <p:spPr>
          <a:xfrm>
            <a:off x="1737360" y="3310128"/>
            <a:ext cx="4023360" cy="411480"/>
          </a:xfrm>
          <a:prstGeom prst="rect">
            <a:avLst/>
          </a:prstGeom>
          <a:noFill/>
          <a:ln/>
        </p:spPr>
        <p:txBody>
          <a:bodyPr wrap="square" lIns="0" tIns="0" rIns="0" bIns="0" rtlCol="0" anchor="ctr"/>
          <a:lstStyle/>
          <a:p>
            <a:pPr marL="0" indent="0">
              <a:buNone/>
            </a:pPr>
            <a:r>
              <a:rPr lang="de-DE" sz="1800" b="1" kern="0" dirty="0">
                <a:solidFill>
                  <a:srgbClr val="FFFFFF"/>
                </a:solidFill>
                <a:latin typeface="Arial" pitchFamily="34" charset="0"/>
                <a:ea typeface="Arial" pitchFamily="34" charset="-122"/>
                <a:cs typeface="Arial" pitchFamily="34" charset="-120"/>
              </a:rPr>
              <a:t>Jetzt sieht es jeder kommen</a:t>
            </a:r>
            <a:endParaRPr lang="de-DE" sz="1800" dirty="0"/>
          </a:p>
        </p:txBody>
      </p:sp>
      <p:sp>
        <p:nvSpPr>
          <p:cNvPr id="25" name="Text 22"/>
          <p:cNvSpPr/>
          <p:nvPr/>
        </p:nvSpPr>
        <p:spPr>
          <a:xfrm>
            <a:off x="1737360" y="3721608"/>
            <a:ext cx="4023360" cy="274320"/>
          </a:xfrm>
          <a:prstGeom prst="rect">
            <a:avLst/>
          </a:prstGeom>
          <a:noFill/>
          <a:ln/>
        </p:spPr>
        <p:txBody>
          <a:bodyPr wrap="square" lIns="0" tIns="0" rIns="0" bIns="0" rtlCol="0" anchor="ctr"/>
          <a:lstStyle/>
          <a:p>
            <a:pPr marL="0" indent="0">
              <a:buNone/>
            </a:pPr>
            <a:r>
              <a:rPr lang="de-DE" sz="1300" kern="0" dirty="0">
                <a:solidFill>
                  <a:srgbClr val="BFD2E6"/>
                </a:solidFill>
                <a:latin typeface="Arial" pitchFamily="34" charset="0"/>
                <a:ea typeface="Arial" pitchFamily="34" charset="-122"/>
                <a:cs typeface="Arial" pitchFamily="34" charset="-120"/>
              </a:rPr>
              <a:t>Bestand live · Warnung rot · Historie lückenlos</a:t>
            </a:r>
            <a:endParaRPr lang="de-DE" sz="1300" dirty="0"/>
          </a:p>
        </p:txBody>
      </p:sp>
      <p:pic>
        <p:nvPicPr>
          <p:cNvPr id="6" name="Image 1" descr="end_zettel.png"/>
          <p:cNvPicPr>
            <a:picLocks noChangeAspect="1"/>
          </p:cNvPicPr>
          <p:nvPr/>
        </p:nvPicPr>
        <p:blipFill>
          <a:blip r:embed="rId3"/>
          <a:stretch>
            <a:fillRect/>
          </a:stretch>
        </p:blipFill>
        <p:spPr>
          <a:xfrm>
            <a:off x="6355080" y="1188720"/>
            <a:ext cx="2700000" cy="2807290"/>
          </a:xfrm>
          <a:prstGeom prst="rect">
            <a:avLst/>
          </a:prstGeom>
        </p:spPr>
      </p:pic>
      <p:pic>
        <p:nvPicPr>
          <p:cNvPr id="5" name="Image 0" descr="end_programm.png"/>
          <p:cNvPicPr>
            <a:picLocks noChangeAspect="1"/>
          </p:cNvPicPr>
          <p:nvPr/>
        </p:nvPicPr>
        <p:blipFill>
          <a:blip r:embed="rId4"/>
          <a:stretch>
            <a:fillRect/>
          </a:stretch>
        </p:blipFill>
        <p:spPr>
          <a:xfrm>
            <a:off x="6751920" y="2606606"/>
            <a:ext cx="4800000" cy="3266787"/>
          </a:xfrm>
          <a:prstGeom prst="rect">
            <a:avLst/>
          </a:prstGeom>
        </p:spPr>
      </p:pic>
      <p:sp>
        <p:nvSpPr>
          <p:cNvPr id="7" name="Text 3"/>
          <p:cNvSpPr/>
          <p:nvPr/>
        </p:nvSpPr>
        <p:spPr>
          <a:xfrm>
            <a:off x="640080" y="5852160"/>
            <a:ext cx="5669280" cy="548640"/>
          </a:xfrm>
          <a:prstGeom prst="rect">
            <a:avLst/>
          </a:prstGeom>
          <a:noFill/>
          <a:ln/>
        </p:spPr>
        <p:txBody>
          <a:bodyPr wrap="square" lIns="0" tIns="0" rIns="0" bIns="0" rtlCol="0" anchor="t"/>
          <a:lstStyle/>
          <a:p>
            <a:pPr marL="0" indent="0">
              <a:buNone/>
            </a:pPr>
            <a:r>
              <a:rPr lang="en-US" sz="1700" b="1" dirty="0">
                <a:solidFill>
                  <a:srgbClr val="8FB4DD"/>
                </a:solidFill>
                <a:latin typeface="Arial" pitchFamily="34" charset="0"/>
                <a:ea typeface="Arial" pitchFamily="34" charset="-122"/>
                <a:cs typeface="Arial" pitchFamily="34" charset="-120"/>
              </a:rPr>
              <a:t>Vielen Dank – ich freue mich auf Ihre Fragen.</a:t>
            </a:r>
            <a:endParaRPr lang="en-US" sz="1700" dirty="0"/>
          </a:p>
        </p:txBody>
      </p:sp>
      <p:sp>
        <p:nvSpPr>
          <p:cNvPr id="26" name="!!scrolltrack"/>
          <p:cNvSpPr/>
          <p:nvPr/>
        </p:nvSpPr>
        <p:spPr>
          <a:xfrm>
            <a:off x="11979240" y="457200"/>
            <a:ext cx="27432" cy="5943600"/>
          </a:xfrm>
          <a:prstGeom prst="roundRect">
            <a:avLst>
              <a:gd name="adj" fmla="val 50000"/>
            </a:avLst>
          </a:prstGeom>
          <a:solidFill>
            <a:srgbClr val="24405F"/>
          </a:solidFill>
          <a:ln/>
        </p:spPr>
      </p:sp>
      <p:sp>
        <p:nvSpPr>
          <p:cNvPr id="27" name="!!scrollthumb"/>
          <p:cNvSpPr/>
          <p:nvPr/>
        </p:nvSpPr>
        <p:spPr>
          <a:xfrm>
            <a:off x="11979240" y="6070600"/>
            <a:ext cx="27432" cy="330200"/>
          </a:xfrm>
          <a:prstGeom prst="roundRect">
            <a:avLst>
              <a:gd name="adj" fmla="val 50000"/>
            </a:avLst>
          </a:prstGeom>
          <a:solidFill>
            <a:srgbClr val="8FB4DD"/>
          </a:solidFill>
          <a:ln/>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650"/>
                                        <p:tgtEl>
                                          <p:spTgt spid="6"/>
                                        </p:tgtEl>
                                      </p:cBhvr>
                                    </p:animEffect>
                                    <p:set>
                                      <p:cBhvr>
                                        <p:cTn id="7" dur="1" fill="hold">
                                          <p:stCondLst>
                                            <p:cond delay="649"/>
                                          </p:stCondLst>
                                        </p:cTn>
                                        <p:tgtEl>
                                          <p:spTgt spid="6"/>
                                        </p:tgtEl>
                                        <p:attrNameLst>
                                          <p:attrName>style.visibility</p:attrName>
                                        </p:attrNameLst>
                                      </p:cBhvr>
                                      <p:to>
                                        <p:strVal val="hidden"/>
                                      </p:to>
                                    </p:set>
                                  </p:childTnLst>
                                </p:cTn>
                              </p:par>
                              <p:par>
                                <p:cTn id="8" presetID="6" presetClass="emph" presetSubtype="0" fill="hold" grpId="0" nodeType="withEffect">
                                  <p:stCondLst>
                                    <p:cond delay="350"/>
                                  </p:stCondLst>
                                  <p:childTnLst>
                                    <p:animScale>
                                      <p:cBhvr>
                                        <p:cTn id="9" dur="1000" fill="hold"/>
                                        <p:tgtEl>
                                          <p:spTgt spid="5"/>
                                        </p:tgtEl>
                                      </p:cBhvr>
                                      <p:by x="106000" y="106000"/>
                                    </p:animScale>
                                  </p:childTnLst>
                                </p:cTn>
                              </p:par>
                              <p:par>
                                <p:cTn id="10" presetID="6" presetClass="emph" presetSubtype="0" fill="hold" grpId="0" nodeType="withEffect">
                                  <p:stCondLst>
                                    <p:cond delay="350"/>
                                  </p:stCondLst>
                                  <p:childTnLst>
                                    <p:animScale>
                                      <p:cBhvr>
                                        <p:cTn id="11" dur="1000" fill="hold"/>
                                        <p:tgtEl>
                                          <p:spTgt spid="20"/>
                                        </p:tgtEl>
                                      </p:cBhvr>
                                      <p:by x="103000" y="103000"/>
                                    </p:animScale>
                                  </p:childTnLst>
                                </p:cTn>
                              </p:par>
                              <p:par>
                                <p:cTn id="12" presetID="6" presetClass="emph" presetSubtype="0" fill="hold" grpId="0" nodeType="withEffect">
                                  <p:stCondLst>
                                    <p:cond delay="350"/>
                                  </p:stCondLst>
                                  <p:childTnLst>
                                    <p:animScale>
                                      <p:cBhvr>
                                        <p:cTn id="13" dur="1000" fill="hold"/>
                                        <p:tgtEl>
                                          <p:spTgt spid="21"/>
                                        </p:tgtEl>
                                      </p:cBhvr>
                                      <p:by x="103000" y="103000"/>
                                    </p:animScale>
                                  </p:childTnLst>
                                </p:cTn>
                              </p:par>
                              <p:par>
                                <p:cTn id="14" presetID="6" presetClass="emph" presetSubtype="0" fill="hold" grpId="0" nodeType="withEffect">
                                  <p:stCondLst>
                                    <p:cond delay="350"/>
                                  </p:stCondLst>
                                  <p:childTnLst>
                                    <p:animScale>
                                      <p:cBhvr>
                                        <p:cTn id="15" dur="1000" fill="hold"/>
                                        <p:tgtEl>
                                          <p:spTgt spid="22"/>
                                        </p:tgtEl>
                                      </p:cBhvr>
                                      <p:by x="103000" y="103000"/>
                                    </p:animScale>
                                  </p:childTnLst>
                                </p:cTn>
                              </p:par>
                              <p:par>
                                <p:cTn id="16" presetID="6" presetClass="emph" presetSubtype="0" fill="hold" grpId="0" nodeType="withEffect">
                                  <p:stCondLst>
                                    <p:cond delay="350"/>
                                  </p:stCondLst>
                                  <p:childTnLst>
                                    <p:animScale>
                                      <p:cBhvr>
                                        <p:cTn id="17" dur="1000" fill="hold"/>
                                        <p:tgtEl>
                                          <p:spTgt spid="23"/>
                                        </p:tgtEl>
                                      </p:cBhvr>
                                      <p:by x="103000" y="103000"/>
                                    </p:animScale>
                                  </p:childTnLst>
                                </p:cTn>
                              </p:par>
                              <p:par>
                                <p:cTn id="18" presetID="6" presetClass="emph" presetSubtype="0" fill="hold" grpId="0" nodeType="withEffect">
                                  <p:stCondLst>
                                    <p:cond delay="350"/>
                                  </p:stCondLst>
                                  <p:childTnLst>
                                    <p:animScale>
                                      <p:cBhvr>
                                        <p:cTn id="19" dur="1000" fill="hold"/>
                                        <p:tgtEl>
                                          <p:spTgt spid="24"/>
                                        </p:tgtEl>
                                      </p:cBhvr>
                                      <p:by x="103000" y="103000"/>
                                    </p:animScale>
                                  </p:childTnLst>
                                </p:cTn>
                              </p:par>
                              <p:par>
                                <p:cTn id="20" presetID="6" presetClass="emph" presetSubtype="0" fill="hold" grpId="0" nodeType="withEffect">
                                  <p:stCondLst>
                                    <p:cond delay="350"/>
                                  </p:stCondLst>
                                  <p:childTnLst>
                                    <p:animScale>
                                      <p:cBhvr>
                                        <p:cTn id="21" dur="1000" fill="hold"/>
                                        <p:tgtEl>
                                          <p:spTgt spid="25"/>
                                        </p:tgtEl>
                                      </p:cBhvr>
                                      <p:by x="103000" y="103000"/>
                                    </p:animScale>
                                  </p:childTnLst>
                                </p:cTn>
                              </p:par>
                              <p:par>
                                <p:cTn id="22" presetID="0" presetClass="path" presetSubtype="0" accel="50000" decel="50000" fill="hold" grpId="1" nodeType="withEffect">
                                  <p:stCondLst>
                                    <p:cond delay="350"/>
                                  </p:stCondLst>
                                  <p:childTnLst>
                                    <p:animMotion origin="layout" path="M 0 0 L -0.00517 0 E" pathEditMode="relative" rAng="0" ptsTypes="AA">
                                      <p:cBhvr additive="base">
                                        <p:cTn id="23" dur="1000" fill="hold"/>
                                        <p:tgtEl>
                                          <p:spTgt spid="21"/>
                                        </p:tgtEl>
                                        <p:attrNameLst>
                                          <p:attrName>ppt_x</p:attrName>
                                          <p:attrName>ppt_y</p:attrName>
                                        </p:attrNameLst>
                                      </p:cBhvr>
                                      <p:rCtr x="-258" y="0"/>
                                    </p:animMotion>
                                  </p:childTnLst>
                                </p:cTn>
                              </p:par>
                              <p:par>
                                <p:cTn id="24" presetID="0" presetClass="path" presetSubtype="0" accel="50000" decel="50000" fill="hold" grpId="1" nodeType="withEffect">
                                  <p:stCondLst>
                                    <p:cond delay="350"/>
                                  </p:stCondLst>
                                  <p:childTnLst>
                                    <p:animMotion origin="layout" path="M 0 0 L -0.00517 0 E" pathEditMode="relative" rAng="0" ptsTypes="AA">
                                      <p:cBhvr additive="base">
                                        <p:cTn id="25" dur="1000" fill="hold"/>
                                        <p:tgtEl>
                                          <p:spTgt spid="22"/>
                                        </p:tgtEl>
                                        <p:attrNameLst>
                                          <p:attrName>ppt_x</p:attrName>
                                          <p:attrName>ppt_y</p:attrName>
                                        </p:attrNameLst>
                                      </p:cBhvr>
                                      <p:rCtr x="-258"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5" grpId="0"/>
      <p:bldP spid="20" grpId="0"/>
      <p:bldP spid="21" grpId="0"/>
      <p:bldP spid="21" grpId="1"/>
      <p:bldP spid="22" grpId="0"/>
      <p:bldP spid="22" grpId="1"/>
      <p:bldP spid="23" grpId="0"/>
      <p:bldP spid="24" grpId="0"/>
      <p:bldP spid="25" grpId="0"/>
    </p:bldLst>
  </p:timing>
</p:sld>
</file>

<file path=ppt/slides/slide15.xml><?xml version="1.0" encoding="utf-8"?>
<p:sld xmlns:a="http://schemas.openxmlformats.org/drawingml/2006/main" xmlns:r="http://schemas.openxmlformats.org/officeDocument/2006/relationships" xmlns:p="http://schemas.openxmlformats.org/presentationml/2006/main">
  <p:cSld name="Slide 1">
    <p:bg>
      <p:bgPr>
        <a:solidFill>
          <a:srgbClr val="16273D"/>
        </a:solidFill>
        <a:effectLst/>
      </p:bgPr>
    </p:bg>
    <p:spTree>
      <p:nvGrpSpPr>
        <p:cNvPr id="1" name=""/>
        <p:cNvGrpSpPr/>
        <p:nvPr/>
      </p:nvGrpSpPr>
      <p:grpSpPr>
        <a:xfrm>
          <a:off x="0" y="0"/>
          <a:ext cx="0" cy="0"/>
          <a:chOff x="0" y="0"/>
          <a:chExt cx="0" cy="0"/>
        </a:xfrm>
      </p:grpSpPr>
      <p:pic>
        <p:nvPicPr>
          <p:cNvPr id="2" name="Image 0" descr="slide1_bg.png"/>
          <p:cNvPicPr>
            <a:picLocks noChangeAspect="1"/>
          </p:cNvPicPr>
          <p:nvPr/>
        </p:nvPicPr>
        <p:blipFill>
          <a:blip r:embed="rId3"/>
          <a:stretch>
            <a:fillRect/>
          </a:stretch>
        </p:blipFill>
        <p:spPr>
          <a:xfrm>
            <a:off x="7159752" y="822960"/>
            <a:ext cx="4526280" cy="5120640"/>
          </a:xfrm>
          <a:prstGeom prst="rect">
            <a:avLst/>
          </a:prstGeom>
        </p:spPr>
      </p:pic>
      <p:sp>
        <p:nvSpPr>
          <p:cNvPr id="20" name="!!hand"/>
          <p:cNvSpPr/>
          <p:nvPr/>
        </p:nvSpPr>
        <p:spPr>
          <a:xfrm>
            <a:off x="7434072" y="1097280"/>
            <a:ext cx="3977640" cy="975665"/>
          </a:xfrm>
          <a:prstGeom prst="roundRect">
            <a:avLst>
              <a:gd name="adj" fmla="val 4500"/>
            </a:avLst>
          </a:prstGeom>
          <a:solidFill>
            <a:srgbClr val="20364F"/>
          </a:solidFill>
          <a:ln/>
        </p:spPr>
      </p:sp>
      <p:sp>
        <p:nvSpPr>
          <p:cNvPr id="21" name="!!handc"/>
          <p:cNvSpPr/>
          <p:nvPr/>
        </p:nvSpPr>
        <p:spPr>
          <a:xfrm>
            <a:off x="7708392" y="1310792"/>
            <a:ext cx="548640" cy="548640"/>
          </a:xfrm>
          <a:prstGeom prst="ellipse">
            <a:avLst/>
          </a:prstGeom>
          <a:solidFill>
            <a:srgbClr val="FFFFFF"/>
          </a:solidFill>
          <a:ln/>
        </p:spPr>
      </p:sp>
      <p:pic>
        <p:nvPicPr>
          <p:cNvPr id="22" name="HandIcon" descr="preencoded.png"/>
          <p:cNvPicPr>
            <a:picLocks noChangeAspect="1"/>
          </p:cNvPicPr>
          <p:nvPr/>
        </p:nvPicPr>
        <p:blipFill>
          <a:blip r:embed="rId6"/>
          <a:stretch>
            <a:fillRect/>
          </a:stretch>
        </p:blipFill>
        <p:spPr>
          <a:xfrm>
            <a:off x="7845552" y="1447952"/>
            <a:ext cx="274320" cy="274320"/>
          </a:xfrm>
          <a:prstGeom prst="rect">
            <a:avLst/>
          </a:prstGeom>
        </p:spPr>
      </p:pic>
      <p:sp>
        <p:nvSpPr>
          <p:cNvPr id="23" name="!!handt1"/>
          <p:cNvSpPr/>
          <p:nvPr/>
        </p:nvSpPr>
        <p:spPr>
          <a:xfrm>
            <a:off x="8485632" y="1338224"/>
            <a:ext cx="2926080" cy="274320"/>
          </a:xfrm>
          <a:prstGeom prst="rect">
            <a:avLst/>
          </a:prstGeom>
          <a:noFill/>
          <a:ln/>
        </p:spPr>
        <p:txBody>
          <a:bodyPr wrap="square" lIns="0" tIns="0" rIns="0" bIns="0" rtlCol="0" anchor="ctr"/>
          <a:lstStyle/>
          <a:p>
            <a:pPr marL="0" indent="0">
              <a:buNone/>
            </a:pPr>
            <a:r>
              <a:rPr lang="de-DE" sz="1400" b="1" kern="0" spc="200" dirty="0">
                <a:solidFill>
                  <a:srgbClr val="BFD2E6"/>
                </a:solidFill>
                <a:latin typeface="Arial" pitchFamily="34" charset="0"/>
                <a:ea typeface="Arial" pitchFamily="34" charset="-122"/>
                <a:cs typeface="Arial" pitchFamily="34" charset="-120"/>
              </a:rPr>
              <a:t>VON HAND</a:t>
            </a:r>
            <a:endParaRPr lang="de-DE" sz="1400" dirty="0"/>
          </a:p>
        </p:txBody>
      </p:sp>
      <p:sp>
        <p:nvSpPr>
          <p:cNvPr id="24" name="!!handt2"/>
          <p:cNvSpPr/>
          <p:nvPr/>
        </p:nvSpPr>
        <p:spPr>
          <a:xfrm>
            <a:off x="8485632" y="1612544"/>
            <a:ext cx="2926080" cy="219456"/>
          </a:xfrm>
          <a:prstGeom prst="rect">
            <a:avLst/>
          </a:prstGeom>
          <a:noFill/>
          <a:ln/>
        </p:spPr>
        <p:txBody>
          <a:bodyPr wrap="square" lIns="0" tIns="0" rIns="0" bIns="0" rtlCol="0" anchor="ctr"/>
          <a:lstStyle/>
          <a:p>
            <a:pPr marL="0" indent="0">
              <a:buNone/>
            </a:pPr>
            <a:r>
              <a:rPr lang="de-DE" sz="1000" kern="0" dirty="0">
                <a:solidFill>
                  <a:srgbClr val="7F9BC0"/>
                </a:solidFill>
                <a:latin typeface="Arial" pitchFamily="34" charset="0"/>
                <a:ea typeface="Arial" pitchFamily="34" charset="-122"/>
                <a:cs typeface="Arial" pitchFamily="34" charset="-120"/>
              </a:rPr>
              <a:t>Zettel · Fax · Excel</a:t>
            </a:r>
            <a:endParaRPr lang="de-DE" sz="1000" dirty="0"/>
          </a:p>
        </p:txBody>
      </p:sp>
      <p:sp>
        <p:nvSpPr>
          <p:cNvPr id="25" name="!!dev"/>
          <p:cNvSpPr/>
          <p:nvPr/>
        </p:nvSpPr>
        <p:spPr>
          <a:xfrm>
            <a:off x="7434072" y="2210105"/>
            <a:ext cx="3977640" cy="3459175"/>
          </a:xfrm>
          <a:prstGeom prst="roundRect">
            <a:avLst>
              <a:gd name="adj" fmla="val 4500"/>
            </a:avLst>
          </a:prstGeom>
          <a:solidFill>
            <a:srgbClr val="2E5A88"/>
          </a:solidFill>
          <a:ln/>
        </p:spPr>
      </p:sp>
      <p:sp>
        <p:nvSpPr>
          <p:cNvPr id="26" name="!!devc"/>
          <p:cNvSpPr/>
          <p:nvPr/>
        </p:nvSpPr>
        <p:spPr>
          <a:xfrm>
            <a:off x="7708392" y="3665372"/>
            <a:ext cx="548640" cy="548640"/>
          </a:xfrm>
          <a:prstGeom prst="ellipse">
            <a:avLst/>
          </a:prstGeom>
          <a:solidFill>
            <a:srgbClr val="FFFFFF"/>
          </a:solidFill>
          <a:ln/>
        </p:spPr>
      </p:sp>
      <p:pic>
        <p:nvPicPr>
          <p:cNvPr id="27" name="DevIcon" descr="preencoded.png"/>
          <p:cNvPicPr>
            <a:picLocks noChangeAspect="1"/>
          </p:cNvPicPr>
          <p:nvPr/>
        </p:nvPicPr>
        <p:blipFill>
          <a:blip r:embed="rId7"/>
          <a:stretch>
            <a:fillRect/>
          </a:stretch>
        </p:blipFill>
        <p:spPr>
          <a:xfrm>
            <a:off x="7845552" y="3802532"/>
            <a:ext cx="274320" cy="274320"/>
          </a:xfrm>
          <a:prstGeom prst="rect">
            <a:avLst/>
          </a:prstGeom>
        </p:spPr>
      </p:pic>
      <p:sp>
        <p:nvSpPr>
          <p:cNvPr id="28" name="!!devt1"/>
          <p:cNvSpPr/>
          <p:nvPr/>
        </p:nvSpPr>
        <p:spPr>
          <a:xfrm>
            <a:off x="8485632" y="3692804"/>
            <a:ext cx="2926080" cy="274320"/>
          </a:xfrm>
          <a:prstGeom prst="rect">
            <a:avLst/>
          </a:prstGeom>
          <a:noFill/>
          <a:ln/>
        </p:spPr>
        <p:txBody>
          <a:bodyPr wrap="square" lIns="0" tIns="0" rIns="0" bIns="0" rtlCol="0" anchor="ctr"/>
          <a:lstStyle/>
          <a:p>
            <a:pPr marL="0" indent="0">
              <a:buNone/>
            </a:pPr>
            <a:r>
              <a:rPr lang="de-DE" sz="1400" b="1" kern="0" spc="200" dirty="0">
                <a:solidFill>
                  <a:srgbClr val="FFFFFF"/>
                </a:solidFill>
                <a:latin typeface="Arial" pitchFamily="34" charset="0"/>
                <a:ea typeface="Arial" pitchFamily="34" charset="-122"/>
                <a:cs typeface="Arial" pitchFamily="34" charset="-120"/>
              </a:rPr>
              <a:t>ENTWICKLER</a:t>
            </a:r>
            <a:endParaRPr lang="de-DE" sz="1400" dirty="0"/>
          </a:p>
        </p:txBody>
      </p:sp>
      <p:sp>
        <p:nvSpPr>
          <p:cNvPr id="29" name="!!devt2"/>
          <p:cNvSpPr/>
          <p:nvPr/>
        </p:nvSpPr>
        <p:spPr>
          <a:xfrm>
            <a:off x="8485632" y="3967124"/>
            <a:ext cx="2926080" cy="219456"/>
          </a:xfrm>
          <a:prstGeom prst="rect">
            <a:avLst/>
          </a:prstGeom>
          <a:noFill/>
          <a:ln/>
        </p:spPr>
        <p:txBody>
          <a:bodyPr wrap="square" lIns="0" tIns="0" rIns="0" bIns="0" rtlCol="0" anchor="ctr"/>
          <a:lstStyle/>
          <a:p>
            <a:pPr marL="0" indent="0">
              <a:buNone/>
            </a:pPr>
            <a:r>
              <a:rPr lang="de-DE" sz="1000" kern="0" dirty="0">
                <a:solidFill>
                  <a:srgbClr val="D7E5F5"/>
                </a:solidFill>
                <a:latin typeface="Arial" pitchFamily="34" charset="0"/>
                <a:ea typeface="Arial" pitchFamily="34" charset="-122"/>
                <a:cs typeface="Arial" pitchFamily="34" charset="-120"/>
              </a:rPr>
              <a:t>eigene Software</a:t>
            </a:r>
            <a:endParaRPr lang="de-DE" sz="1000" dirty="0"/>
          </a:p>
        </p:txBody>
      </p:sp>
      <p:sp>
        <p:nvSpPr>
          <p:cNvPr id="6" name="Text 1"/>
          <p:cNvSpPr/>
          <p:nvPr/>
        </p:nvSpPr>
        <p:spPr>
          <a:xfrm>
            <a:off x="822960" y="1554480"/>
            <a:ext cx="6126480" cy="2468880"/>
          </a:xfrm>
          <a:prstGeom prst="rect">
            <a:avLst/>
          </a:prstGeom>
          <a:noFill/>
          <a:ln/>
        </p:spPr>
        <p:txBody>
          <a:bodyPr wrap="square" lIns="0" tIns="0" rIns="0" bIns="0" rtlCol="0" anchor="t"/>
          <a:lstStyle/>
          <a:p>
            <a:pPr marL="0" indent="0">
              <a:lnSpc>
                <a:spcPct val="105000"/>
              </a:lnSpc>
              <a:buNone/>
            </a:pPr>
            <a:r>
              <a:rPr lang="en-US" sz="3800" b="1" dirty="0">
                <a:solidFill>
                  <a:srgbClr val="FFFFFF"/>
                </a:solidFill>
                <a:latin typeface="Arial" pitchFamily="34" charset="0"/>
                <a:ea typeface="Arial" pitchFamily="34" charset="-122"/>
                <a:cs typeface="Arial" pitchFamily="34" charset="-120"/>
              </a:rPr>
              <a:t>Von Hand zu digital –</a:t>
            </a:r>
            <a:endParaRPr lang="en-US" sz="3800" dirty="0"/>
          </a:p>
          <a:p>
            <a:pPr marL="0" indent="0">
              <a:lnSpc>
                <a:spcPct val="105000"/>
              </a:lnSpc>
              <a:buNone/>
            </a:pPr>
            <a:r>
              <a:rPr lang="en-US" sz="3800" b="1" dirty="0">
                <a:solidFill>
                  <a:srgbClr val="CDDDEC"/>
                </a:solidFill>
                <a:latin typeface="Arial" pitchFamily="34" charset="0"/>
                <a:ea typeface="Arial" pitchFamily="34" charset="-122"/>
                <a:cs typeface="Arial" pitchFamily="34" charset="-120"/>
              </a:rPr>
              <a:t>und jetzt auf der anderen Seite der </a:t>
            </a:r>
            <a:r>
              <a:rPr lang="en-US" sz="3800" b="1" dirty="0" err="1">
                <a:solidFill>
                  <a:srgbClr val="CDDDEC"/>
                </a:solidFill>
                <a:latin typeface="Arial" pitchFamily="34" charset="0"/>
                <a:ea typeface="Arial" pitchFamily="34" charset="-122"/>
                <a:cs typeface="Arial" pitchFamily="34" charset="-120"/>
              </a:rPr>
              <a:t>Macht</a:t>
            </a:r>
            <a:endParaRPr lang="en-US" sz="3800" dirty="0"/>
          </a:p>
        </p:txBody>
      </p:sp>
      <p:sp>
        <p:nvSpPr>
          <p:cNvPr id="7" name="Text 2"/>
          <p:cNvSpPr/>
          <p:nvPr/>
        </p:nvSpPr>
        <p:spPr>
          <a:xfrm>
            <a:off x="822960" y="4160520"/>
            <a:ext cx="5943600" cy="914400"/>
          </a:xfrm>
          <a:prstGeom prst="rect">
            <a:avLst/>
          </a:prstGeom>
          <a:noFill/>
          <a:ln/>
        </p:spPr>
        <p:txBody>
          <a:bodyPr wrap="square" lIns="0" tIns="0" rIns="0" bIns="0" rtlCol="0" anchor="t"/>
          <a:lstStyle/>
          <a:p>
            <a:pPr marL="0" indent="0">
              <a:buNone/>
            </a:pPr>
            <a:r>
              <a:rPr lang="en-US" sz="1600" dirty="0">
                <a:solidFill>
                  <a:srgbClr val="BFD2E6"/>
                </a:solidFill>
                <a:latin typeface="Arial" pitchFamily="34" charset="0"/>
                <a:ea typeface="Arial" pitchFamily="34" charset="-122"/>
                <a:cs typeface="Arial" pitchFamily="34" charset="-120"/>
              </a:rPr>
              <a:t>Software zur Lagerverwaltung von medizinischem Verbrauchsmaterial im Krankenhaus</a:t>
            </a:r>
            <a:endParaRPr lang="en-US" sz="16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a:effectLst/>
      </p:bgPr>
    </p:bg>
    <p:spTree>
      <p:nvGrpSpPr>
        <p:cNvPr id="1" name=""/>
        <p:cNvGrpSpPr/>
        <p:nvPr/>
      </p:nvGrpSpPr>
      <p:grpSpPr>
        <a:xfrm>
          <a:off x="0" y="0"/>
          <a:ext cx="0" cy="0"/>
          <a:chOff x="0" y="0"/>
          <a:chExt cx="0" cy="0"/>
        </a:xfrm>
      </p:grpSpPr>
      <p:sp>
        <p:nvSpPr>
          <p:cNvPr id="2" name="!!eyebrow"/>
          <p:cNvSpPr/>
          <p:nvPr/>
        </p:nvSpPr>
        <p:spPr>
          <a:xfrm>
            <a:off x="640080" y="457200"/>
            <a:ext cx="10881360" cy="320040"/>
          </a:xfrm>
          <a:prstGeom prst="rect">
            <a:avLst/>
          </a:prstGeom>
          <a:noFill/>
          <a:ln/>
        </p:spPr>
        <p:txBody>
          <a:bodyPr wrap="square" lIns="0" tIns="0" rIns="0" bIns="0" rtlCol="0" anchor="ctr"/>
          <a:lstStyle/>
          <a:p>
            <a:pPr marL="0" indent="0">
              <a:buNone/>
            </a:pPr>
            <a:r>
              <a:rPr lang="en-US" sz="1200" b="1" kern="0" spc="200" dirty="0">
                <a:solidFill>
                  <a:srgbClr val="2E5A88"/>
                </a:solidFill>
                <a:latin typeface="Arial" pitchFamily="34" charset="0"/>
                <a:ea typeface="Arial" pitchFamily="34" charset="-122"/>
                <a:cs typeface="Arial" pitchFamily="34" charset="-120"/>
              </a:rPr>
              <a:t>ÜBERBLICK</a:t>
            </a:r>
          </a:p>
        </p:txBody>
      </p:sp>
      <p:sp>
        <p:nvSpPr>
          <p:cNvPr id="3" name="!!title"/>
          <p:cNvSpPr/>
          <p:nvPr/>
        </p:nvSpPr>
        <p:spPr>
          <a:xfrm>
            <a:off x="640080" y="786384"/>
            <a:ext cx="10972800" cy="640080"/>
          </a:xfrm>
          <a:prstGeom prst="rect">
            <a:avLst/>
          </a:prstGeom>
          <a:noFill/>
          <a:ln/>
        </p:spPr>
        <p:txBody>
          <a:bodyPr wrap="square" lIns="0" tIns="0" rIns="0" bIns="0" rtlCol="0" anchor="ctr"/>
          <a:lstStyle/>
          <a:p>
            <a:pPr marL="0" indent="0">
              <a:buNone/>
            </a:pPr>
            <a:r>
              <a:rPr lang="en-US" sz="3000" b="1" dirty="0">
                <a:solidFill>
                  <a:srgbClr val="1D3A5F"/>
                </a:solidFill>
                <a:latin typeface="Arial" pitchFamily="34" charset="0"/>
                <a:ea typeface="Arial" pitchFamily="34" charset="-122"/>
                <a:cs typeface="Arial" pitchFamily="34" charset="-120"/>
              </a:rPr>
              <a:t>Was Sie in den nächsten Minuten erwartet</a:t>
            </a:r>
            <a:endParaRPr lang="en-US" sz="3000" dirty="0"/>
          </a:p>
        </p:txBody>
      </p:sp>
      <p:sp>
        <p:nvSpPr>
          <p:cNvPr id="4" name="!!sub"/>
          <p:cNvSpPr/>
          <p:nvPr/>
        </p:nvSpPr>
        <p:spPr>
          <a:xfrm>
            <a:off x="640080" y="1481328"/>
            <a:ext cx="10881360" cy="457200"/>
          </a:xfrm>
          <a:prstGeom prst="rect">
            <a:avLst/>
          </a:prstGeom>
          <a:noFill/>
          <a:ln/>
        </p:spPr>
        <p:txBody>
          <a:bodyPr wrap="square" lIns="0" tIns="0" rIns="0" bIns="0" rtlCol="0" anchor="ctr"/>
          <a:lstStyle/>
          <a:p>
            <a:pPr marL="0" indent="0">
              <a:buNone/>
            </a:pPr>
            <a:r>
              <a:rPr lang="de-DE" sz="1500" dirty="0">
                <a:solidFill>
                  <a:srgbClr val="5C6B7A"/>
                </a:solidFill>
                <a:latin typeface="Arial" pitchFamily="34" charset="0"/>
                <a:cs typeface="Arial" pitchFamily="34" charset="-120"/>
              </a:rPr>
              <a:t>Vier Abschnitte – vom Lageralltag bis zur fertigen Anwendung.</a:t>
            </a:r>
            <a:endParaRPr lang="en-US" sz="1500" dirty="0">
              <a:solidFill>
                <a:srgbClr val="5C6B7A"/>
              </a:solidFill>
              <a:latin typeface="Arial" pitchFamily="34" charset="0"/>
              <a:ea typeface="Arial" pitchFamily="34" charset="-122"/>
              <a:cs typeface="Arial" pitchFamily="34" charset="-120"/>
            </a:endParaRPr>
          </a:p>
        </p:txBody>
      </p:sp>
      <p:sp>
        <p:nvSpPr>
          <p:cNvPr id="5" name="!!k1"/>
          <p:cNvSpPr/>
          <p:nvPr/>
        </p:nvSpPr>
        <p:spPr>
          <a:xfrm>
            <a:off x="640080" y="2377440"/>
            <a:ext cx="2521458" cy="2240280"/>
          </a:xfrm>
          <a:prstGeom prst="roundRect">
            <a:avLst>
              <a:gd name="adj" fmla="val 367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6" name="!!c1"/>
          <p:cNvSpPr/>
          <p:nvPr/>
        </p:nvSpPr>
        <p:spPr>
          <a:xfrm>
            <a:off x="896112" y="2670048"/>
            <a:ext cx="640080" cy="640080"/>
          </a:xfrm>
          <a:prstGeom prst="ellipse">
            <a:avLst/>
          </a:prstGeom>
          <a:solidFill>
            <a:srgbClr val="E8EEF5"/>
          </a:solidFill>
          <a:ln/>
        </p:spPr>
      </p:sp>
      <p:pic>
        <p:nvPicPr>
          <p:cNvPr id="7" name="Image 0" descr="preencoded.png"/>
          <p:cNvPicPr>
            <a:picLocks noChangeAspect="1"/>
          </p:cNvPicPr>
          <p:nvPr/>
        </p:nvPicPr>
        <p:blipFill>
          <a:blip r:embed="rId20"/>
          <a:stretch>
            <a:fillRect/>
          </a:stretch>
        </p:blipFill>
        <p:spPr>
          <a:xfrm>
            <a:off x="1062533" y="2836469"/>
            <a:ext cx="307238" cy="307238"/>
          </a:xfrm>
          <a:prstGeom prst="rect">
            <a:avLst/>
          </a:prstGeom>
        </p:spPr>
      </p:pic>
      <p:sp>
        <p:nvSpPr>
          <p:cNvPr id="8" name="Text 5"/>
          <p:cNvSpPr/>
          <p:nvPr/>
        </p:nvSpPr>
        <p:spPr>
          <a:xfrm>
            <a:off x="896112" y="3474720"/>
            <a:ext cx="2009394" cy="640080"/>
          </a:xfrm>
          <a:prstGeom prst="rect">
            <a:avLst/>
          </a:prstGeom>
          <a:noFill/>
          <a:ln/>
        </p:spPr>
        <p:txBody>
          <a:bodyPr wrap="square" lIns="0" tIns="0" rIns="0" bIns="0" rtlCol="0" anchor="t"/>
          <a:lstStyle/>
          <a:p>
            <a:pPr marL="0" indent="0">
              <a:lnSpc>
                <a:spcPct val="105000"/>
              </a:lnSpc>
              <a:buNone/>
            </a:pPr>
            <a:r>
              <a:rPr lang="en-US" sz="1600" b="1" dirty="0">
                <a:solidFill>
                  <a:srgbClr val="1D3A5F"/>
                </a:solidFill>
                <a:latin typeface="Arial" pitchFamily="34" charset="0"/>
                <a:ea typeface="Arial" pitchFamily="34" charset="-122"/>
                <a:cs typeface="Arial" pitchFamily="34" charset="-120"/>
              </a:rPr>
              <a:t>1 · Praxis</a:t>
            </a:r>
            <a:endParaRPr lang="en-US" sz="1600" dirty="0"/>
          </a:p>
        </p:txBody>
      </p:sp>
      <p:sp>
        <p:nvSpPr>
          <p:cNvPr id="9" name="Text 6"/>
          <p:cNvSpPr/>
          <p:nvPr/>
        </p:nvSpPr>
        <p:spPr>
          <a:xfrm>
            <a:off x="896112" y="4133088"/>
            <a:ext cx="2009394" cy="411480"/>
          </a:xfrm>
          <a:prstGeom prst="rect">
            <a:avLst/>
          </a:prstGeom>
          <a:noFill/>
          <a:ln/>
        </p:spPr>
        <p:txBody>
          <a:bodyPr wrap="square" lIns="0" tIns="0" rIns="0" bIns="0" rtlCol="0" anchor="t"/>
          <a:lstStyle/>
          <a:p>
            <a:pPr marL="0" indent="0">
              <a:buNone/>
            </a:pPr>
            <a:r>
              <a:rPr lang="en-US" sz="1250" dirty="0">
                <a:solidFill>
                  <a:srgbClr val="5C6B7A"/>
                </a:solidFill>
                <a:latin typeface="Arial" pitchFamily="34" charset="0"/>
                <a:ea typeface="Arial" pitchFamily="34" charset="-122"/>
                <a:cs typeface="Arial" pitchFamily="34" charset="-120"/>
              </a:rPr>
              <a:t>Aus dem Lageralltag</a:t>
            </a:r>
            <a:endParaRPr lang="en-US" sz="1250" dirty="0"/>
          </a:p>
        </p:txBody>
      </p:sp>
      <p:sp>
        <p:nvSpPr>
          <p:cNvPr id="10" name="!!k2"/>
          <p:cNvSpPr/>
          <p:nvPr/>
        </p:nvSpPr>
        <p:spPr>
          <a:xfrm>
            <a:off x="3435858" y="2377440"/>
            <a:ext cx="2521458" cy="2240280"/>
          </a:xfrm>
          <a:prstGeom prst="roundRect">
            <a:avLst>
              <a:gd name="adj" fmla="val 367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11" name="!!c2"/>
          <p:cNvSpPr/>
          <p:nvPr/>
        </p:nvSpPr>
        <p:spPr>
          <a:xfrm>
            <a:off x="3691890" y="2670048"/>
            <a:ext cx="640080" cy="640080"/>
          </a:xfrm>
          <a:prstGeom prst="ellipse">
            <a:avLst/>
          </a:prstGeom>
          <a:solidFill>
            <a:srgbClr val="E8EEF5"/>
          </a:solidFill>
          <a:ln/>
        </p:spPr>
      </p:sp>
      <p:pic>
        <p:nvPicPr>
          <p:cNvPr id="12" name="Image 1" descr="preencoded.png"/>
          <p:cNvPicPr>
            <a:picLocks noChangeAspect="1"/>
          </p:cNvPicPr>
          <p:nvPr/>
        </p:nvPicPr>
        <p:blipFill>
          <a:blip r:embed="rId21"/>
          <a:stretch>
            <a:fillRect/>
          </a:stretch>
        </p:blipFill>
        <p:spPr>
          <a:xfrm>
            <a:off x="3858311" y="2836469"/>
            <a:ext cx="307238" cy="307238"/>
          </a:xfrm>
          <a:prstGeom prst="rect">
            <a:avLst/>
          </a:prstGeom>
        </p:spPr>
      </p:pic>
      <p:sp>
        <p:nvSpPr>
          <p:cNvPr id="13" name="Text 9"/>
          <p:cNvSpPr/>
          <p:nvPr/>
        </p:nvSpPr>
        <p:spPr>
          <a:xfrm>
            <a:off x="3691890" y="3474720"/>
            <a:ext cx="2009394" cy="640080"/>
          </a:xfrm>
          <a:prstGeom prst="rect">
            <a:avLst/>
          </a:prstGeom>
          <a:noFill/>
          <a:ln/>
        </p:spPr>
        <p:txBody>
          <a:bodyPr wrap="square" lIns="0" tIns="0" rIns="0" bIns="0" rtlCol="0" anchor="t"/>
          <a:lstStyle/>
          <a:p>
            <a:pPr marL="0" indent="0">
              <a:lnSpc>
                <a:spcPct val="105000"/>
              </a:lnSpc>
              <a:buNone/>
            </a:pPr>
            <a:r>
              <a:rPr lang="en-US" sz="1600" b="1" dirty="0">
                <a:solidFill>
                  <a:srgbClr val="1D3A5F"/>
                </a:solidFill>
                <a:latin typeface="Arial" pitchFamily="34" charset="0"/>
                <a:ea typeface="Arial" pitchFamily="34" charset="-122"/>
                <a:cs typeface="Arial" pitchFamily="34" charset="-120"/>
              </a:rPr>
              <a:t>2 · Problem</a:t>
            </a:r>
            <a:endParaRPr lang="en-US" sz="1600" dirty="0"/>
          </a:p>
        </p:txBody>
      </p:sp>
      <p:sp>
        <p:nvSpPr>
          <p:cNvPr id="14" name="Text 10"/>
          <p:cNvSpPr/>
          <p:nvPr/>
        </p:nvSpPr>
        <p:spPr>
          <a:xfrm>
            <a:off x="3691890" y="4133088"/>
            <a:ext cx="2009394" cy="411480"/>
          </a:xfrm>
          <a:prstGeom prst="rect">
            <a:avLst/>
          </a:prstGeom>
          <a:noFill/>
          <a:ln/>
        </p:spPr>
        <p:txBody>
          <a:bodyPr wrap="square" lIns="0" tIns="0" rIns="0" bIns="0" rtlCol="0" anchor="t"/>
          <a:lstStyle/>
          <a:p>
            <a:pPr marL="0" indent="0">
              <a:buNone/>
            </a:pPr>
            <a:r>
              <a:rPr lang="en-US" sz="1250" dirty="0">
                <a:solidFill>
                  <a:srgbClr val="5C6B7A"/>
                </a:solidFill>
                <a:latin typeface="Arial" pitchFamily="34" charset="0"/>
                <a:ea typeface="Arial" pitchFamily="34" charset="-122"/>
                <a:cs typeface="Arial" pitchFamily="34" charset="-120"/>
              </a:rPr>
              <a:t>Der blinde Fleck im Lager</a:t>
            </a:r>
            <a:endParaRPr lang="en-US" sz="1250" dirty="0"/>
          </a:p>
        </p:txBody>
      </p:sp>
      <p:sp>
        <p:nvSpPr>
          <p:cNvPr id="15" name="!!k3"/>
          <p:cNvSpPr/>
          <p:nvPr/>
        </p:nvSpPr>
        <p:spPr>
          <a:xfrm>
            <a:off x="6231636" y="2377440"/>
            <a:ext cx="2521458" cy="2240280"/>
          </a:xfrm>
          <a:prstGeom prst="roundRect">
            <a:avLst>
              <a:gd name="adj" fmla="val 367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16" name="!!c3"/>
          <p:cNvSpPr/>
          <p:nvPr/>
        </p:nvSpPr>
        <p:spPr>
          <a:xfrm>
            <a:off x="6487668" y="2670048"/>
            <a:ext cx="640080" cy="640080"/>
          </a:xfrm>
          <a:prstGeom prst="ellipse">
            <a:avLst/>
          </a:prstGeom>
          <a:solidFill>
            <a:srgbClr val="E8EEF5"/>
          </a:solidFill>
          <a:ln/>
        </p:spPr>
      </p:sp>
      <p:pic>
        <p:nvPicPr>
          <p:cNvPr id="17" name="Image 2" descr="preencoded.png"/>
          <p:cNvPicPr>
            <a:picLocks noChangeAspect="1"/>
          </p:cNvPicPr>
          <p:nvPr/>
        </p:nvPicPr>
        <p:blipFill>
          <a:blip r:embed="rId22"/>
          <a:stretch>
            <a:fillRect/>
          </a:stretch>
        </p:blipFill>
        <p:spPr>
          <a:xfrm>
            <a:off x="6654089" y="2836469"/>
            <a:ext cx="307238" cy="307238"/>
          </a:xfrm>
          <a:prstGeom prst="rect">
            <a:avLst/>
          </a:prstGeom>
        </p:spPr>
      </p:pic>
      <p:sp>
        <p:nvSpPr>
          <p:cNvPr id="18" name="Text 13"/>
          <p:cNvSpPr/>
          <p:nvPr/>
        </p:nvSpPr>
        <p:spPr>
          <a:xfrm>
            <a:off x="6487668" y="3474720"/>
            <a:ext cx="2009394" cy="640080"/>
          </a:xfrm>
          <a:prstGeom prst="rect">
            <a:avLst/>
          </a:prstGeom>
          <a:noFill/>
          <a:ln/>
        </p:spPr>
        <p:txBody>
          <a:bodyPr wrap="square" lIns="0" tIns="0" rIns="0" bIns="0" rtlCol="0" anchor="t"/>
          <a:lstStyle/>
          <a:p>
            <a:pPr marL="0" indent="0">
              <a:lnSpc>
                <a:spcPct val="105000"/>
              </a:lnSpc>
              <a:buNone/>
            </a:pPr>
            <a:r>
              <a:rPr lang="en-US" sz="1600" b="1" dirty="0" err="1">
                <a:solidFill>
                  <a:srgbClr val="1D3A5F"/>
                </a:solidFill>
                <a:latin typeface="Arial" pitchFamily="34" charset="0"/>
                <a:ea typeface="Arial" pitchFamily="34" charset="-122"/>
                <a:cs typeface="Arial" pitchFamily="34" charset="-120"/>
              </a:rPr>
              <a:t>3 · Die Reise</a:t>
            </a:r>
            <a:endParaRPr lang="en-US" sz="1600" dirty="0"/>
          </a:p>
        </p:txBody>
      </p:sp>
      <p:sp>
        <p:nvSpPr>
          <p:cNvPr id="19" name="Text 14"/>
          <p:cNvSpPr/>
          <p:nvPr/>
        </p:nvSpPr>
        <p:spPr>
          <a:xfrm>
            <a:off x="6487668" y="4133088"/>
            <a:ext cx="2009394" cy="411480"/>
          </a:xfrm>
          <a:prstGeom prst="rect">
            <a:avLst/>
          </a:prstGeom>
          <a:noFill/>
          <a:ln/>
        </p:spPr>
        <p:txBody>
          <a:bodyPr wrap="square" lIns="0" tIns="0" rIns="0" bIns="0" rtlCol="0" anchor="t"/>
          <a:lstStyle/>
          <a:p>
            <a:pPr marL="0" indent="0">
              <a:buNone/>
            </a:pPr>
            <a:r>
              <a:rPr lang="en-US" sz="1250" dirty="0">
                <a:solidFill>
                  <a:srgbClr val="5C6B7A"/>
                </a:solidFill>
                <a:latin typeface="Arial" pitchFamily="34" charset="0"/>
                <a:ea typeface="Arial" pitchFamily="34" charset="-122"/>
                <a:cs typeface="Arial" pitchFamily="34" charset="-120"/>
              </a:rPr>
              <a:t>Kernfunktionen im Vergleich</a:t>
            </a:r>
            <a:endParaRPr lang="en-US" sz="1250" dirty="0"/>
          </a:p>
        </p:txBody>
      </p:sp>
      <p:sp>
        <p:nvSpPr>
          <p:cNvPr id="20" name="!!k4"/>
          <p:cNvSpPr/>
          <p:nvPr/>
        </p:nvSpPr>
        <p:spPr>
          <a:xfrm>
            <a:off x="9027414" y="2377440"/>
            <a:ext cx="2521458" cy="2240280"/>
          </a:xfrm>
          <a:prstGeom prst="roundRect">
            <a:avLst>
              <a:gd name="adj" fmla="val 367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21" name="!!c4"/>
          <p:cNvSpPr/>
          <p:nvPr/>
        </p:nvSpPr>
        <p:spPr>
          <a:xfrm>
            <a:off x="9283446" y="2670048"/>
            <a:ext cx="640080" cy="640080"/>
          </a:xfrm>
          <a:prstGeom prst="ellipse">
            <a:avLst/>
          </a:prstGeom>
          <a:solidFill>
            <a:srgbClr val="E8EEF5"/>
          </a:solidFill>
          <a:ln/>
        </p:spPr>
      </p:sp>
      <p:pic>
        <p:nvPicPr>
          <p:cNvPr id="22" name="Image 3" descr="preencoded.png"/>
          <p:cNvPicPr>
            <a:picLocks noChangeAspect="1"/>
          </p:cNvPicPr>
          <p:nvPr/>
        </p:nvPicPr>
        <p:blipFill>
          <a:blip r:embed="rId23"/>
          <a:stretch>
            <a:fillRect/>
          </a:stretch>
        </p:blipFill>
        <p:spPr>
          <a:xfrm>
            <a:off x="9449867" y="2836469"/>
            <a:ext cx="307238" cy="307238"/>
          </a:xfrm>
          <a:prstGeom prst="rect">
            <a:avLst/>
          </a:prstGeom>
        </p:spPr>
      </p:pic>
      <p:sp>
        <p:nvSpPr>
          <p:cNvPr id="23" name="Text 17"/>
          <p:cNvSpPr/>
          <p:nvPr/>
        </p:nvSpPr>
        <p:spPr>
          <a:xfrm>
            <a:off x="9283446" y="3474720"/>
            <a:ext cx="2009394" cy="640080"/>
          </a:xfrm>
          <a:prstGeom prst="rect">
            <a:avLst/>
          </a:prstGeom>
          <a:noFill/>
          <a:ln/>
        </p:spPr>
        <p:txBody>
          <a:bodyPr wrap="square" lIns="0" tIns="0" rIns="0" bIns="0" rtlCol="0" anchor="t"/>
          <a:lstStyle/>
          <a:p>
            <a:pPr marL="0" indent="0">
              <a:lnSpc>
                <a:spcPct val="105000"/>
              </a:lnSpc>
              <a:buNone/>
            </a:pPr>
            <a:r>
              <a:rPr lang="en-US" sz="1600" b="1" dirty="0">
                <a:solidFill>
                  <a:srgbClr val="1D3A5F"/>
                </a:solidFill>
                <a:latin typeface="Arial" pitchFamily="34" charset="0"/>
                <a:ea typeface="Arial" pitchFamily="34" charset="-122"/>
                <a:cs typeface="Arial" pitchFamily="34" charset="-120"/>
              </a:rPr>
              <a:t>4 · Umsetzung</a:t>
            </a:r>
            <a:endParaRPr lang="en-US" sz="1600" dirty="0"/>
          </a:p>
        </p:txBody>
      </p:sp>
      <p:sp>
        <p:nvSpPr>
          <p:cNvPr id="24" name="Text 18"/>
          <p:cNvSpPr/>
          <p:nvPr/>
        </p:nvSpPr>
        <p:spPr>
          <a:xfrm>
            <a:off x="9283446" y="4133088"/>
            <a:ext cx="2009394" cy="411480"/>
          </a:xfrm>
          <a:prstGeom prst="rect">
            <a:avLst/>
          </a:prstGeom>
          <a:noFill/>
          <a:ln/>
        </p:spPr>
        <p:txBody>
          <a:bodyPr wrap="square" lIns="0" tIns="0" rIns="0" bIns="0" rtlCol="0" anchor="t"/>
          <a:lstStyle/>
          <a:p>
            <a:pPr marL="0" indent="0">
              <a:buNone/>
            </a:pPr>
            <a:r>
              <a:rPr lang="en-US" sz="1250" dirty="0">
                <a:solidFill>
                  <a:srgbClr val="5C6B7A"/>
                </a:solidFill>
                <a:latin typeface="Arial" pitchFamily="34" charset="0"/>
                <a:ea typeface="Arial" pitchFamily="34" charset="-122"/>
                <a:cs typeface="Arial" pitchFamily="34" charset="-120"/>
              </a:rPr>
              <a:t>Technik, Daten, Prüfung</a:t>
            </a:r>
            <a:endParaRPr lang="en-US" sz="1250" dirty="0"/>
          </a:p>
        </p:txBody>
      </p:sp>
      <p:sp>
        <p:nvSpPr>
          <p:cNvPr id="25" name="Text 19"/>
          <p:cNvSpPr/>
          <p:nvPr/>
        </p:nvSpPr>
        <p:spPr>
          <a:xfrm>
            <a:off x="640080" y="5650000"/>
            <a:ext cx="10881360" cy="365760"/>
          </a:xfrm>
          <a:prstGeom prst="rect">
            <a:avLst/>
          </a:prstGeom>
          <a:noFill/>
          <a:ln/>
        </p:spPr>
        <p:txBody>
          <a:bodyPr wrap="square" lIns="0" tIns="0" rIns="0" bIns="0" rtlCol="0" anchor="ctr"/>
          <a:lstStyle/>
          <a:p>
            <a:pPr marL="0" indent="0">
              <a:buNone/>
            </a:pPr>
            <a:r>
              <a:rPr lang="de-DE" sz="1300" i="1" dirty="0">
                <a:solidFill>
                  <a:srgbClr val="5C6B7A"/>
                </a:solidFill>
                <a:latin typeface="Arial" pitchFamily="34" charset="0"/>
                <a:cs typeface="Arial" pitchFamily="34" charset="-120"/>
              </a:rPr>
              <a:t>Am Ende sehen Sie die fertige Anwendung.</a:t>
            </a:r>
            <a:endParaRPr lang="en-US" sz="1300" i="1" dirty="0">
              <a:solidFill>
                <a:srgbClr val="5C6B7A"/>
              </a:solidFill>
              <a:latin typeface="Arial" pitchFamily="34" charset="0"/>
              <a:cs typeface="Arial" pitchFamily="34" charset="-120"/>
            </a:endParaRPr>
          </a:p>
        </p:txBody>
      </p:sp>
      <p:sp>
        <p:nvSpPr>
          <p:cNvPr id="26" name="!!foot"/>
          <p:cNvSpPr/>
          <p:nvPr/>
        </p:nvSpPr>
        <p:spPr>
          <a:xfrm>
            <a:off x="640080" y="6437376"/>
            <a:ext cx="10908792" cy="274320"/>
          </a:xfrm>
          <a:prstGeom prst="rect">
            <a:avLst/>
          </a:prstGeom>
          <a:noFill/>
          <a:ln/>
        </p:spPr>
        <p:txBody>
          <a:bodyPr wrap="square" lIns="0" tIns="0" rIns="0" bIns="0" rtlCol="0" anchor="ctr"/>
          <a:lstStyle/>
          <a:p>
            <a:pPr marL="0" indent="0" algn="l">
              <a:buNone/>
            </a:pPr>
            <a:r>
              <a:rPr lang="en-US" sz="900" dirty="0">
                <a:solidFill>
                  <a:srgbClr val="5C6B7A"/>
                </a:solidFill>
                <a:latin typeface="Arial" pitchFamily="34" charset="0"/>
                <a:ea typeface="Arial" pitchFamily="34" charset="-122"/>
                <a:cs typeface="Arial" pitchFamily="34" charset="-120"/>
              </a:rPr>
              <a:t>Sascha Schulz     ·     Lagerverwaltung von medizinischem Verbrauchsmaterial im Krankenhaus</a:t>
            </a:r>
            <a:endParaRPr lang="en-US" sz="900" dirty="0"/>
          </a:p>
        </p:txBody>
      </p:sp>
      <p:sp>
        <p:nvSpPr>
          <p:cNvPr id="27" name="!!scrolltrack"/>
          <p:cNvSpPr/>
          <p:nvPr/>
        </p:nvSpPr>
        <p:spPr>
          <a:xfrm>
            <a:off x="11979240" y="457200"/>
            <a:ext cx="27432" cy="5943600"/>
          </a:xfrm>
          <a:prstGeom prst="roundRect">
            <a:avLst>
              <a:gd name="adj" fmla="val 50000"/>
            </a:avLst>
          </a:prstGeom>
          <a:solidFill>
            <a:srgbClr val="E3E9F1"/>
          </a:solidFill>
          <a:ln/>
        </p:spPr>
      </p:sp>
      <p:sp>
        <p:nvSpPr>
          <p:cNvPr id="28" name="!!scrollthumb"/>
          <p:cNvSpPr/>
          <p:nvPr/>
        </p:nvSpPr>
        <p:spPr>
          <a:xfrm>
            <a:off x="11979240" y="457200"/>
            <a:ext cx="27432" cy="330200"/>
          </a:xfrm>
          <a:prstGeom prst="roundRect">
            <a:avLst>
              <a:gd name="adj" fmla="val 50000"/>
            </a:avLst>
          </a:prstGeom>
          <a:solidFill>
            <a:srgbClr val="2E5A88"/>
          </a:solidFill>
          <a:ln/>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6F8FB"/>
        </a:solidFill>
        <a:effectLst/>
      </p:bgPr>
    </p:bg>
    <p:spTree>
      <p:nvGrpSpPr>
        <p:cNvPr id="1" name=""/>
        <p:cNvGrpSpPr/>
        <p:nvPr/>
      </p:nvGrpSpPr>
      <p:grpSpPr>
        <a:xfrm>
          <a:off x="0" y="0"/>
          <a:ext cx="0" cy="0"/>
          <a:chOff x="0" y="0"/>
          <a:chExt cx="0" cy="0"/>
        </a:xfrm>
      </p:grpSpPr>
      <p:sp>
        <p:nvSpPr>
          <p:cNvPr id="2" name="!!eyebrow"/>
          <p:cNvSpPr/>
          <p:nvPr/>
        </p:nvSpPr>
        <p:spPr>
          <a:xfrm>
            <a:off x="640080" y="457200"/>
            <a:ext cx="10881360" cy="320040"/>
          </a:xfrm>
          <a:prstGeom prst="rect">
            <a:avLst/>
          </a:prstGeom>
          <a:noFill/>
          <a:ln/>
        </p:spPr>
        <p:txBody>
          <a:bodyPr wrap="square" lIns="0" tIns="0" rIns="0" bIns="0" rtlCol="0" anchor="ctr"/>
          <a:lstStyle/>
          <a:p>
            <a:pPr marL="0" indent="0">
              <a:buNone/>
            </a:pPr>
            <a:r>
              <a:rPr lang="en-US" sz="1200" b="1" kern="0" spc="200" dirty="0">
                <a:solidFill>
                  <a:srgbClr val="2E5A88"/>
                </a:solidFill>
                <a:latin typeface="Arial" pitchFamily="34" charset="0"/>
                <a:ea typeface="Arial" pitchFamily="34" charset="-122"/>
                <a:cs typeface="Arial" pitchFamily="34" charset="-120"/>
              </a:rPr>
              <a:t>VOR DER UMSETZUNG</a:t>
            </a:r>
          </a:p>
        </p:txBody>
      </p:sp>
      <p:sp>
        <p:nvSpPr>
          <p:cNvPr id="3" name="!!title"/>
          <p:cNvSpPr/>
          <p:nvPr/>
        </p:nvSpPr>
        <p:spPr>
          <a:xfrm>
            <a:off x="640080" y="786384"/>
            <a:ext cx="10972800" cy="640080"/>
          </a:xfrm>
          <a:prstGeom prst="rect">
            <a:avLst/>
          </a:prstGeom>
          <a:noFill/>
          <a:ln/>
        </p:spPr>
        <p:txBody>
          <a:bodyPr wrap="square" lIns="0" tIns="0" rIns="0" bIns="0" rtlCol="0" anchor="ctr"/>
          <a:lstStyle/>
          <a:p>
            <a:pPr marL="0" indent="0">
              <a:buNone/>
            </a:pPr>
            <a:r>
              <a:rPr lang="en-US" sz="3000" b="1" dirty="0">
                <a:solidFill>
                  <a:srgbClr val="1D3A5F"/>
                </a:solidFill>
                <a:latin typeface="Arial" pitchFamily="34" charset="0"/>
                <a:ea typeface="Arial" pitchFamily="34" charset="-122"/>
                <a:cs typeface="Arial" pitchFamily="34" charset="-120"/>
              </a:rPr>
              <a:t>Kaufen oder selbst bauen?</a:t>
            </a:r>
            <a:endParaRPr lang="en-US" sz="3000" dirty="0"/>
          </a:p>
        </p:txBody>
      </p:sp>
      <p:sp>
        <p:nvSpPr>
          <p:cNvPr id="4" name="!!sub"/>
          <p:cNvSpPr/>
          <p:nvPr/>
        </p:nvSpPr>
        <p:spPr>
          <a:xfrm>
            <a:off x="640080" y="1481328"/>
            <a:ext cx="10881360" cy="457200"/>
          </a:xfrm>
          <a:prstGeom prst="rect">
            <a:avLst/>
          </a:prstGeom>
          <a:noFill/>
          <a:ln/>
        </p:spPr>
        <p:txBody>
          <a:bodyPr wrap="square" lIns="0" tIns="0" rIns="0" bIns="0" rtlCol="0" anchor="ctr"/>
          <a:lstStyle/>
          <a:p>
            <a:pPr marL="0" indent="0">
              <a:buNone/>
            </a:pPr>
            <a:r>
              <a:rPr lang="en-US" sz="1500" dirty="0">
                <a:solidFill>
                  <a:srgbClr val="5C6B7A"/>
                </a:solidFill>
                <a:latin typeface="Arial" pitchFamily="34" charset="0"/>
                <a:ea typeface="Arial" pitchFamily="34" charset="-122"/>
                <a:cs typeface="Arial" pitchFamily="34" charset="-120"/>
              </a:rPr>
              <a:t>Am Anfang stand die Make-or-Buy-Frage – entschieden wurde sie mit Begründung.</a:t>
            </a:r>
          </a:p>
        </p:txBody>
      </p:sp>
      <p:sp>
        <p:nvSpPr>
          <p:cNvPr id="5" name="!!k1"/>
          <p:cNvSpPr/>
          <p:nvPr/>
        </p:nvSpPr>
        <p:spPr>
          <a:xfrm>
            <a:off x="640080" y="2331720"/>
            <a:ext cx="5100000" cy="2400000"/>
          </a:xfrm>
          <a:prstGeom prst="roundRect">
            <a:avLst>
              <a:gd name="adj" fmla="val 2687"/>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6" name="!!c1"/>
          <p:cNvSpPr/>
          <p:nvPr/>
        </p:nvSpPr>
        <p:spPr>
          <a:xfrm>
            <a:off x="932688" y="2642616"/>
            <a:ext cx="658368" cy="658368"/>
          </a:xfrm>
          <a:prstGeom prst="ellipse">
            <a:avLst/>
          </a:prstGeom>
          <a:solidFill>
            <a:srgbClr val="E8EEF5"/>
          </a:solidFill>
          <a:ln/>
        </p:spPr>
      </p:sp>
      <p:pic>
        <p:nvPicPr>
          <p:cNvPr id="7" name="Image 0" descr="preencoded.png"/>
          <p:cNvPicPr>
            <a:picLocks noChangeAspect="1"/>
          </p:cNvPicPr>
          <p:nvPr/>
        </p:nvPicPr>
        <p:blipFill>
          <a:blip r:embed="rId20"/>
          <a:stretch>
            <a:fillRect/>
          </a:stretch>
        </p:blipFill>
        <p:spPr>
          <a:xfrm>
            <a:off x="1103864" y="2813792"/>
            <a:ext cx="316017" cy="316017"/>
          </a:xfrm>
          <a:prstGeom prst="rect">
            <a:avLst/>
          </a:prstGeom>
        </p:spPr>
      </p:pic>
      <p:sp>
        <p:nvSpPr>
          <p:cNvPr id="8" name="Text 5"/>
          <p:cNvSpPr/>
          <p:nvPr/>
        </p:nvSpPr>
        <p:spPr>
          <a:xfrm>
            <a:off x="932688" y="3520440"/>
            <a:ext cx="4200000"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ea typeface="Arial" pitchFamily="34" charset="-122"/>
                <a:cs typeface="Arial" pitchFamily="34" charset="-120"/>
              </a:rPr>
              <a:t>STANDARDSOFTWARE</a:t>
            </a:r>
            <a:endParaRPr lang="en-US" sz="1200" dirty="0"/>
          </a:p>
        </p:txBody>
      </p:sp>
      <p:sp>
        <p:nvSpPr>
          <p:cNvPr id="9" name="Text 6"/>
          <p:cNvSpPr/>
          <p:nvPr/>
        </p:nvSpPr>
        <p:spPr>
          <a:xfrm>
            <a:off x="932688" y="3813048"/>
            <a:ext cx="4200000" cy="256032"/>
          </a:xfrm>
          <a:prstGeom prst="rect">
            <a:avLst/>
          </a:prstGeom>
          <a:noFill/>
          <a:ln/>
        </p:spPr>
        <p:txBody>
          <a:bodyPr wrap="square" lIns="0" tIns="0" rIns="0" bIns="0" rtlCol="0" anchor="ctr"/>
          <a:lstStyle/>
          <a:p>
            <a:pPr marL="0" indent="0">
              <a:buNone/>
            </a:pPr>
            <a:r>
              <a:rPr lang="en-US" sz="1100" dirty="0">
                <a:solidFill>
                  <a:srgbClr val="5C6B7A"/>
                </a:solidFill>
                <a:latin typeface="Arial" pitchFamily="34" charset="0"/>
                <a:ea typeface="Arial" pitchFamily="34" charset="-122"/>
                <a:cs typeface="Arial" pitchFamily="34" charset="-120"/>
              </a:rPr>
              <a:t>Sofort einsatzbereit, aber laufende Lizenzkosten</a:t>
            </a:r>
          </a:p>
        </p:txBody>
      </p:sp>
      <p:sp>
        <p:nvSpPr>
          <p:cNvPr id="10" name="Text 7"/>
          <p:cNvSpPr/>
          <p:nvPr/>
        </p:nvSpPr>
        <p:spPr>
          <a:xfrm>
            <a:off x="932688" y="4178808"/>
            <a:ext cx="4200000" cy="548640"/>
          </a:xfrm>
          <a:prstGeom prst="rect">
            <a:avLst/>
          </a:prstGeom>
          <a:noFill/>
          <a:ln/>
        </p:spPr>
        <p:txBody>
          <a:bodyPr wrap="square" lIns="0" tIns="0" rIns="0" bIns="0" rtlCol="0" anchor="t"/>
          <a:lstStyle/>
          <a:p>
            <a:pPr marL="0" indent="0">
              <a:lnSpc>
                <a:spcPct val="105000"/>
              </a:lnSpc>
              <a:buNone/>
            </a:pPr>
            <a:r>
              <a:rPr lang="en-US" sz="1800" b="1" dirty="0">
                <a:solidFill>
                  <a:srgbClr val="1D3A5F"/>
                </a:solidFill>
                <a:latin typeface="Arial" pitchFamily="34" charset="0"/>
                <a:ea typeface="Arial" pitchFamily="34" charset="-122"/>
                <a:cs typeface="Arial" pitchFamily="34" charset="-120"/>
              </a:rPr>
              <a:t>Schwer an eigene Abläufe anzupassen</a:t>
            </a:r>
          </a:p>
        </p:txBody>
      </p:sp>
      <p:sp>
        <p:nvSpPr>
          <p:cNvPr id="11" name="!!k2"/>
          <p:cNvSpPr/>
          <p:nvPr/>
        </p:nvSpPr>
        <p:spPr>
          <a:xfrm>
            <a:off x="6451920" y="2331720"/>
            <a:ext cx="5100000" cy="2400000"/>
          </a:xfrm>
          <a:prstGeom prst="roundRect">
            <a:avLst>
              <a:gd name="adj" fmla="val 2687"/>
            </a:avLst>
          </a:prstGeom>
          <a:solidFill>
            <a:srgbClr val="E8EEF5"/>
          </a:solidFill>
          <a:ln w="19050">
            <a:solidFill>
              <a:srgbClr val="2E5A88"/>
            </a:solidFill>
            <a:prstDash val="solid"/>
          </a:ln>
          <a:effectLst>
            <a:outerShdw blurRad="114300" dist="38100" dir="5400000" algn="bl" rotWithShape="0">
              <a:srgbClr val="7A8AA0">
                <a:alpha val="22000"/>
              </a:srgbClr>
            </a:outerShdw>
          </a:effectLst>
        </p:spPr>
      </p:sp>
      <p:sp>
        <p:nvSpPr>
          <p:cNvPr id="12" name="!!c2"/>
          <p:cNvSpPr/>
          <p:nvPr/>
        </p:nvSpPr>
        <p:spPr>
          <a:xfrm>
            <a:off x="6744528" y="2642616"/>
            <a:ext cx="658368" cy="658368"/>
          </a:xfrm>
          <a:prstGeom prst="ellipse">
            <a:avLst/>
          </a:prstGeom>
          <a:solidFill>
            <a:srgbClr val="FFFFFF"/>
          </a:solidFill>
          <a:ln/>
        </p:spPr>
      </p:sp>
      <p:pic>
        <p:nvPicPr>
          <p:cNvPr id="13" name="Image 1" descr="preencoded.png"/>
          <p:cNvPicPr>
            <a:picLocks noChangeAspect="1"/>
          </p:cNvPicPr>
          <p:nvPr/>
        </p:nvPicPr>
        <p:blipFill>
          <a:blip r:embed="rId21"/>
          <a:stretch>
            <a:fillRect/>
          </a:stretch>
        </p:blipFill>
        <p:spPr>
          <a:xfrm>
            <a:off x="6915704" y="2813792"/>
            <a:ext cx="316017" cy="316017"/>
          </a:xfrm>
          <a:prstGeom prst="rect">
            <a:avLst/>
          </a:prstGeom>
        </p:spPr>
      </p:pic>
      <p:sp>
        <p:nvSpPr>
          <p:cNvPr id="14" name="Text 10"/>
          <p:cNvSpPr/>
          <p:nvPr/>
        </p:nvSpPr>
        <p:spPr>
          <a:xfrm>
            <a:off x="6744528" y="3520440"/>
            <a:ext cx="4200000" cy="274320"/>
          </a:xfrm>
          <a:prstGeom prst="rect">
            <a:avLst/>
          </a:prstGeom>
          <a:noFill/>
          <a:ln/>
        </p:spPr>
        <p:txBody>
          <a:bodyPr wrap="square" lIns="0" tIns="0" rIns="0" bIns="0" rtlCol="0" anchor="ctr"/>
          <a:lstStyle/>
          <a:p>
            <a:pPr marL="0" indent="0">
              <a:buNone/>
            </a:pPr>
            <a:r>
              <a:rPr lang="en-US" sz="1200" b="1" kern="0" spc="100" dirty="0">
                <a:solidFill>
                  <a:srgbClr val="2E5A88"/>
                </a:solidFill>
                <a:latin typeface="Arial" pitchFamily="34" charset="0"/>
                <a:ea typeface="Arial" pitchFamily="34" charset="-122"/>
                <a:cs typeface="Arial" pitchFamily="34" charset="-120"/>
              </a:rPr>
              <a:t>SELBST ENTWICKELN</a:t>
            </a:r>
            <a:endParaRPr lang="en-US" sz="1200" dirty="0"/>
          </a:p>
        </p:txBody>
      </p:sp>
      <p:sp>
        <p:nvSpPr>
          <p:cNvPr id="15" name="Text 11"/>
          <p:cNvSpPr/>
          <p:nvPr/>
        </p:nvSpPr>
        <p:spPr>
          <a:xfrm>
            <a:off x="6744528" y="3813048"/>
            <a:ext cx="4200000" cy="256032"/>
          </a:xfrm>
          <a:prstGeom prst="rect">
            <a:avLst/>
          </a:prstGeom>
          <a:noFill/>
          <a:ln/>
        </p:spPr>
        <p:txBody>
          <a:bodyPr wrap="square" lIns="0" tIns="0" rIns="0" bIns="0" rtlCol="0" anchor="ctr"/>
          <a:lstStyle/>
          <a:p>
            <a:pPr marL="0" indent="0">
              <a:buNone/>
            </a:pPr>
            <a:r>
              <a:rPr lang="en-US" sz="1100" dirty="0">
                <a:solidFill>
                  <a:srgbClr val="5C6B7A"/>
                </a:solidFill>
                <a:latin typeface="Arial" pitchFamily="34" charset="0"/>
                <a:ea typeface="Arial" pitchFamily="34" charset="-122"/>
                <a:cs typeface="Arial" pitchFamily="34" charset="-120"/>
              </a:rPr>
              <a:t>Keine Lizenzkosten</a:t>
            </a:r>
            <a:endParaRPr lang="en-US" sz="1100" dirty="0"/>
          </a:p>
        </p:txBody>
      </p:sp>
      <p:sp>
        <p:nvSpPr>
          <p:cNvPr id="16" name="Text 12"/>
          <p:cNvSpPr/>
          <p:nvPr/>
        </p:nvSpPr>
        <p:spPr>
          <a:xfrm>
            <a:off x="6744528" y="4178808"/>
            <a:ext cx="4200000" cy="548640"/>
          </a:xfrm>
          <a:prstGeom prst="rect">
            <a:avLst/>
          </a:prstGeom>
          <a:noFill/>
          <a:ln/>
        </p:spPr>
        <p:txBody>
          <a:bodyPr wrap="square" lIns="0" tIns="0" rIns="0" bIns="0" rtlCol="0" anchor="t"/>
          <a:lstStyle/>
          <a:p>
            <a:pPr marL="0" indent="0">
              <a:lnSpc>
                <a:spcPct val="105000"/>
              </a:lnSpc>
              <a:buNone/>
            </a:pPr>
            <a:r>
              <a:rPr lang="en-US" sz="1800" b="1" dirty="0">
                <a:solidFill>
                  <a:srgbClr val="1D3A5F"/>
                </a:solidFill>
                <a:latin typeface="Arial" pitchFamily="34" charset="0"/>
                <a:ea typeface="Arial" pitchFamily="34" charset="-122"/>
                <a:cs typeface="Arial" pitchFamily="34" charset="-120"/>
              </a:rPr>
              <a:t>Genau auf die Abläufe zugeschnitten</a:t>
            </a:r>
            <a:endParaRPr lang="en-US" sz="1800" dirty="0"/>
          </a:p>
        </p:txBody>
      </p:sp>
      <p:sp>
        <p:nvSpPr>
          <p:cNvPr id="17" name="!!k3"/>
          <p:cNvSpPr/>
          <p:nvPr/>
        </p:nvSpPr>
        <p:spPr>
          <a:xfrm>
            <a:off x="640080" y="5006639"/>
            <a:ext cx="10911840" cy="1232563"/>
          </a:xfrm>
          <a:prstGeom prst="roundRect">
            <a:avLst>
              <a:gd name="adj" fmla="val 2687"/>
            </a:avLst>
          </a:prstGeom>
          <a:solidFill>
            <a:srgbClr val="1D3A5F"/>
          </a:solidFill>
          <a:effectLst>
            <a:outerShdw blurRad="114300" dist="38100" dir="5400000" algn="bl" rotWithShape="0">
              <a:srgbClr val="7A8AA0">
                <a:alpha val="22000"/>
              </a:srgbClr>
            </a:outerShdw>
          </a:effectLst>
        </p:spPr>
      </p:sp>
      <p:sp>
        <p:nvSpPr>
          <p:cNvPr id="18" name="!!c3"/>
          <p:cNvSpPr/>
          <p:nvPr/>
        </p:nvSpPr>
        <p:spPr>
          <a:xfrm>
            <a:off x="914400" y="5215176"/>
            <a:ext cx="658368" cy="658368"/>
          </a:xfrm>
          <a:prstGeom prst="ellipse">
            <a:avLst/>
          </a:prstGeom>
          <a:solidFill>
            <a:srgbClr val="FFFFFF"/>
          </a:solidFill>
          <a:ln/>
        </p:spPr>
      </p:sp>
      <p:pic>
        <p:nvPicPr>
          <p:cNvPr id="19" name="Image 2" descr="preencoded.png"/>
          <p:cNvPicPr>
            <a:picLocks noChangeAspect="1"/>
          </p:cNvPicPr>
          <p:nvPr/>
        </p:nvPicPr>
        <p:blipFill>
          <a:blip r:embed="rId22"/>
          <a:stretch>
            <a:fillRect/>
          </a:stretch>
        </p:blipFill>
        <p:spPr>
          <a:xfrm>
            <a:off x="1085576" y="5386352"/>
            <a:ext cx="316017" cy="316017"/>
          </a:xfrm>
          <a:prstGeom prst="rect">
            <a:avLst/>
          </a:prstGeom>
        </p:spPr>
      </p:pic>
      <p:sp>
        <p:nvSpPr>
          <p:cNvPr id="20" name="Text 15"/>
          <p:cNvSpPr/>
          <p:nvPr/>
        </p:nvSpPr>
        <p:spPr>
          <a:xfrm>
            <a:off x="1783080" y="5100000"/>
            <a:ext cx="9500000" cy="274320"/>
          </a:xfrm>
          <a:prstGeom prst="rect">
            <a:avLst/>
          </a:prstGeom>
          <a:noFill/>
          <a:ln/>
        </p:spPr>
        <p:txBody>
          <a:bodyPr wrap="square" lIns="0" tIns="0" rIns="0" bIns="0" rtlCol="0" anchor="ctr"/>
          <a:lstStyle/>
          <a:p>
            <a:pPr marL="0" indent="0">
              <a:buNone/>
            </a:pPr>
            <a:r>
              <a:rPr lang="en-US" sz="1200" b="1" kern="0" spc="100" dirty="0">
                <a:solidFill>
                  <a:srgbClr val="8FB4DD"/>
                </a:solidFill>
                <a:latin typeface="Arial" pitchFamily="34" charset="0"/>
                <a:ea typeface="Arial" pitchFamily="34" charset="-122"/>
                <a:cs typeface="Arial" pitchFamily="34" charset="-120"/>
              </a:rPr>
              <a:t>ENTSCHEIDUNG</a:t>
            </a:r>
            <a:endParaRPr lang="en-US" sz="1200" dirty="0"/>
          </a:p>
        </p:txBody>
      </p:sp>
      <p:sp>
        <p:nvSpPr>
          <p:cNvPr id="21" name="Text 16"/>
          <p:cNvSpPr/>
          <p:nvPr/>
        </p:nvSpPr>
        <p:spPr>
          <a:xfrm>
            <a:off x="1783080" y="5400000"/>
            <a:ext cx="9500000" cy="411480"/>
          </a:xfrm>
          <a:prstGeom prst="rect">
            <a:avLst/>
          </a:prstGeom>
          <a:noFill/>
          <a:ln/>
        </p:spPr>
        <p:txBody>
          <a:bodyPr wrap="square" lIns="0" tIns="0" rIns="0" bIns="0" rtlCol="0" anchor="ctr"/>
          <a:lstStyle/>
          <a:p>
            <a:pPr marL="0" indent="0">
              <a:buNone/>
            </a:pPr>
            <a:r>
              <a:rPr lang="en-US" sz="1800" b="1" dirty="0" err="1">
                <a:solidFill>
                  <a:srgbClr val="FFFFFF"/>
                </a:solidFill>
                <a:latin typeface="Arial" pitchFamily="34" charset="0"/>
                <a:ea typeface="Arial" pitchFamily="34" charset="-122"/>
                <a:cs typeface="Arial" pitchFamily="34" charset="-120"/>
              </a:rPr>
              <a:t>Individualentwicklung – und in der Ausbildung ohnehin das Projektziel.</a:t>
            </a:r>
          </a:p>
        </p:txBody>
      </p:sp>
      <p:sp>
        <p:nvSpPr>
          <p:cNvPr id="22" name="Text 17"/>
          <p:cNvSpPr/>
          <p:nvPr/>
        </p:nvSpPr>
        <p:spPr>
          <a:xfrm>
            <a:off x="1783080" y="5810000"/>
            <a:ext cx="9500000" cy="274320"/>
          </a:xfrm>
          <a:prstGeom prst="rect">
            <a:avLst/>
          </a:prstGeom>
          <a:noFill/>
          <a:ln/>
        </p:spPr>
        <p:txBody>
          <a:bodyPr wrap="square" lIns="0" tIns="0" rIns="0" bIns="0" rtlCol="0" anchor="t"/>
          <a:lstStyle/>
          <a:p>
            <a:pPr marL="0" indent="0">
              <a:lnSpc>
                <a:spcPct val="105000"/>
              </a:lnSpc>
              <a:buNone/>
            </a:pPr>
            <a:r>
              <a:rPr lang="en-US" sz="1800" b="1" i="1" dirty="0">
                <a:solidFill>
                  <a:srgbClr val="8FB4DD"/>
                </a:solidFill>
                <a:latin typeface="Arial" pitchFamily="34" charset="0"/>
                <a:ea typeface="Arial" pitchFamily="34" charset="-122"/>
                <a:cs typeface="Arial" pitchFamily="34" charset="-120"/>
              </a:rPr>
              <a:t>Fiktiv kalkuliert: 150 Stunden zu 80 Euro plus Sachkosten – 12.150 Euro.</a:t>
            </a:r>
          </a:p>
        </p:txBody>
      </p:sp>
      <p:sp>
        <p:nvSpPr>
          <p:cNvPr id="23" name="Text 18"/>
          <p:cNvSpPr/>
          <p:nvPr/>
        </p:nvSpPr>
        <p:spPr>
          <a:xfrm>
            <a:off x="8449056" y="4873752"/>
            <a:ext cx="2807208" cy="411480"/>
          </a:xfrm>
          <a:prstGeom prst="rect">
            <a:avLst/>
          </a:prstGeom>
          <a:noFill/>
          <a:ln/>
        </p:spPr>
        <p:txBody>
          <a:bodyPr wrap="square" lIns="0" tIns="0" rIns="0" bIns="0" rtlCol="0" anchor="t"/>
          <a:lstStyle/>
          <a:p>
            <a:pPr marL="0" indent="0">
              <a:buNone/>
            </a:pPr>
            <a:endParaRPr/>
          </a:p>
        </p:txBody>
      </p:sp>
      <p:sp>
        <p:nvSpPr>
          <p:cNvPr id="24" name="!!foot"/>
          <p:cNvSpPr/>
          <p:nvPr/>
        </p:nvSpPr>
        <p:spPr>
          <a:xfrm>
            <a:off x="640080" y="6437376"/>
            <a:ext cx="10908792" cy="274320"/>
          </a:xfrm>
          <a:prstGeom prst="rect">
            <a:avLst/>
          </a:prstGeom>
          <a:noFill/>
          <a:ln/>
        </p:spPr>
        <p:txBody>
          <a:bodyPr wrap="square" lIns="0" tIns="0" rIns="0" bIns="0" rtlCol="0" anchor="ctr"/>
          <a:lstStyle/>
          <a:p>
            <a:pPr marL="0" indent="0" algn="l">
              <a:buNone/>
            </a:pPr>
            <a:r>
              <a:rPr lang="en-US" sz="900" dirty="0">
                <a:solidFill>
                  <a:srgbClr val="5C6B7A"/>
                </a:solidFill>
                <a:latin typeface="Arial" pitchFamily="34" charset="0"/>
                <a:ea typeface="Arial" pitchFamily="34" charset="-122"/>
                <a:cs typeface="Arial" pitchFamily="34" charset="-120"/>
              </a:rPr>
              <a:t>Sascha Schulz     ·     Lagerverwaltung von medizinischem Verbrauchsmaterial im Krankenhaus</a:t>
            </a:r>
            <a:endParaRPr lang="en-US" sz="900" dirty="0"/>
          </a:p>
        </p:txBody>
      </p:sp>
      <p:sp>
        <p:nvSpPr>
          <p:cNvPr id="101" name="!!scrolltrack"/>
          <p:cNvSpPr/>
          <p:nvPr/>
        </p:nvSpPr>
        <p:spPr>
          <a:xfrm>
            <a:off x="11979240" y="457200"/>
            <a:ext cx="27432" cy="5943600"/>
          </a:xfrm>
          <a:prstGeom prst="roundRect">
            <a:avLst>
              <a:gd name="adj" fmla="val 50000"/>
            </a:avLst>
          </a:prstGeom>
          <a:solidFill>
            <a:srgbClr val="E3E9F1"/>
          </a:solidFill>
          <a:ln/>
        </p:spPr>
      </p:sp>
      <p:sp>
        <p:nvSpPr>
          <p:cNvPr id="102" name="!!scrollthumb"/>
          <p:cNvSpPr/>
          <p:nvPr/>
        </p:nvSpPr>
        <p:spPr>
          <a:xfrm>
            <a:off x="11979240" y="1778000"/>
            <a:ext cx="27432" cy="330200"/>
          </a:xfrm>
          <a:prstGeom prst="roundRect">
            <a:avLst>
              <a:gd name="adj" fmla="val 50000"/>
            </a:avLst>
          </a:prstGeom>
          <a:solidFill>
            <a:srgbClr val="2E5A88"/>
          </a:solidFill>
          <a:ln/>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a:effectLst/>
      </p:bgPr>
    </p:bg>
    <p:spTree>
      <p:nvGrpSpPr>
        <p:cNvPr id="1" name=""/>
        <p:cNvGrpSpPr/>
        <p:nvPr/>
      </p:nvGrpSpPr>
      <p:grpSpPr>
        <a:xfrm>
          <a:off x="0" y="0"/>
          <a:ext cx="0" cy="0"/>
          <a:chOff x="0" y="0"/>
          <a:chExt cx="0" cy="0"/>
        </a:xfrm>
      </p:grpSpPr>
      <p:sp>
        <p:nvSpPr>
          <p:cNvPr id="2" name="!!eyebrow"/>
          <p:cNvSpPr/>
          <p:nvPr/>
        </p:nvSpPr>
        <p:spPr>
          <a:xfrm>
            <a:off x="640080" y="457200"/>
            <a:ext cx="10881360" cy="320040"/>
          </a:xfrm>
          <a:prstGeom prst="rect">
            <a:avLst/>
          </a:prstGeom>
          <a:noFill/>
          <a:ln/>
        </p:spPr>
        <p:txBody>
          <a:bodyPr wrap="square" lIns="0" tIns="0" rIns="0" bIns="0" rtlCol="0" anchor="ctr"/>
          <a:lstStyle/>
          <a:p>
            <a:pPr marL="0" indent="0">
              <a:buNone/>
            </a:pPr>
            <a:r>
              <a:rPr lang="en-US" sz="1200" b="1" kern="0" spc="200" dirty="0">
                <a:solidFill>
                  <a:srgbClr val="2E5A88"/>
                </a:solidFill>
                <a:latin typeface="Arial" pitchFamily="34" charset="0"/>
                <a:ea typeface="Arial" pitchFamily="34" charset="-122"/>
                <a:cs typeface="Arial" pitchFamily="34" charset="-120"/>
              </a:rPr>
              <a:t>VORAUSSETZUNGEN</a:t>
            </a:r>
          </a:p>
        </p:txBody>
      </p:sp>
      <p:sp>
        <p:nvSpPr>
          <p:cNvPr id="3" name="!!title"/>
          <p:cNvSpPr/>
          <p:nvPr/>
        </p:nvSpPr>
        <p:spPr>
          <a:xfrm>
            <a:off x="640080" y="786384"/>
            <a:ext cx="10972800" cy="640080"/>
          </a:xfrm>
          <a:prstGeom prst="rect">
            <a:avLst/>
          </a:prstGeom>
          <a:noFill/>
          <a:ln/>
        </p:spPr>
        <p:txBody>
          <a:bodyPr wrap="square" lIns="0" tIns="0" rIns="0" bIns="0" rtlCol="0" anchor="ctr"/>
          <a:lstStyle/>
          <a:p>
            <a:pPr marL="0" indent="0">
              <a:buNone/>
            </a:pPr>
            <a:r>
              <a:rPr lang="en-US" sz="3000" b="1" dirty="0">
                <a:solidFill>
                  <a:srgbClr val="1D3A5F"/>
                </a:solidFill>
                <a:latin typeface="Arial" pitchFamily="34" charset="0"/>
                <a:ea typeface="Arial" pitchFamily="34" charset="-122"/>
                <a:cs typeface="Arial" pitchFamily="34" charset="-120"/>
              </a:rPr>
              <a:t>Rahmen, Technik und Risiken</a:t>
            </a:r>
            <a:endParaRPr lang="en-US" sz="3000" dirty="0"/>
          </a:p>
        </p:txBody>
      </p:sp>
      <p:sp>
        <p:nvSpPr>
          <p:cNvPr id="4" name="!!sub"/>
          <p:cNvSpPr/>
          <p:nvPr/>
        </p:nvSpPr>
        <p:spPr>
          <a:xfrm>
            <a:off x="640080" y="1481328"/>
            <a:ext cx="10881360" cy="457200"/>
          </a:xfrm>
          <a:prstGeom prst="rect">
            <a:avLst/>
          </a:prstGeom>
          <a:noFill/>
          <a:ln/>
        </p:spPr>
        <p:txBody>
          <a:bodyPr wrap="square" lIns="0" tIns="0" rIns="0" bIns="0" rtlCol="0" anchor="ctr"/>
          <a:lstStyle/>
          <a:p>
            <a:pPr marL="0" indent="0">
              <a:buNone/>
            </a:pPr>
            <a:r>
              <a:rPr lang="de-DE" sz="1500" dirty="0">
                <a:solidFill>
                  <a:srgbClr val="5C6B7A"/>
                </a:solidFill>
                <a:latin typeface="Arial" pitchFamily="34" charset="0"/>
                <a:cs typeface="Arial" pitchFamily="34" charset="-120"/>
              </a:rPr>
              <a:t>Womit gearbeitet wurde – und welche Risiken vorab eingeplant waren.</a:t>
            </a:r>
            <a:endParaRPr lang="en-US" sz="1500" dirty="0">
              <a:solidFill>
                <a:srgbClr val="5C6B7A"/>
              </a:solidFill>
              <a:latin typeface="Arial" pitchFamily="34" charset="0"/>
              <a:ea typeface="Arial" pitchFamily="34" charset="-122"/>
              <a:cs typeface="Arial" pitchFamily="34" charset="-120"/>
            </a:endParaRPr>
          </a:p>
        </p:txBody>
      </p:sp>
      <p:sp>
        <p:nvSpPr>
          <p:cNvPr id="5" name="!!k1"/>
          <p:cNvSpPr/>
          <p:nvPr/>
        </p:nvSpPr>
        <p:spPr>
          <a:xfrm>
            <a:off x="640080" y="2377440"/>
            <a:ext cx="2521458" cy="2240280"/>
          </a:xfrm>
          <a:prstGeom prst="roundRect">
            <a:avLst>
              <a:gd name="adj" fmla="val 367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6" name="!!c1"/>
          <p:cNvSpPr/>
          <p:nvPr/>
        </p:nvSpPr>
        <p:spPr>
          <a:xfrm>
            <a:off x="896112" y="2670048"/>
            <a:ext cx="640080" cy="640080"/>
          </a:xfrm>
          <a:prstGeom prst="ellipse">
            <a:avLst/>
          </a:prstGeom>
          <a:solidFill>
            <a:srgbClr val="E8EEF5"/>
          </a:solidFill>
          <a:ln/>
        </p:spPr>
      </p:sp>
      <p:pic>
        <p:nvPicPr>
          <p:cNvPr id="7" name="Image 0" descr="preencoded.png"/>
          <p:cNvPicPr>
            <a:picLocks noChangeAspect="1"/>
          </p:cNvPicPr>
          <p:nvPr/>
        </p:nvPicPr>
        <p:blipFill>
          <a:blip r:embed="rId20"/>
          <a:stretch>
            <a:fillRect/>
          </a:stretch>
        </p:blipFill>
        <p:spPr>
          <a:xfrm>
            <a:off x="1062533" y="2836469"/>
            <a:ext cx="307238" cy="307238"/>
          </a:xfrm>
          <a:prstGeom prst="rect">
            <a:avLst/>
          </a:prstGeom>
        </p:spPr>
      </p:pic>
      <p:sp>
        <p:nvSpPr>
          <p:cNvPr id="8" name="Text 5"/>
          <p:cNvSpPr/>
          <p:nvPr/>
        </p:nvSpPr>
        <p:spPr>
          <a:xfrm>
            <a:off x="896112" y="3474720"/>
            <a:ext cx="2009394" cy="640080"/>
          </a:xfrm>
          <a:prstGeom prst="rect">
            <a:avLst/>
          </a:prstGeom>
          <a:noFill/>
          <a:ln/>
        </p:spPr>
        <p:txBody>
          <a:bodyPr wrap="square" lIns="0" tIns="0" rIns="0" bIns="0" rtlCol="0" anchor="t"/>
          <a:lstStyle/>
          <a:p>
            <a:pPr marL="0" indent="0">
              <a:lnSpc>
                <a:spcPct val="105000"/>
              </a:lnSpc>
              <a:buNone/>
            </a:pPr>
            <a:r>
              <a:rPr lang="en-US" sz="1600" b="1" dirty="0">
                <a:solidFill>
                  <a:srgbClr val="1D3A5F"/>
                </a:solidFill>
                <a:latin typeface="Arial" pitchFamily="34" charset="0"/>
                <a:ea typeface="Arial" pitchFamily="34" charset="-122"/>
                <a:cs typeface="Arial" pitchFamily="34" charset="-120"/>
              </a:rPr>
              <a:t>Java 17 · JavaFX 21</a:t>
            </a:r>
            <a:endParaRPr lang="en-US" sz="1600" dirty="0"/>
          </a:p>
        </p:txBody>
      </p:sp>
      <p:sp>
        <p:nvSpPr>
          <p:cNvPr id="9" name="Text 6"/>
          <p:cNvSpPr/>
          <p:nvPr/>
        </p:nvSpPr>
        <p:spPr>
          <a:xfrm>
            <a:off x="896112" y="4133088"/>
            <a:ext cx="2009394" cy="411480"/>
          </a:xfrm>
          <a:prstGeom prst="rect">
            <a:avLst/>
          </a:prstGeom>
          <a:noFill/>
          <a:ln/>
        </p:spPr>
        <p:txBody>
          <a:bodyPr wrap="square" lIns="0" tIns="0" rIns="0" bIns="0" rtlCol="0" anchor="t"/>
          <a:lstStyle/>
          <a:p>
            <a:pPr marL="0" indent="0">
              <a:buNone/>
            </a:pPr>
            <a:r>
              <a:rPr lang="en-US" sz="1250" dirty="0">
                <a:solidFill>
                  <a:srgbClr val="5C6B7A"/>
                </a:solidFill>
                <a:latin typeface="Arial" pitchFamily="34" charset="0"/>
                <a:ea typeface="Arial" pitchFamily="34" charset="-122"/>
                <a:cs typeface="Arial" pitchFamily="34" charset="-120"/>
              </a:rPr>
              <a:t>Oberfläche und Logik</a:t>
            </a:r>
            <a:endParaRPr lang="en-US" sz="1250" dirty="0"/>
          </a:p>
        </p:txBody>
      </p:sp>
      <p:sp>
        <p:nvSpPr>
          <p:cNvPr id="10" name="!!k2"/>
          <p:cNvSpPr/>
          <p:nvPr/>
        </p:nvSpPr>
        <p:spPr>
          <a:xfrm>
            <a:off x="3435858" y="2377440"/>
            <a:ext cx="2521458" cy="2240280"/>
          </a:xfrm>
          <a:prstGeom prst="roundRect">
            <a:avLst>
              <a:gd name="adj" fmla="val 367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11" name="!!c2"/>
          <p:cNvSpPr/>
          <p:nvPr/>
        </p:nvSpPr>
        <p:spPr>
          <a:xfrm>
            <a:off x="3691890" y="2670048"/>
            <a:ext cx="640080" cy="640080"/>
          </a:xfrm>
          <a:prstGeom prst="ellipse">
            <a:avLst/>
          </a:prstGeom>
          <a:solidFill>
            <a:srgbClr val="E8EEF5"/>
          </a:solidFill>
          <a:ln/>
        </p:spPr>
      </p:sp>
      <p:pic>
        <p:nvPicPr>
          <p:cNvPr id="12" name="Image 1" descr="preencoded.png"/>
          <p:cNvPicPr>
            <a:picLocks noChangeAspect="1"/>
          </p:cNvPicPr>
          <p:nvPr/>
        </p:nvPicPr>
        <p:blipFill>
          <a:blip r:embed="rId21"/>
          <a:stretch>
            <a:fillRect/>
          </a:stretch>
        </p:blipFill>
        <p:spPr>
          <a:xfrm>
            <a:off x="3858311" y="2836469"/>
            <a:ext cx="307238" cy="307238"/>
          </a:xfrm>
          <a:prstGeom prst="rect">
            <a:avLst/>
          </a:prstGeom>
        </p:spPr>
      </p:pic>
      <p:sp>
        <p:nvSpPr>
          <p:cNvPr id="13" name="Text 9"/>
          <p:cNvSpPr/>
          <p:nvPr/>
        </p:nvSpPr>
        <p:spPr>
          <a:xfrm>
            <a:off x="3691890" y="3474720"/>
            <a:ext cx="2009394" cy="640080"/>
          </a:xfrm>
          <a:prstGeom prst="rect">
            <a:avLst/>
          </a:prstGeom>
          <a:noFill/>
          <a:ln/>
        </p:spPr>
        <p:txBody>
          <a:bodyPr wrap="square" lIns="0" tIns="0" rIns="0" bIns="0" rtlCol="0" anchor="t"/>
          <a:lstStyle/>
          <a:p>
            <a:pPr marL="0" indent="0">
              <a:lnSpc>
                <a:spcPct val="105000"/>
              </a:lnSpc>
              <a:buNone/>
            </a:pPr>
            <a:r>
              <a:rPr lang="en-US" sz="1600" b="1" dirty="0">
                <a:solidFill>
                  <a:srgbClr val="1D3A5F"/>
                </a:solidFill>
                <a:latin typeface="Arial" pitchFamily="34" charset="0"/>
                <a:ea typeface="Arial" pitchFamily="34" charset="-122"/>
                <a:cs typeface="Arial" pitchFamily="34" charset="-120"/>
              </a:rPr>
              <a:t>MySQL 8, lokal</a:t>
            </a:r>
            <a:endParaRPr lang="en-US" sz="1600" dirty="0"/>
          </a:p>
        </p:txBody>
      </p:sp>
      <p:sp>
        <p:nvSpPr>
          <p:cNvPr id="14" name="Text 10"/>
          <p:cNvSpPr/>
          <p:nvPr/>
        </p:nvSpPr>
        <p:spPr>
          <a:xfrm>
            <a:off x="3691890" y="4133088"/>
            <a:ext cx="2009394" cy="411480"/>
          </a:xfrm>
          <a:prstGeom prst="rect">
            <a:avLst/>
          </a:prstGeom>
          <a:noFill/>
          <a:ln/>
        </p:spPr>
        <p:txBody>
          <a:bodyPr wrap="square" lIns="0" tIns="0" rIns="0" bIns="0" rtlCol="0" anchor="t"/>
          <a:lstStyle/>
          <a:p>
            <a:pPr marL="0" indent="0">
              <a:buNone/>
            </a:pPr>
            <a:r>
              <a:rPr lang="en-US" sz="1250" dirty="0">
                <a:solidFill>
                  <a:srgbClr val="5C6B7A"/>
                </a:solidFill>
                <a:latin typeface="Arial" pitchFamily="34" charset="0"/>
                <a:ea typeface="Arial" pitchFamily="34" charset="-122"/>
                <a:cs typeface="Arial" pitchFamily="34" charset="-120"/>
              </a:rPr>
              <a:t>Läuft ohne Internetanbindung</a:t>
            </a:r>
            <a:endParaRPr lang="en-US" sz="1250" dirty="0"/>
          </a:p>
        </p:txBody>
      </p:sp>
      <p:sp>
        <p:nvSpPr>
          <p:cNvPr id="15" name="!!k3"/>
          <p:cNvSpPr/>
          <p:nvPr/>
        </p:nvSpPr>
        <p:spPr>
          <a:xfrm>
            <a:off x="6231636" y="2377440"/>
            <a:ext cx="2521458" cy="2240280"/>
          </a:xfrm>
          <a:prstGeom prst="roundRect">
            <a:avLst>
              <a:gd name="adj" fmla="val 367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16" name="!!c3"/>
          <p:cNvSpPr/>
          <p:nvPr/>
        </p:nvSpPr>
        <p:spPr>
          <a:xfrm>
            <a:off x="6487668" y="2670048"/>
            <a:ext cx="640080" cy="640080"/>
          </a:xfrm>
          <a:prstGeom prst="ellipse">
            <a:avLst/>
          </a:prstGeom>
          <a:solidFill>
            <a:srgbClr val="E8EEF5"/>
          </a:solidFill>
          <a:ln/>
        </p:spPr>
      </p:sp>
      <p:pic>
        <p:nvPicPr>
          <p:cNvPr id="17" name="Image 2" descr="preencoded.png"/>
          <p:cNvPicPr>
            <a:picLocks noChangeAspect="1"/>
          </p:cNvPicPr>
          <p:nvPr/>
        </p:nvPicPr>
        <p:blipFill>
          <a:blip r:embed="rId22"/>
          <a:stretch>
            <a:fillRect/>
          </a:stretch>
        </p:blipFill>
        <p:spPr>
          <a:xfrm>
            <a:off x="6654089" y="2836469"/>
            <a:ext cx="307238" cy="307238"/>
          </a:xfrm>
          <a:prstGeom prst="rect">
            <a:avLst/>
          </a:prstGeom>
        </p:spPr>
      </p:pic>
      <p:sp>
        <p:nvSpPr>
          <p:cNvPr id="18" name="Text 13"/>
          <p:cNvSpPr/>
          <p:nvPr/>
        </p:nvSpPr>
        <p:spPr>
          <a:xfrm>
            <a:off x="6487668" y="3474720"/>
            <a:ext cx="2009394" cy="640080"/>
          </a:xfrm>
          <a:prstGeom prst="rect">
            <a:avLst/>
          </a:prstGeom>
          <a:noFill/>
          <a:ln/>
        </p:spPr>
        <p:txBody>
          <a:bodyPr wrap="square" lIns="0" tIns="0" rIns="0" bIns="0" rtlCol="0" anchor="t"/>
          <a:lstStyle/>
          <a:p>
            <a:pPr marL="0" indent="0">
              <a:lnSpc>
                <a:spcPct val="105000"/>
              </a:lnSpc>
              <a:buNone/>
            </a:pPr>
            <a:r>
              <a:rPr lang="en-US" sz="1600" b="1" dirty="0" err="1">
                <a:solidFill>
                  <a:srgbClr val="1D3A5F"/>
                </a:solidFill>
                <a:latin typeface="Arial" pitchFamily="34" charset="0"/>
                <a:ea typeface="Arial" pitchFamily="34" charset="-122"/>
                <a:cs typeface="Arial" pitchFamily="34" charset="-120"/>
              </a:rPr>
              <a:t>180 h in 7 Phasen</a:t>
            </a:r>
            <a:endParaRPr lang="en-US" sz="1600" dirty="0"/>
          </a:p>
        </p:txBody>
      </p:sp>
      <p:sp>
        <p:nvSpPr>
          <p:cNvPr id="19" name="Text 14"/>
          <p:cNvSpPr/>
          <p:nvPr/>
        </p:nvSpPr>
        <p:spPr>
          <a:xfrm>
            <a:off x="6487668" y="4133088"/>
            <a:ext cx="2009394" cy="411480"/>
          </a:xfrm>
          <a:prstGeom prst="rect">
            <a:avLst/>
          </a:prstGeom>
          <a:noFill/>
          <a:ln/>
        </p:spPr>
        <p:txBody>
          <a:bodyPr wrap="square" lIns="0" tIns="0" rIns="0" bIns="0" rtlCol="0" anchor="t"/>
          <a:lstStyle/>
          <a:p>
            <a:pPr marL="0" indent="0">
              <a:buNone/>
            </a:pPr>
            <a:r>
              <a:rPr lang="en-US" sz="1250" dirty="0">
                <a:solidFill>
                  <a:srgbClr val="5C6B7A"/>
                </a:solidFill>
                <a:latin typeface="Arial" pitchFamily="34" charset="0"/>
                <a:ea typeface="Arial" pitchFamily="34" charset="-122"/>
                <a:cs typeface="Arial" pitchFamily="34" charset="-120"/>
              </a:rPr>
              <a:t>Einzelprojekt, alles in einer Hand</a:t>
            </a:r>
            <a:endParaRPr lang="en-US" sz="1250" dirty="0"/>
          </a:p>
        </p:txBody>
      </p:sp>
      <p:sp>
        <p:nvSpPr>
          <p:cNvPr id="20" name="!!k4"/>
          <p:cNvSpPr/>
          <p:nvPr/>
        </p:nvSpPr>
        <p:spPr>
          <a:xfrm>
            <a:off x="9027414" y="2377440"/>
            <a:ext cx="2521458" cy="2240280"/>
          </a:xfrm>
          <a:prstGeom prst="roundRect">
            <a:avLst>
              <a:gd name="adj" fmla="val 3673"/>
            </a:avLst>
          </a:prstGeom>
          <a:solidFill>
            <a:srgbClr val="FFFFFF"/>
          </a:solidFill>
          <a:ln w="12700">
            <a:solidFill>
              <a:srgbClr val="DDE3EA"/>
            </a:solidFill>
            <a:prstDash val="solid"/>
          </a:ln>
          <a:effectLst>
            <a:outerShdw blurRad="114300" dist="38100" dir="5400000" algn="bl" rotWithShape="0">
              <a:srgbClr val="7A8AA0">
                <a:alpha val="22000"/>
              </a:srgbClr>
            </a:outerShdw>
          </a:effectLst>
        </p:spPr>
      </p:sp>
      <p:sp>
        <p:nvSpPr>
          <p:cNvPr id="21" name="!!c4"/>
          <p:cNvSpPr/>
          <p:nvPr/>
        </p:nvSpPr>
        <p:spPr>
          <a:xfrm>
            <a:off x="9283446" y="2670048"/>
            <a:ext cx="640080" cy="640080"/>
          </a:xfrm>
          <a:prstGeom prst="ellipse">
            <a:avLst/>
          </a:prstGeom>
          <a:solidFill>
            <a:srgbClr val="E8EEF5"/>
          </a:solidFill>
          <a:ln/>
        </p:spPr>
      </p:sp>
      <p:pic>
        <p:nvPicPr>
          <p:cNvPr id="22" name="Image 3" descr="preencoded.png"/>
          <p:cNvPicPr>
            <a:picLocks noChangeAspect="1"/>
          </p:cNvPicPr>
          <p:nvPr/>
        </p:nvPicPr>
        <p:blipFill>
          <a:blip r:embed="rId23"/>
          <a:stretch>
            <a:fillRect/>
          </a:stretch>
        </p:blipFill>
        <p:spPr>
          <a:xfrm>
            <a:off x="9449867" y="2836469"/>
            <a:ext cx="307238" cy="307238"/>
          </a:xfrm>
          <a:prstGeom prst="rect">
            <a:avLst/>
          </a:prstGeom>
        </p:spPr>
      </p:pic>
      <p:sp>
        <p:nvSpPr>
          <p:cNvPr id="23" name="Text 17"/>
          <p:cNvSpPr/>
          <p:nvPr/>
        </p:nvSpPr>
        <p:spPr>
          <a:xfrm>
            <a:off x="9283446" y="3474720"/>
            <a:ext cx="2009394" cy="640080"/>
          </a:xfrm>
          <a:prstGeom prst="rect">
            <a:avLst/>
          </a:prstGeom>
          <a:noFill/>
          <a:ln/>
        </p:spPr>
        <p:txBody>
          <a:bodyPr wrap="square" lIns="0" tIns="0" rIns="0" bIns="0" rtlCol="0" anchor="t"/>
          <a:lstStyle/>
          <a:p>
            <a:pPr marL="0" indent="0">
              <a:lnSpc>
                <a:spcPct val="105000"/>
              </a:lnSpc>
              <a:buNone/>
            </a:pPr>
            <a:r>
              <a:rPr lang="en-US" sz="1600" b="1" dirty="0">
                <a:solidFill>
                  <a:srgbClr val="1D3A5F"/>
                </a:solidFill>
                <a:latin typeface="Arial" pitchFamily="34" charset="0"/>
                <a:ea typeface="Arial" pitchFamily="34" charset="-122"/>
                <a:cs typeface="Arial" pitchFamily="34" charset="-120"/>
              </a:rPr>
              <a:t>Risiken eingeplant</a:t>
            </a:r>
            <a:endParaRPr lang="en-US" sz="1600" dirty="0"/>
          </a:p>
        </p:txBody>
      </p:sp>
      <p:sp>
        <p:nvSpPr>
          <p:cNvPr id="24" name="Text 18"/>
          <p:cNvSpPr/>
          <p:nvPr/>
        </p:nvSpPr>
        <p:spPr>
          <a:xfrm>
            <a:off x="9283446" y="4133088"/>
            <a:ext cx="2009394" cy="411480"/>
          </a:xfrm>
          <a:prstGeom prst="rect">
            <a:avLst/>
          </a:prstGeom>
          <a:noFill/>
          <a:ln/>
        </p:spPr>
        <p:txBody>
          <a:bodyPr wrap="square" lIns="0" tIns="0" rIns="0" bIns="0" rtlCol="0" anchor="t"/>
          <a:lstStyle/>
          <a:p>
            <a:pPr marL="0" indent="0">
              <a:buNone/>
            </a:pPr>
            <a:r>
              <a:rPr lang="en-US" sz="1250" dirty="0">
                <a:solidFill>
                  <a:srgbClr val="5C6B7A"/>
                </a:solidFill>
                <a:latin typeface="Arial" pitchFamily="34" charset="0"/>
                <a:ea typeface="Arial" pitchFamily="34" charset="-122"/>
                <a:cs typeface="Arial" pitchFamily="34" charset="-120"/>
              </a:rPr>
              <a:t>JavaFX, JDBC, Zeitverzug – je mit Gegenmaßnahme</a:t>
            </a:r>
            <a:endParaRPr lang="en-US" sz="1250" dirty="0"/>
          </a:p>
        </p:txBody>
      </p:sp>
      <p:sp>
        <p:nvSpPr>
          <p:cNvPr id="25" name="Text 19"/>
          <p:cNvSpPr/>
          <p:nvPr/>
        </p:nvSpPr>
        <p:spPr>
          <a:xfrm>
            <a:off x="640080" y="5650000"/>
            <a:ext cx="10881360" cy="365760"/>
          </a:xfrm>
          <a:prstGeom prst="rect">
            <a:avLst/>
          </a:prstGeom>
          <a:noFill/>
          <a:ln/>
        </p:spPr>
        <p:txBody>
          <a:bodyPr wrap="square" lIns="0" tIns="0" rIns="0" bIns="0" rtlCol="0" anchor="ctr"/>
          <a:lstStyle/>
          <a:p>
            <a:pPr marL="0" indent="0">
              <a:buNone/>
            </a:pPr>
            <a:r>
              <a:rPr lang="de-DE" sz="1300" i="1" dirty="0">
                <a:solidFill>
                  <a:srgbClr val="5C6B7A"/>
                </a:solidFill>
                <a:latin typeface="Arial" pitchFamily="34" charset="0"/>
                <a:cs typeface="Arial" pitchFamily="34" charset="-120"/>
              </a:rPr>
              <a:t>Alle Werkzeuge kostenfrei: IntelliJ, Maven und Git.</a:t>
            </a:r>
            <a:endParaRPr lang="en-US" sz="1300" i="1" dirty="0">
              <a:solidFill>
                <a:srgbClr val="5C6B7A"/>
              </a:solidFill>
              <a:latin typeface="Arial" pitchFamily="34" charset="0"/>
              <a:cs typeface="Arial" pitchFamily="34" charset="-120"/>
            </a:endParaRPr>
          </a:p>
        </p:txBody>
      </p:sp>
      <p:sp>
        <p:nvSpPr>
          <p:cNvPr id="26" name="!!foot"/>
          <p:cNvSpPr/>
          <p:nvPr/>
        </p:nvSpPr>
        <p:spPr>
          <a:xfrm>
            <a:off x="640080" y="6437376"/>
            <a:ext cx="10908792" cy="274320"/>
          </a:xfrm>
          <a:prstGeom prst="rect">
            <a:avLst/>
          </a:prstGeom>
          <a:noFill/>
          <a:ln/>
        </p:spPr>
        <p:txBody>
          <a:bodyPr wrap="square" lIns="0" tIns="0" rIns="0" bIns="0" rtlCol="0" anchor="ctr"/>
          <a:lstStyle/>
          <a:p>
            <a:pPr marL="0" indent="0" algn="l">
              <a:buNone/>
            </a:pPr>
            <a:r>
              <a:rPr lang="en-US" sz="900" dirty="0">
                <a:solidFill>
                  <a:srgbClr val="5C6B7A"/>
                </a:solidFill>
                <a:latin typeface="Arial" pitchFamily="34" charset="0"/>
                <a:ea typeface="Arial" pitchFamily="34" charset="-122"/>
                <a:cs typeface="Arial" pitchFamily="34" charset="-120"/>
              </a:rPr>
              <a:t>Sascha Schulz     ·     Lagerverwaltung von medizinischem Verbrauchsmaterial im Krankenhaus</a:t>
            </a:r>
            <a:endParaRPr lang="en-US" sz="900" dirty="0"/>
          </a:p>
        </p:txBody>
      </p:sp>
      <p:sp>
        <p:nvSpPr>
          <p:cNvPr id="27" name="!!scrolltrack"/>
          <p:cNvSpPr/>
          <p:nvPr/>
        </p:nvSpPr>
        <p:spPr>
          <a:xfrm>
            <a:off x="11979240" y="457200"/>
            <a:ext cx="27432" cy="5943600"/>
          </a:xfrm>
          <a:prstGeom prst="roundRect">
            <a:avLst>
              <a:gd name="adj" fmla="val 50000"/>
            </a:avLst>
          </a:prstGeom>
          <a:solidFill>
            <a:srgbClr val="E3E9F1"/>
          </a:solidFill>
          <a:ln/>
        </p:spPr>
      </p:sp>
      <p:sp>
        <p:nvSpPr>
          <p:cNvPr id="28" name="!!scrollthumb"/>
          <p:cNvSpPr/>
          <p:nvPr/>
        </p:nvSpPr>
        <p:spPr>
          <a:xfrm>
            <a:off x="11979240" y="3759200"/>
            <a:ext cx="27432" cy="330200"/>
          </a:xfrm>
          <a:prstGeom prst="roundRect">
            <a:avLst>
              <a:gd name="adj" fmla="val 50000"/>
            </a:avLst>
          </a:prstGeom>
          <a:solidFill>
            <a:srgbClr val="2E5A88"/>
          </a:solidFill>
          <a:ln/>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1">
    <p:bg>
      <p:bgPr>
        <a:solidFill>
          <a:srgbClr val="F6F8FB"/>
        </a:solidFill>
        <a:effectLst/>
      </p:bgPr>
    </p:bg>
    <p:spTree>
      <p:nvGrpSpPr>
        <p:cNvPr id="1" name=""/>
        <p:cNvGrpSpPr/>
        <p:nvPr/>
      </p:nvGrpSpPr>
      <p:grpSpPr>
        <a:xfrm>
          <a:off x="0" y="0"/>
          <a:ext cx="0" cy="0"/>
          <a:chOff x="0" y="0"/>
          <a:chExt cx="0" cy="0"/>
        </a:xfrm>
      </p:grpSpPr>
      <p:sp>
        <p:nvSpPr>
          <p:cNvPr id="2" name="!!eyebrow"/>
          <p:cNvSpPr/>
          <p:nvPr/>
        </p:nvSpPr>
        <p:spPr>
          <a:xfrm>
            <a:off x="640080" y="457200"/>
            <a:ext cx="10881360" cy="320040"/>
          </a:xfrm>
          <a:prstGeom prst="rect">
            <a:avLst/>
          </a:prstGeom>
          <a:noFill/>
          <a:ln/>
        </p:spPr>
        <p:txBody>
          <a:bodyPr wrap="square" lIns="0" tIns="0" rIns="0" bIns="0" rtlCol="0" anchor="ctr"/>
          <a:lstStyle/>
          <a:p>
            <a:pPr marL="0" indent="0">
              <a:buNone/>
            </a:pPr>
            <a:r>
              <a:rPr lang="en-US" sz="1200" b="1" kern="0" spc="200" dirty="0">
                <a:solidFill>
                  <a:srgbClr val="2E5A88"/>
                </a:solidFill>
                <a:latin typeface="Arial" pitchFamily="34" charset="0"/>
                <a:ea typeface="Arial" pitchFamily="34" charset="-122"/>
                <a:cs typeface="Arial" pitchFamily="34" charset="-120"/>
              </a:rPr>
              <a:t>DIE ANWENDUNG</a:t>
            </a:r>
          </a:p>
        </p:txBody>
      </p:sp>
      <p:sp>
        <p:nvSpPr>
          <p:cNvPr id="3" name="!!title"/>
          <p:cNvSpPr/>
          <p:nvPr/>
        </p:nvSpPr>
        <p:spPr>
          <a:xfrm>
            <a:off x="640080" y="786384"/>
            <a:ext cx="10972800" cy="640080"/>
          </a:xfrm>
          <a:prstGeom prst="rect">
            <a:avLst/>
          </a:prstGeom>
          <a:noFill/>
          <a:ln/>
        </p:spPr>
        <p:txBody>
          <a:bodyPr wrap="square" lIns="0" tIns="0" rIns="0" bIns="0" rtlCol="0" anchor="ctr"/>
          <a:lstStyle/>
          <a:p>
            <a:pPr marL="0" indent="0">
              <a:buNone/>
            </a:pPr>
            <a:r>
              <a:rPr lang="en-US" sz="3000" b="1" dirty="0">
                <a:solidFill>
                  <a:srgbClr val="1D3A5F"/>
                </a:solidFill>
                <a:latin typeface="Arial" pitchFamily="34" charset="0"/>
                <a:ea typeface="Arial" pitchFamily="34" charset="-122"/>
                <a:cs typeface="Arial" pitchFamily="34" charset="-120"/>
              </a:rPr>
              <a:t>Ein Blick in den laufenden Betrieb</a:t>
            </a:r>
            <a:endParaRPr lang="en-US" sz="3000" dirty="0"/>
          </a:p>
        </p:txBody>
      </p:sp>
      <p:sp>
        <p:nvSpPr>
          <p:cNvPr id="4" name="!!sub"/>
          <p:cNvSpPr/>
          <p:nvPr/>
        </p:nvSpPr>
        <p:spPr>
          <a:xfrm>
            <a:off x="640080" y="1481328"/>
            <a:ext cx="10881360" cy="457200"/>
          </a:xfrm>
          <a:prstGeom prst="rect">
            <a:avLst/>
          </a:prstGeom>
          <a:noFill/>
          <a:ln/>
        </p:spPr>
        <p:txBody>
          <a:bodyPr wrap="square" lIns="0" tIns="0" rIns="0" bIns="0" rtlCol="0" anchor="ctr"/>
          <a:lstStyle/>
          <a:p>
            <a:pPr marL="0" indent="0">
              <a:buNone/>
            </a:pPr>
            <a:r>
              <a:rPr lang="en-US" sz="1500" dirty="0">
                <a:solidFill>
                  <a:srgbClr val="5C6B7A"/>
                </a:solidFill>
                <a:latin typeface="Arial" pitchFamily="34" charset="0"/>
                <a:ea typeface="Arial" pitchFamily="34" charset="-122"/>
                <a:cs typeface="Arial" pitchFamily="34" charset="-120"/>
              </a:rPr>
              <a:t>Bestandsübersicht: Suche, Filter und Mindestbestand-Warnung an einer Stelle.</a:t>
            </a:r>
            <a:endParaRPr lang="en-US" sz="1500" dirty="0"/>
          </a:p>
        </p:txBody>
      </p:sp>
      <p:sp>
        <p:nvSpPr>
          <p:cNvPr id="35" name="Text 27"/>
          <p:cNvSpPr/>
          <p:nvPr/>
        </p:nvSpPr>
        <p:spPr>
          <a:xfrm>
            <a:off x="640080" y="5650000"/>
            <a:ext cx="10881360" cy="365760"/>
          </a:xfrm>
          <a:prstGeom prst="rect">
            <a:avLst/>
          </a:prstGeom>
          <a:noFill/>
          <a:ln/>
        </p:spPr>
        <p:txBody>
          <a:bodyPr wrap="square" lIns="0" tIns="0" rIns="0" bIns="0" rtlCol="0" anchor="ctr"/>
          <a:lstStyle/>
          <a:p>
            <a:pPr marL="0" indent="0">
              <a:buNone/>
            </a:pPr>
            <a:r>
              <a:rPr lang="en-US" sz="1300" i="1" dirty="0">
                <a:solidFill>
                  <a:srgbClr val="5C6B7A"/>
                </a:solidFill>
                <a:latin typeface="Arial" pitchFamily="34" charset="0"/>
                <a:ea typeface="Arial" pitchFamily="34" charset="-122"/>
                <a:cs typeface="Arial" pitchFamily="34" charset="-120"/>
              </a:rPr>
              <a:t>Was hier rot ist, fiel früher erst auf, wenn das Material schon fehlte.</a:t>
            </a:r>
            <a:endParaRPr lang="en-US" sz="1300" dirty="0"/>
          </a:p>
        </p:txBody>
      </p:sp>
      <p:sp>
        <p:nvSpPr>
          <p:cNvPr id="36" name="!!foot"/>
          <p:cNvSpPr/>
          <p:nvPr/>
        </p:nvSpPr>
        <p:spPr>
          <a:xfrm>
            <a:off x="640080" y="6437376"/>
            <a:ext cx="10908792" cy="274320"/>
          </a:xfrm>
          <a:prstGeom prst="rect">
            <a:avLst/>
          </a:prstGeom>
          <a:noFill/>
          <a:ln/>
        </p:spPr>
        <p:txBody>
          <a:bodyPr wrap="square" lIns="0" tIns="0" rIns="0" bIns="0" rtlCol="0" anchor="ctr"/>
          <a:lstStyle/>
          <a:p>
            <a:pPr marL="0" indent="0" algn="l">
              <a:buNone/>
            </a:pPr>
            <a:r>
              <a:rPr lang="en-US" sz="900" dirty="0">
                <a:solidFill>
                  <a:srgbClr val="5C6B7A"/>
                </a:solidFill>
                <a:latin typeface="Arial" pitchFamily="34" charset="0"/>
                <a:ea typeface="Arial" pitchFamily="34" charset="-122"/>
                <a:cs typeface="Arial" pitchFamily="34" charset="-120"/>
              </a:rPr>
              <a:t>Sascha Schulz     ·     Lagerverwaltung von medizinischem Verbrauchsmaterial im Krankenhaus</a:t>
            </a:r>
            <a:endParaRPr lang="en-US" sz="900" dirty="0"/>
          </a:p>
        </p:txBody>
      </p:sp>
      <p:pic>
        <p:nvPicPr>
          <p:cNvPr id="60" name="Screenshot" descr="Bestandsuebersicht.png"/>
          <p:cNvPicPr>
            <a:picLocks noChangeAspect="1"/>
          </p:cNvPicPr>
          <p:nvPr/>
        </p:nvPicPr>
        <p:blipFill>
          <a:blip r:embed="rId20"/>
          <a:stretch>
            <a:fillRect/>
          </a:stretch>
        </p:blipFill>
        <p:spPr>
          <a:xfrm>
            <a:off x="640080" y="2286000"/>
            <a:ext cx="7620000" cy="3263383"/>
          </a:xfrm>
          <a:prstGeom prst="roundRect">
            <a:avLst>
              <a:gd name="adj" fmla="val 1800"/>
            </a:avLst>
          </a:prstGeom>
          <a:ln w="12700">
            <a:solidFill>
              <a:srgbClr val="D6DFEA"/>
            </a:solidFill>
          </a:ln>
          <a:effectLst>
            <a:outerShdw blurRad="114300" dist="38100" dir="5400000" algn="bl" rotWithShape="0">
              <a:srgbClr val="7A8AA0">
                <a:alpha val="22000"/>
              </a:srgbClr>
            </a:outerShdw>
          </a:effectLst>
        </p:spPr>
      </p:pic>
      <p:sp>
        <p:nvSpPr>
          <p:cNvPr id="30" name="Dot30"/>
          <p:cNvSpPr/>
          <p:nvPr/>
        </p:nvSpPr>
        <p:spPr>
          <a:xfrm>
            <a:off x="8595360" y="2331720"/>
            <a:ext cx="137160" cy="137160"/>
          </a:xfrm>
          <a:prstGeom prst="ellipse">
            <a:avLst/>
          </a:prstGeom>
          <a:solidFill>
            <a:srgbClr val="2E5A88"/>
          </a:solidFill>
          <a:ln/>
        </p:spPr>
      </p:sp>
      <p:sp>
        <p:nvSpPr>
          <p:cNvPr id="31" name="Note31"/>
          <p:cNvSpPr/>
          <p:nvPr/>
        </p:nvSpPr>
        <p:spPr>
          <a:xfrm>
            <a:off x="8595360" y="2560320"/>
            <a:ext cx="2956560" cy="274320"/>
          </a:xfrm>
          <a:prstGeom prst="rect">
            <a:avLst/>
          </a:prstGeom>
          <a:noFill/>
          <a:ln/>
        </p:spPr>
        <p:txBody>
          <a:bodyPr wrap="square" lIns="0" tIns="0" rIns="0" bIns="0" rtlCol="0" anchor="t"/>
          <a:lstStyle/>
          <a:p>
            <a:pPr marL="0" indent="0">
              <a:lnSpc>
                <a:spcPct val="110000"/>
              </a:lnSpc>
              <a:buNone/>
            </a:pPr>
            <a:r>
              <a:rPr lang="de-DE" sz="1300" b="1" kern="0" dirty="0">
                <a:solidFill>
                  <a:srgbClr val="1D3A5F"/>
                </a:solidFill>
                <a:latin typeface="Arial" pitchFamily="34" charset="0"/>
                <a:ea typeface="Arial" pitchFamily="34" charset="-122"/>
                <a:cs typeface="Arial" pitchFamily="34" charset="-120"/>
              </a:rPr>
              <a:t>Suche &amp; Filter</a:t>
            </a:r>
            <a:endParaRPr lang="de-DE" sz="1300" dirty="0"/>
          </a:p>
        </p:txBody>
      </p:sp>
      <p:sp>
        <p:nvSpPr>
          <p:cNvPr id="32" name="Note32"/>
          <p:cNvSpPr/>
          <p:nvPr/>
        </p:nvSpPr>
        <p:spPr>
          <a:xfrm>
            <a:off x="8595360" y="2834640"/>
            <a:ext cx="2956560" cy="548640"/>
          </a:xfrm>
          <a:prstGeom prst="rect">
            <a:avLst/>
          </a:prstGeom>
          <a:noFill/>
          <a:ln/>
        </p:spPr>
        <p:txBody>
          <a:bodyPr wrap="square" lIns="0" tIns="0" rIns="0" bIns="0" rtlCol="0" anchor="t"/>
          <a:lstStyle/>
          <a:p>
            <a:pPr marL="0" indent="0">
              <a:lnSpc>
                <a:spcPct val="110000"/>
              </a:lnSpc>
              <a:buNone/>
            </a:pPr>
            <a:r>
              <a:rPr lang="de-DE" sz="1100" kern="0" dirty="0">
                <a:solidFill>
                  <a:srgbClr val="5C6B7A"/>
                </a:solidFill>
                <a:latin typeface="Arial" pitchFamily="34" charset="0"/>
                <a:ea typeface="Arial" pitchFamily="34" charset="-122"/>
                <a:cs typeface="Arial" pitchFamily="34" charset="-120"/>
              </a:rPr>
              <a:t>nach Materialname und Lagerort</a:t>
            </a:r>
            <a:endParaRPr lang="de-DE" sz="1100" dirty="0"/>
          </a:p>
        </p:txBody>
      </p:sp>
      <p:sp>
        <p:nvSpPr>
          <p:cNvPr id="40" name="Dot40"/>
          <p:cNvSpPr/>
          <p:nvPr/>
        </p:nvSpPr>
        <p:spPr>
          <a:xfrm>
            <a:off x="8595360" y="3474720"/>
            <a:ext cx="137160" cy="137160"/>
          </a:xfrm>
          <a:prstGeom prst="ellipse">
            <a:avLst/>
          </a:prstGeom>
          <a:solidFill>
            <a:srgbClr val="2E5A88"/>
          </a:solidFill>
          <a:ln/>
        </p:spPr>
      </p:sp>
      <p:sp>
        <p:nvSpPr>
          <p:cNvPr id="41" name="Note41"/>
          <p:cNvSpPr/>
          <p:nvPr/>
        </p:nvSpPr>
        <p:spPr>
          <a:xfrm>
            <a:off x="8595360" y="3703320"/>
            <a:ext cx="2956560" cy="274320"/>
          </a:xfrm>
          <a:prstGeom prst="rect">
            <a:avLst/>
          </a:prstGeom>
          <a:noFill/>
          <a:ln/>
        </p:spPr>
        <p:txBody>
          <a:bodyPr wrap="square" lIns="0" tIns="0" rIns="0" bIns="0" rtlCol="0" anchor="t"/>
          <a:lstStyle/>
          <a:p>
            <a:pPr marL="0" indent="0">
              <a:lnSpc>
                <a:spcPct val="110000"/>
              </a:lnSpc>
              <a:buNone/>
            </a:pPr>
            <a:r>
              <a:rPr lang="de-DE" sz="1300" b="1" kern="0" dirty="0">
                <a:solidFill>
                  <a:srgbClr val="1D3A5F"/>
                </a:solidFill>
                <a:latin typeface="Arial" pitchFamily="34" charset="0"/>
                <a:ea typeface="Arial" pitchFamily="34" charset="-122"/>
                <a:cs typeface="Arial" pitchFamily="34" charset="-120"/>
              </a:rPr>
              <a:t>Bestand live berechnet</a:t>
            </a:r>
            <a:endParaRPr lang="de-DE" sz="1300" dirty="0"/>
          </a:p>
        </p:txBody>
      </p:sp>
      <p:sp>
        <p:nvSpPr>
          <p:cNvPr id="42" name="Note42"/>
          <p:cNvSpPr/>
          <p:nvPr/>
        </p:nvSpPr>
        <p:spPr>
          <a:xfrm>
            <a:off x="8595360" y="3977640"/>
            <a:ext cx="2956560" cy="548640"/>
          </a:xfrm>
          <a:prstGeom prst="rect">
            <a:avLst/>
          </a:prstGeom>
          <a:noFill/>
          <a:ln/>
        </p:spPr>
        <p:txBody>
          <a:bodyPr wrap="square" lIns="0" tIns="0" rIns="0" bIns="0" rtlCol="0" anchor="t"/>
          <a:lstStyle/>
          <a:p>
            <a:pPr marL="0" indent="0">
              <a:lnSpc>
                <a:spcPct val="110000"/>
              </a:lnSpc>
              <a:buNone/>
            </a:pPr>
            <a:r>
              <a:rPr lang="de-DE" sz="1100" kern="0" dirty="0">
                <a:solidFill>
                  <a:srgbClr val="5C6B7A"/>
                </a:solidFill>
                <a:latin typeface="Arial" pitchFamily="34" charset="0"/>
                <a:ea typeface="Arial" pitchFamily="34" charset="-122"/>
                <a:cs typeface="Arial" pitchFamily="34" charset="-120"/>
              </a:rPr>
              <a:t>Summe aller Ein- und Ausgänge</a:t>
            </a:r>
            <a:endParaRPr lang="de-DE" sz="1100" dirty="0"/>
          </a:p>
        </p:txBody>
      </p:sp>
      <p:sp>
        <p:nvSpPr>
          <p:cNvPr id="50" name="Dot50"/>
          <p:cNvSpPr/>
          <p:nvPr/>
        </p:nvSpPr>
        <p:spPr>
          <a:xfrm>
            <a:off x="8595360" y="4617720"/>
            <a:ext cx="137160" cy="137160"/>
          </a:xfrm>
          <a:prstGeom prst="ellipse">
            <a:avLst/>
          </a:prstGeom>
          <a:solidFill>
            <a:srgbClr val="2E5A88"/>
          </a:solidFill>
          <a:ln/>
        </p:spPr>
      </p:sp>
      <p:sp>
        <p:nvSpPr>
          <p:cNvPr id="51" name="Note51"/>
          <p:cNvSpPr/>
          <p:nvPr/>
        </p:nvSpPr>
        <p:spPr>
          <a:xfrm>
            <a:off x="8595360" y="4846320"/>
            <a:ext cx="2956560" cy="274320"/>
          </a:xfrm>
          <a:prstGeom prst="rect">
            <a:avLst/>
          </a:prstGeom>
          <a:noFill/>
          <a:ln/>
        </p:spPr>
        <p:txBody>
          <a:bodyPr wrap="square" lIns="0" tIns="0" rIns="0" bIns="0" rtlCol="0" anchor="t"/>
          <a:lstStyle/>
          <a:p>
            <a:pPr marL="0" indent="0">
              <a:lnSpc>
                <a:spcPct val="110000"/>
              </a:lnSpc>
              <a:buNone/>
            </a:pPr>
            <a:r>
              <a:rPr lang="de-DE" sz="1300" b="1" kern="0" dirty="0">
                <a:solidFill>
                  <a:srgbClr val="1D3A5F"/>
                </a:solidFill>
                <a:latin typeface="Arial" pitchFamily="34" charset="0"/>
                <a:ea typeface="Arial" pitchFamily="34" charset="-122"/>
                <a:cs typeface="Arial" pitchFamily="34" charset="-120"/>
              </a:rPr>
              <a:t>Unter Mindestbestand</a:t>
            </a:r>
            <a:endParaRPr lang="de-DE" sz="1300" dirty="0"/>
          </a:p>
        </p:txBody>
      </p:sp>
      <p:sp>
        <p:nvSpPr>
          <p:cNvPr id="52" name="Note52"/>
          <p:cNvSpPr/>
          <p:nvPr/>
        </p:nvSpPr>
        <p:spPr>
          <a:xfrm>
            <a:off x="8595360" y="5120640"/>
            <a:ext cx="2956560" cy="548640"/>
          </a:xfrm>
          <a:prstGeom prst="rect">
            <a:avLst/>
          </a:prstGeom>
          <a:noFill/>
          <a:ln/>
        </p:spPr>
        <p:txBody>
          <a:bodyPr wrap="square" lIns="0" tIns="0" rIns="0" bIns="0" rtlCol="0" anchor="t"/>
          <a:lstStyle/>
          <a:p>
            <a:pPr marL="0" indent="0">
              <a:lnSpc>
                <a:spcPct val="110000"/>
              </a:lnSpc>
              <a:buNone/>
            </a:pPr>
            <a:r>
              <a:rPr lang="de-DE" sz="1100" kern="0" dirty="0">
                <a:solidFill>
                  <a:srgbClr val="5C6B7A"/>
                </a:solidFill>
                <a:latin typeface="Arial" pitchFamily="34" charset="0"/>
                <a:ea typeface="Arial" pitchFamily="34" charset="-122"/>
                <a:cs typeface="Arial" pitchFamily="34" charset="-120"/>
              </a:rPr>
              <a:t>Zeile wird rot, Zähler oben rechts</a:t>
            </a:r>
            <a:endParaRPr lang="de-DE" sz="1100" dirty="0"/>
          </a:p>
        </p:txBody>
      </p:sp>
      <p:sp>
        <p:nvSpPr>
          <p:cNvPr id="37" name="!!scrolltrack"/>
          <p:cNvSpPr/>
          <p:nvPr/>
        </p:nvSpPr>
        <p:spPr>
          <a:xfrm>
            <a:off x="11979240" y="457200"/>
            <a:ext cx="27432" cy="5943600"/>
          </a:xfrm>
          <a:prstGeom prst="roundRect">
            <a:avLst>
              <a:gd name="adj" fmla="val 50000"/>
            </a:avLst>
          </a:prstGeom>
          <a:solidFill>
            <a:srgbClr val="E3E9F1"/>
          </a:solidFill>
          <a:ln/>
        </p:spPr>
      </p:sp>
      <p:sp>
        <p:nvSpPr>
          <p:cNvPr id="38" name="!!scrollthumb"/>
          <p:cNvSpPr/>
          <p:nvPr/>
        </p:nvSpPr>
        <p:spPr>
          <a:xfrm>
            <a:off x="11979240" y="4419600"/>
            <a:ext cx="27432" cy="330200"/>
          </a:xfrm>
          <a:prstGeom prst="roundRect">
            <a:avLst>
              <a:gd name="adj" fmla="val 50000"/>
            </a:avLst>
          </a:prstGeom>
          <a:solidFill>
            <a:srgbClr val="2E5A88"/>
          </a:solidFill>
          <a:ln/>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11">
    <p:bg>
      <p:bgPr>
        <a:solidFill>
          <a:srgbClr val="F6F8FB"/>
        </a:solidFill>
        <a:effectLst/>
      </p:bgPr>
    </p:bg>
    <p:spTree>
      <p:nvGrpSpPr>
        <p:cNvPr id="1" name=""/>
        <p:cNvGrpSpPr/>
        <p:nvPr/>
      </p:nvGrpSpPr>
      <p:grpSpPr>
        <a:xfrm>
          <a:off x="0" y="0"/>
          <a:ext cx="0" cy="0"/>
          <a:chOff x="0" y="0"/>
          <a:chExt cx="0" cy="0"/>
        </a:xfrm>
      </p:grpSpPr>
      <p:sp>
        <p:nvSpPr>
          <p:cNvPr id="2" name="!!eyebrow"/>
          <p:cNvSpPr/>
          <p:nvPr/>
        </p:nvSpPr>
        <p:spPr>
          <a:xfrm>
            <a:off x="640080" y="457200"/>
            <a:ext cx="10881360" cy="320040"/>
          </a:xfrm>
          <a:prstGeom prst="rect">
            <a:avLst/>
          </a:prstGeom>
          <a:noFill/>
          <a:ln/>
        </p:spPr>
        <p:txBody>
          <a:bodyPr wrap="square" lIns="0" tIns="0" rIns="0" bIns="0" rtlCol="0" anchor="ctr"/>
          <a:lstStyle/>
          <a:p>
            <a:pPr marL="0" indent="0">
              <a:buNone/>
            </a:pPr>
            <a:r>
              <a:rPr lang="en-US" sz="1200" b="1" kern="0" spc="200" dirty="0">
                <a:solidFill>
                  <a:srgbClr val="2E5A88"/>
                </a:solidFill>
                <a:latin typeface="Arial" pitchFamily="34" charset="0"/>
                <a:ea typeface="Arial" pitchFamily="34" charset="-122"/>
                <a:cs typeface="Arial" pitchFamily="34" charset="-120"/>
              </a:rPr>
              <a:t>BELEGE</a:t>
            </a:r>
          </a:p>
        </p:txBody>
      </p:sp>
      <p:sp>
        <p:nvSpPr>
          <p:cNvPr id="3" name="!!title"/>
          <p:cNvSpPr/>
          <p:nvPr/>
        </p:nvSpPr>
        <p:spPr>
          <a:xfrm>
            <a:off x="640080" y="786384"/>
            <a:ext cx="10972800" cy="640080"/>
          </a:xfrm>
          <a:prstGeom prst="rect">
            <a:avLst/>
          </a:prstGeom>
          <a:noFill/>
          <a:ln/>
        </p:spPr>
        <p:txBody>
          <a:bodyPr wrap="square" lIns="0" tIns="0" rIns="0" bIns="0" rtlCol="0" anchor="ctr"/>
          <a:lstStyle/>
          <a:p>
            <a:pPr marL="0" indent="0">
              <a:buNone/>
            </a:pPr>
            <a:r>
              <a:rPr lang="en-US" sz="3000" b="1" dirty="0">
                <a:solidFill>
                  <a:srgbClr val="1D3A5F"/>
                </a:solidFill>
                <a:latin typeface="Arial" pitchFamily="34" charset="0"/>
                <a:ea typeface="Arial" pitchFamily="34" charset="-122"/>
                <a:cs typeface="Arial" pitchFamily="34" charset="-120"/>
              </a:rPr>
              <a:t>Die Pflichtfunktionen im Bild</a:t>
            </a:r>
            <a:endParaRPr lang="en-US" sz="3000" dirty="0"/>
          </a:p>
        </p:txBody>
      </p:sp>
      <p:sp>
        <p:nvSpPr>
          <p:cNvPr id="4" name="!!sub"/>
          <p:cNvSpPr/>
          <p:nvPr/>
        </p:nvSpPr>
        <p:spPr>
          <a:xfrm>
            <a:off x="640080" y="1481328"/>
            <a:ext cx="10881360" cy="457200"/>
          </a:xfrm>
          <a:prstGeom prst="rect">
            <a:avLst/>
          </a:prstGeom>
          <a:noFill/>
          <a:ln/>
        </p:spPr>
        <p:txBody>
          <a:bodyPr wrap="square" lIns="0" tIns="0" rIns="0" bIns="0" rtlCol="0" anchor="ctr"/>
          <a:lstStyle/>
          <a:p>
            <a:pPr marL="0" indent="0">
              <a:buNone/>
            </a:pPr>
            <a:r>
              <a:rPr lang="en-US" sz="1500" dirty="0">
                <a:solidFill>
                  <a:srgbClr val="5C6B7A"/>
                </a:solidFill>
                <a:latin typeface="Arial" pitchFamily="34" charset="0"/>
                <a:ea typeface="Arial" pitchFamily="34" charset="-122"/>
                <a:cs typeface="Arial" pitchFamily="34" charset="-120"/>
              </a:rPr>
              <a:t>Suche und Filter, Bestellstatus und das Löschen mit Sicherheitsabfrage.</a:t>
            </a:r>
            <a:endParaRPr lang="en-US" sz="1500" dirty="0"/>
          </a:p>
        </p:txBody>
      </p:sp>
      <p:sp>
        <p:nvSpPr>
          <p:cNvPr id="35" name="Text 27"/>
          <p:cNvSpPr/>
          <p:nvPr/>
        </p:nvSpPr>
        <p:spPr>
          <a:xfrm>
            <a:off x="640080" y="5650000"/>
            <a:ext cx="10881360" cy="365760"/>
          </a:xfrm>
          <a:prstGeom prst="rect">
            <a:avLst/>
          </a:prstGeom>
          <a:noFill/>
          <a:ln/>
        </p:spPr>
        <p:txBody>
          <a:bodyPr wrap="square" lIns="0" tIns="0" rIns="0" bIns="0" rtlCol="0" anchor="ctr"/>
          <a:lstStyle/>
          <a:p>
            <a:pPr marL="0" indent="0">
              <a:buNone/>
            </a:pPr>
            <a:r>
              <a:rPr lang="en-US" sz="1300" i="1" dirty="0">
                <a:solidFill>
                  <a:srgbClr val="5C6B7A"/>
                </a:solidFill>
                <a:latin typeface="Arial" pitchFamily="34" charset="0"/>
                <a:ea typeface="Arial" pitchFamily="34" charset="-122"/>
                <a:cs typeface="Arial" pitchFamily="34" charset="-120"/>
              </a:rPr>
              <a:t>Alle Aufnahmen stammen aus der laufenden Anwendung mit Testdaten.</a:t>
            </a:r>
            <a:endParaRPr lang="en-US" sz="1300" dirty="0"/>
          </a:p>
        </p:txBody>
      </p:sp>
      <p:sp>
        <p:nvSpPr>
          <p:cNvPr id="36" name="!!foot"/>
          <p:cNvSpPr/>
          <p:nvPr/>
        </p:nvSpPr>
        <p:spPr>
          <a:xfrm>
            <a:off x="640080" y="6437376"/>
            <a:ext cx="10908792" cy="274320"/>
          </a:xfrm>
          <a:prstGeom prst="rect">
            <a:avLst/>
          </a:prstGeom>
          <a:noFill/>
          <a:ln/>
        </p:spPr>
        <p:txBody>
          <a:bodyPr wrap="square" lIns="0" tIns="0" rIns="0" bIns="0" rtlCol="0" anchor="ctr"/>
          <a:lstStyle/>
          <a:p>
            <a:pPr marL="0" indent="0" algn="l">
              <a:buNone/>
            </a:pPr>
            <a:r>
              <a:rPr lang="en-US" sz="900" dirty="0">
                <a:solidFill>
                  <a:srgbClr val="5C6B7A"/>
                </a:solidFill>
                <a:latin typeface="Arial" pitchFamily="34" charset="0"/>
                <a:ea typeface="Arial" pitchFamily="34" charset="-122"/>
                <a:cs typeface="Arial" pitchFamily="34" charset="-120"/>
              </a:rPr>
              <a:t>Sascha Schulz     ·     Lagerverwaltung von medizinischem Verbrauchsmaterial im Krankenhaus</a:t>
            </a:r>
            <a:endParaRPr lang="en-US" sz="900" dirty="0"/>
          </a:p>
        </p:txBody>
      </p:sp>
      <p:sp>
        <p:nvSpPr>
          <p:cNvPr id="70" name="Cap70"/>
          <p:cNvSpPr/>
          <p:nvPr/>
        </p:nvSpPr>
        <p:spPr>
          <a:xfrm>
            <a:off x="640080" y="2286000"/>
            <a:ext cx="5700000" cy="274320"/>
          </a:xfrm>
          <a:prstGeom prst="rect">
            <a:avLst/>
          </a:prstGeom>
          <a:noFill/>
          <a:ln/>
        </p:spPr>
        <p:txBody>
          <a:bodyPr wrap="square" lIns="0" tIns="0" rIns="0" bIns="0" rtlCol="0" anchor="ctr"/>
          <a:lstStyle/>
          <a:p>
            <a:pPr marL="0" indent="0">
              <a:buNone/>
            </a:pPr>
            <a:r>
              <a:rPr lang="de-DE" sz="1200" b="1" kern="0" spc="100" dirty="0">
                <a:solidFill>
                  <a:srgbClr val="2E5A88"/>
                </a:solidFill>
                <a:latin typeface="Arial" pitchFamily="34" charset="0"/>
                <a:ea typeface="Arial" pitchFamily="34" charset="-122"/>
                <a:cs typeface="Arial" pitchFamily="34" charset="-120"/>
              </a:rPr>
              <a:t>LÖSCHEN MIT SICHERHEITSABFRAGE</a:t>
            </a:r>
            <a:endParaRPr lang="de-DE" sz="1200" dirty="0"/>
          </a:p>
        </p:txBody>
      </p:sp>
      <p:pic>
        <p:nvPicPr>
          <p:cNvPr id="71" name="Loeschen" descr="Loeschen.png"/>
          <p:cNvPicPr>
            <a:picLocks noChangeAspect="1"/>
          </p:cNvPicPr>
          <p:nvPr/>
        </p:nvPicPr>
        <p:blipFill>
          <a:blip r:embed="rId23"/>
          <a:stretch>
            <a:fillRect/>
          </a:stretch>
        </p:blipFill>
        <p:spPr>
          <a:xfrm>
            <a:off x="640080" y="2606040"/>
            <a:ext cx="5700000" cy="2355372"/>
          </a:xfrm>
          <a:prstGeom prst="roundRect">
            <a:avLst>
              <a:gd name="adj" fmla="val 1800"/>
            </a:avLst>
          </a:prstGeom>
          <a:ln w="12700">
            <a:solidFill>
              <a:srgbClr val="D6DFEA"/>
            </a:solidFill>
          </a:ln>
          <a:effectLst>
            <a:outerShdw blurRad="114300" dist="38100" dir="5400000" algn="bl" rotWithShape="0">
              <a:srgbClr val="7A8AA0">
                <a:alpha val="22000"/>
              </a:srgbClr>
            </a:outerShdw>
          </a:effectLst>
        </p:spPr>
      </p:pic>
      <p:sp>
        <p:nvSpPr>
          <p:cNvPr id="72" name="Cap72"/>
          <p:cNvSpPr/>
          <p:nvPr/>
        </p:nvSpPr>
        <p:spPr>
          <a:xfrm>
            <a:off x="6700000" y="2286000"/>
            <a:ext cx="4851920" cy="274320"/>
          </a:xfrm>
          <a:prstGeom prst="rect">
            <a:avLst/>
          </a:prstGeom>
          <a:noFill/>
          <a:ln/>
        </p:spPr>
        <p:txBody>
          <a:bodyPr wrap="square" lIns="0" tIns="0" rIns="0" bIns="0" rtlCol="0" anchor="ctr"/>
          <a:lstStyle/>
          <a:p>
            <a:pPr marL="0" indent="0">
              <a:buNone/>
            </a:pPr>
            <a:r>
              <a:rPr lang="de-DE" sz="1200" b="1" kern="0" spc="100" dirty="0">
                <a:solidFill>
                  <a:srgbClr val="2E5A88"/>
                </a:solidFill>
                <a:latin typeface="Arial" pitchFamily="34" charset="0"/>
                <a:ea typeface="Arial" pitchFamily="34" charset="-122"/>
                <a:cs typeface="Arial" pitchFamily="34" charset="-120"/>
              </a:rPr>
              <a:t>SUCHE &amp; FILTER</a:t>
            </a:r>
            <a:endParaRPr lang="de-DE" sz="1200" dirty="0"/>
          </a:p>
        </p:txBody>
      </p:sp>
      <p:pic>
        <p:nvPicPr>
          <p:cNvPr id="73" name="SucheFilter" descr="SucheFilter.png"/>
          <p:cNvPicPr>
            <a:picLocks noChangeAspect="1"/>
          </p:cNvPicPr>
          <p:nvPr/>
        </p:nvPicPr>
        <p:blipFill>
          <a:blip r:embed="rId21"/>
          <a:stretch>
            <a:fillRect/>
          </a:stretch>
        </p:blipFill>
        <p:spPr>
          <a:xfrm>
            <a:off x="6700000" y="2606040"/>
            <a:ext cx="4851920" cy="616508"/>
          </a:xfrm>
          <a:prstGeom prst="roundRect">
            <a:avLst>
              <a:gd name="adj" fmla="val 1800"/>
            </a:avLst>
          </a:prstGeom>
          <a:ln w="12700">
            <a:solidFill>
              <a:srgbClr val="D6DFEA"/>
            </a:solidFill>
          </a:ln>
          <a:effectLst>
            <a:outerShdw blurRad="114300" dist="38100" dir="5400000" algn="bl" rotWithShape="0">
              <a:srgbClr val="7A8AA0">
                <a:alpha val="22000"/>
              </a:srgbClr>
            </a:outerShdw>
          </a:effectLst>
        </p:spPr>
      </p:pic>
      <p:sp>
        <p:nvSpPr>
          <p:cNvPr id="74" name="Cap74"/>
          <p:cNvSpPr/>
          <p:nvPr/>
        </p:nvSpPr>
        <p:spPr>
          <a:xfrm>
            <a:off x="6700000" y="3542588"/>
            <a:ext cx="4851920" cy="274320"/>
          </a:xfrm>
          <a:prstGeom prst="rect">
            <a:avLst/>
          </a:prstGeom>
          <a:noFill/>
          <a:ln/>
        </p:spPr>
        <p:txBody>
          <a:bodyPr wrap="square" lIns="0" tIns="0" rIns="0" bIns="0" rtlCol="0" anchor="ctr"/>
          <a:lstStyle/>
          <a:p>
            <a:pPr marL="0" indent="0">
              <a:buNone/>
            </a:pPr>
            <a:r>
              <a:rPr lang="de-DE" sz="1200" b="1" kern="0" spc="100" dirty="0">
                <a:solidFill>
                  <a:srgbClr val="2E5A88"/>
                </a:solidFill>
                <a:latin typeface="Arial" pitchFamily="34" charset="0"/>
                <a:ea typeface="Arial" pitchFamily="34" charset="-122"/>
                <a:cs typeface="Arial" pitchFamily="34" charset="-120"/>
              </a:rPr>
              <a:t>BESTELLUNGEN MIT STATUS</a:t>
            </a:r>
            <a:endParaRPr lang="de-DE" sz="1200" dirty="0"/>
          </a:p>
        </p:txBody>
      </p:sp>
      <p:pic>
        <p:nvPicPr>
          <p:cNvPr id="75" name="Bestellungen" descr="Bestellungen.png"/>
          <p:cNvPicPr>
            <a:picLocks noChangeAspect="1"/>
          </p:cNvPicPr>
          <p:nvPr/>
        </p:nvPicPr>
        <p:blipFill>
          <a:blip r:embed="rId22"/>
          <a:stretch>
            <a:fillRect/>
          </a:stretch>
        </p:blipFill>
        <p:spPr>
          <a:xfrm>
            <a:off x="6700000" y="3862628"/>
            <a:ext cx="4851920" cy="863331"/>
          </a:xfrm>
          <a:prstGeom prst="roundRect">
            <a:avLst>
              <a:gd name="adj" fmla="val 1800"/>
            </a:avLst>
          </a:prstGeom>
          <a:ln w="12700">
            <a:solidFill>
              <a:srgbClr val="D6DFEA"/>
            </a:solidFill>
          </a:ln>
          <a:effectLst>
            <a:outerShdw blurRad="114300" dist="38100" dir="5400000" algn="bl" rotWithShape="0">
              <a:srgbClr val="7A8AA0">
                <a:alpha val="22000"/>
              </a:srgbClr>
            </a:outerShdw>
          </a:effectLst>
        </p:spPr>
      </p:pic>
      <p:sp>
        <p:nvSpPr>
          <p:cNvPr id="37" name="!!scrolltrack"/>
          <p:cNvSpPr/>
          <p:nvPr/>
        </p:nvSpPr>
        <p:spPr>
          <a:xfrm>
            <a:off x="11979240" y="457200"/>
            <a:ext cx="27432" cy="5943600"/>
          </a:xfrm>
          <a:prstGeom prst="roundRect">
            <a:avLst>
              <a:gd name="adj" fmla="val 50000"/>
            </a:avLst>
          </a:prstGeom>
          <a:solidFill>
            <a:srgbClr val="E3E9F1"/>
          </a:solidFill>
          <a:ln/>
        </p:spPr>
      </p:sp>
      <p:sp>
        <p:nvSpPr>
          <p:cNvPr id="38" name="!!scrollthumb"/>
          <p:cNvSpPr/>
          <p:nvPr/>
        </p:nvSpPr>
        <p:spPr>
          <a:xfrm>
            <a:off x="11979240" y="4749800"/>
            <a:ext cx="27432" cy="330200"/>
          </a:xfrm>
          <a:prstGeom prst="roundRect">
            <a:avLst>
              <a:gd name="adj" fmla="val 50000"/>
            </a:avLst>
          </a:prstGeom>
          <a:solidFill>
            <a:srgbClr val="2E5A88"/>
          </a:solidFill>
          <a:ln/>
        </p:spPr>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2490</Words>
  <Application>Microsoft Office PowerPoint</Application>
  <PresentationFormat>Breitbild</PresentationFormat>
  <Paragraphs>210</Paragraphs>
  <Slides>14</Slides>
  <Notes>14</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14</vt:i4>
      </vt:variant>
    </vt:vector>
  </HeadingPairs>
  <TitlesOfParts>
    <vt:vector size="17" baseType="lpstr">
      <vt:lpstr>Arial</vt:lpstr>
      <vt:lpstr>Courier New</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Sascha Schulz</cp:lastModifiedBy>
  <cp:revision>6</cp:revision>
  <dcterms:created xsi:type="dcterms:W3CDTF">2026-07-17T14:21:09Z</dcterms:created>
  <dcterms:modified xsi:type="dcterms:W3CDTF">2026-08-12T15:34:56Z</dcterms:modified>
</cp:coreProperties>
</file>